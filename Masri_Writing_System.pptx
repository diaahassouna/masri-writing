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71" r:id="rId8"/>
    <p:sldId id="272" r:id="rId9"/>
    <p:sldId id="262" r:id="rId10"/>
    <p:sldId id="263" r:id="rId11"/>
    <p:sldId id="264" r:id="rId12"/>
    <p:sldId id="265" r:id="rId13"/>
    <p:sldId id="266" r:id="rId14"/>
    <p:sldId id="267" r:id="rId15"/>
    <p:sldId id="268" r:id="rId16"/>
    <p:sldId id="269" r:id="rId17"/>
    <p:sldId id="270"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F2F7"/>
    <a:srgbClr val="FFF3CD"/>
    <a:srgbClr val="1B2A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1" d="100"/>
          <a:sy n="151" d="100"/>
        </p:scale>
        <p:origin x="10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593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4639488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718304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8"/>
        </a:solidFill>
        <a:effectLst/>
      </p:bgPr>
    </p:bg>
    <p:spTree>
      <p:nvGrpSpPr>
        <p:cNvPr id="1" name=""/>
        <p:cNvGrpSpPr/>
        <p:nvPr/>
      </p:nvGrpSpPr>
      <p:grpSpPr>
        <a:xfrm>
          <a:off x="0" y="0"/>
          <a:ext cx="0" cy="0"/>
          <a:chOff x="0" y="0"/>
          <a:chExt cx="0" cy="0"/>
        </a:xfrm>
      </p:grpSpPr>
      <p:sp>
        <p:nvSpPr>
          <p:cNvPr id="2" name="Text 0"/>
          <p:cNvSpPr/>
          <p:nvPr/>
        </p:nvSpPr>
        <p:spPr>
          <a:xfrm>
            <a:off x="3200400" y="457200"/>
            <a:ext cx="5486400" cy="4114800"/>
          </a:xfrm>
          <a:prstGeom prst="rect">
            <a:avLst/>
          </a:prstGeom>
          <a:noFill/>
          <a:ln/>
        </p:spPr>
        <p:txBody>
          <a:bodyPr wrap="square" rtlCol="0" anchor="ctr"/>
          <a:lstStyle/>
          <a:p>
            <a:pPr marL="0" indent="0" algn="r">
              <a:buNone/>
            </a:pPr>
            <a:r>
              <a:rPr lang="en-US" sz="18000" dirty="0">
                <a:solidFill>
                  <a:srgbClr val="FFFFFF">
                    <a:alpha val="10000"/>
                  </a:srgbClr>
                </a:solidFill>
                <a:latin typeface="Georgia" pitchFamily="34" charset="0"/>
                <a:ea typeface="Georgia" pitchFamily="34" charset="-122"/>
                <a:cs typeface="Georgia" pitchFamily="34" charset="-120"/>
              </a:rPr>
              <a:t>مصري</a:t>
            </a:r>
            <a:endParaRPr lang="en-US" sz="18000" dirty="0"/>
          </a:p>
        </p:txBody>
      </p:sp>
      <p:sp>
        <p:nvSpPr>
          <p:cNvPr id="3" name="Shape 1"/>
          <p:cNvSpPr/>
          <p:nvPr/>
        </p:nvSpPr>
        <p:spPr>
          <a:xfrm>
            <a:off x="457200" y="822960"/>
            <a:ext cx="64008" cy="3291840"/>
          </a:xfrm>
          <a:prstGeom prst="rect">
            <a:avLst/>
          </a:prstGeom>
          <a:solidFill>
            <a:srgbClr val="C9A84C"/>
          </a:solidFill>
          <a:ln w="12700">
            <a:solidFill>
              <a:srgbClr val="C9A84C"/>
            </a:solidFill>
            <a:prstDash val="solid"/>
          </a:ln>
        </p:spPr>
      </p:sp>
      <p:sp>
        <p:nvSpPr>
          <p:cNvPr id="4" name="Text 2"/>
          <p:cNvSpPr/>
          <p:nvPr/>
        </p:nvSpPr>
        <p:spPr>
          <a:xfrm>
            <a:off x="621792" y="822960"/>
            <a:ext cx="5486400" cy="914400"/>
          </a:xfrm>
          <a:prstGeom prst="rect">
            <a:avLst/>
          </a:prstGeom>
          <a:noFill/>
          <a:ln/>
        </p:spPr>
        <p:txBody>
          <a:bodyPr wrap="square" lIns="0" tIns="0" rIns="0" bIns="0" rtlCol="0" anchor="ctr"/>
          <a:lstStyle/>
          <a:p>
            <a:pPr marL="0" indent="0">
              <a:buNone/>
            </a:pPr>
            <a:r>
              <a:rPr lang="en-US" sz="6400" b="1" dirty="0" err="1">
                <a:solidFill>
                  <a:srgbClr val="FFFFFF"/>
                </a:solidFill>
                <a:latin typeface="Georgia" pitchFamily="34" charset="0"/>
                <a:ea typeface="Georgia" pitchFamily="34" charset="-122"/>
                <a:cs typeface="Georgia" pitchFamily="34" charset="-120"/>
              </a:rPr>
              <a:t>Maṣri</a:t>
            </a:r>
            <a:endParaRPr lang="en-US" sz="6400" dirty="0"/>
          </a:p>
        </p:txBody>
      </p:sp>
      <p:sp>
        <p:nvSpPr>
          <p:cNvPr id="5" name="Text 3"/>
          <p:cNvSpPr/>
          <p:nvPr/>
        </p:nvSpPr>
        <p:spPr>
          <a:xfrm>
            <a:off x="621792" y="1737360"/>
            <a:ext cx="6400800" cy="640080"/>
          </a:xfrm>
          <a:prstGeom prst="rect">
            <a:avLst/>
          </a:prstGeom>
          <a:noFill/>
          <a:ln/>
        </p:spPr>
        <p:txBody>
          <a:bodyPr wrap="square" lIns="0" tIns="0" rIns="0" bIns="0" rtlCol="0" anchor="ctr"/>
          <a:lstStyle/>
          <a:p>
            <a:pPr marL="0" indent="0">
              <a:buNone/>
            </a:pPr>
            <a:r>
              <a:rPr lang="en-US" sz="2200" i="1" dirty="0">
                <a:solidFill>
                  <a:srgbClr val="C9A84C"/>
                </a:solidFill>
                <a:latin typeface="Georgia" pitchFamily="34" charset="0"/>
                <a:ea typeface="Georgia" pitchFamily="34" charset="-122"/>
                <a:cs typeface="Georgia" pitchFamily="34" charset="-120"/>
              </a:rPr>
              <a:t>نظام الكتابة المصري</a:t>
            </a:r>
            <a:endParaRPr lang="en-US" sz="2200" dirty="0"/>
          </a:p>
        </p:txBody>
      </p:sp>
      <p:sp>
        <p:nvSpPr>
          <p:cNvPr id="6" name="Text 4"/>
          <p:cNvSpPr/>
          <p:nvPr/>
        </p:nvSpPr>
        <p:spPr>
          <a:xfrm>
            <a:off x="621792" y="2331720"/>
            <a:ext cx="6400800" cy="502920"/>
          </a:xfrm>
          <a:prstGeom prst="rect">
            <a:avLst/>
          </a:prstGeom>
          <a:noFill/>
          <a:ln/>
        </p:spPr>
        <p:txBody>
          <a:bodyPr wrap="square" lIns="0" tIns="0" rIns="0" bIns="0" rtlCol="0" anchor="ctr"/>
          <a:lstStyle/>
          <a:p>
            <a:pPr marL="0" indent="0">
              <a:buNone/>
            </a:pPr>
            <a:r>
              <a:rPr lang="en-US" sz="2200" b="1" dirty="0">
                <a:solidFill>
                  <a:srgbClr val="E8C96A"/>
                </a:solidFill>
              </a:rPr>
              <a:t>Writing System</a:t>
            </a:r>
            <a:endParaRPr lang="en-US" sz="2200" dirty="0"/>
          </a:p>
        </p:txBody>
      </p:sp>
      <p:sp>
        <p:nvSpPr>
          <p:cNvPr id="7" name="Shape 5"/>
          <p:cNvSpPr/>
          <p:nvPr/>
        </p:nvSpPr>
        <p:spPr>
          <a:xfrm>
            <a:off x="621792" y="2926080"/>
            <a:ext cx="6858000" cy="822960"/>
          </a:xfrm>
          <a:prstGeom prst="rect">
            <a:avLst/>
          </a:prstGeom>
          <a:solidFill>
            <a:srgbClr val="FFFFFF">
              <a:alpha val="10000"/>
            </a:srgbClr>
          </a:solidFill>
          <a:ln w="12700">
            <a:solidFill>
              <a:srgbClr val="C9A84C"/>
            </a:solidFill>
            <a:prstDash val="solid"/>
          </a:ln>
        </p:spPr>
      </p:sp>
      <p:sp>
        <p:nvSpPr>
          <p:cNvPr id="8" name="Text 6"/>
          <p:cNvSpPr/>
          <p:nvPr/>
        </p:nvSpPr>
        <p:spPr>
          <a:xfrm>
            <a:off x="621792" y="2926080"/>
            <a:ext cx="6858000" cy="822960"/>
          </a:xfrm>
          <a:prstGeom prst="rect">
            <a:avLst/>
          </a:prstGeom>
          <a:noFill/>
          <a:ln/>
        </p:spPr>
        <p:txBody>
          <a:bodyPr wrap="square" rtlCol="0" anchor="ctr"/>
          <a:lstStyle/>
          <a:p>
            <a:pPr marL="0" indent="0" algn="ctr">
              <a:buNone/>
            </a:pPr>
            <a:r>
              <a:rPr lang="en-US" sz="1300" dirty="0">
                <a:solidFill>
                  <a:srgbClr val="FFFFFF"/>
                </a:solidFill>
              </a:rPr>
              <a:t>A phonetic writing system for Modern Egyptian Arabic</a:t>
            </a:r>
            <a:endParaRPr lang="en-US" sz="1300" dirty="0"/>
          </a:p>
          <a:p>
            <a:pPr marL="0" indent="0" algn="ctr">
              <a:buNone/>
            </a:pPr>
            <a:r>
              <a:rPr lang="en-US" sz="1300" dirty="0">
                <a:solidFill>
                  <a:srgbClr val="FFFFFF"/>
                </a:solidFill>
              </a:rPr>
              <a:t>Built on Latin · Extended with Greek &amp; Coptic</a:t>
            </a:r>
            <a:endParaRPr lang="en-US" sz="1300" dirty="0"/>
          </a:p>
        </p:txBody>
      </p:sp>
      <p:sp>
        <p:nvSpPr>
          <p:cNvPr id="9" name="Text 7"/>
          <p:cNvSpPr/>
          <p:nvPr/>
        </p:nvSpPr>
        <p:spPr>
          <a:xfrm>
            <a:off x="457200" y="3977640"/>
            <a:ext cx="8229600" cy="365760"/>
          </a:xfrm>
          <a:prstGeom prst="rect">
            <a:avLst/>
          </a:prstGeom>
          <a:noFill/>
          <a:ln/>
        </p:spPr>
        <p:txBody>
          <a:bodyPr wrap="square" rtlCol="0" anchor="ctr"/>
          <a:lstStyle/>
          <a:p>
            <a:pPr marL="0" indent="0" algn="l">
              <a:buNone/>
            </a:pPr>
            <a:r>
              <a:rPr lang="en-US" sz="1000" dirty="0">
                <a:solidFill>
                  <a:srgbClr val="C9A84C"/>
                </a:solidFill>
              </a:rPr>
              <a:t>Diaa Hassouna  ·  Senior Technical Office Engineer  ·  Cairo, Egypt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365760" y="228600"/>
            <a:ext cx="1828800" cy="347472"/>
          </a:xfrm>
          <a:prstGeom prst="roundRect">
            <a:avLst/>
          </a:prstGeom>
          <a:solidFill>
            <a:srgbClr val="C9A84C"/>
          </a:solidFill>
          <a:ln w="12700">
            <a:solidFill>
              <a:srgbClr val="C9A84C"/>
            </a:solidFill>
            <a:prstDash val="solid"/>
          </a:ln>
        </p:spPr>
      </p:sp>
      <p:sp>
        <p:nvSpPr>
          <p:cNvPr id="3" name="Text 1"/>
          <p:cNvSpPr/>
          <p:nvPr/>
        </p:nvSpPr>
        <p:spPr>
          <a:xfrm>
            <a:off x="365760" y="228600"/>
            <a:ext cx="1828800" cy="347472"/>
          </a:xfrm>
          <a:prstGeom prst="rect">
            <a:avLst/>
          </a:prstGeom>
          <a:noFill/>
          <a:ln/>
        </p:spPr>
        <p:txBody>
          <a:bodyPr wrap="square" lIns="0" tIns="0" rIns="0" bIns="0" rtlCol="0" anchor="ctr"/>
          <a:lstStyle/>
          <a:p>
            <a:pPr marL="0" indent="0" algn="ctr">
              <a:buNone/>
            </a:pPr>
            <a:r>
              <a:rPr lang="en-US" sz="900" b="1" dirty="0">
                <a:solidFill>
                  <a:srgbClr val="1B2A4A"/>
                </a:solidFill>
              </a:rPr>
              <a:t>OVERVIEW</a:t>
            </a:r>
            <a:endParaRPr lang="en-US" sz="900" dirty="0"/>
          </a:p>
        </p:txBody>
      </p:sp>
      <p:sp>
        <p:nvSpPr>
          <p:cNvPr id="4" name="Text 2"/>
          <p:cNvSpPr/>
          <p:nvPr/>
        </p:nvSpPr>
        <p:spPr>
          <a:xfrm>
            <a:off x="457200" y="658368"/>
            <a:ext cx="8229600" cy="594360"/>
          </a:xfrm>
          <a:prstGeom prst="rect">
            <a:avLst/>
          </a:prstGeom>
          <a:noFill/>
          <a:ln/>
        </p:spPr>
        <p:txBody>
          <a:bodyPr wrap="square" rtlCol="0" anchor="ctr"/>
          <a:lstStyle/>
          <a:p>
            <a:pPr marL="0" indent="0" algn="l">
              <a:buNone/>
            </a:pPr>
            <a:r>
              <a:rPr lang="en-US" sz="2800" b="1" dirty="0">
                <a:solidFill>
                  <a:srgbClr val="1B2A4A"/>
                </a:solidFill>
                <a:latin typeface="Georgia" pitchFamily="34" charset="0"/>
                <a:ea typeface="Georgia" pitchFamily="34" charset="-122"/>
                <a:cs typeface="Georgia" pitchFamily="34" charset="-120"/>
              </a:rPr>
              <a:t>What We'll Cover</a:t>
            </a:r>
            <a:endParaRPr lang="en-US" sz="2800" dirty="0"/>
          </a:p>
        </p:txBody>
      </p:sp>
      <p:sp>
        <p:nvSpPr>
          <p:cNvPr id="5" name="Shape 3"/>
          <p:cNvSpPr/>
          <p:nvPr/>
        </p:nvSpPr>
        <p:spPr>
          <a:xfrm>
            <a:off x="457200" y="1325880"/>
            <a:ext cx="457200" cy="50292"/>
          </a:xfrm>
          <a:prstGeom prst="rect">
            <a:avLst/>
          </a:prstGeom>
          <a:solidFill>
            <a:srgbClr val="C9A84C"/>
          </a:solidFill>
          <a:ln w="12700">
            <a:solidFill>
              <a:srgbClr val="C9A84C"/>
            </a:solidFill>
            <a:prstDash val="solid"/>
          </a:ln>
        </p:spPr>
      </p:sp>
      <p:sp>
        <p:nvSpPr>
          <p:cNvPr id="6" name="Shape 4"/>
          <p:cNvSpPr/>
          <p:nvPr/>
        </p:nvSpPr>
        <p:spPr>
          <a:xfrm>
            <a:off x="457200" y="1463040"/>
            <a:ext cx="457200" cy="594360"/>
          </a:xfrm>
          <a:prstGeom prst="rect">
            <a:avLst/>
          </a:prstGeom>
          <a:solidFill>
            <a:srgbClr val="1B2A4A"/>
          </a:solidFill>
          <a:ln w="12700">
            <a:solidFill>
              <a:srgbClr val="1B2A4A"/>
            </a:solidFill>
            <a:prstDash val="solid"/>
          </a:ln>
        </p:spPr>
      </p:sp>
      <p:sp>
        <p:nvSpPr>
          <p:cNvPr id="7" name="Text 5"/>
          <p:cNvSpPr/>
          <p:nvPr/>
        </p:nvSpPr>
        <p:spPr>
          <a:xfrm>
            <a:off x="457200" y="1463040"/>
            <a:ext cx="457200" cy="594360"/>
          </a:xfrm>
          <a:prstGeom prst="rect">
            <a:avLst/>
          </a:prstGeom>
          <a:noFill/>
          <a:ln/>
        </p:spPr>
        <p:txBody>
          <a:bodyPr wrap="square" lIns="0" tIns="0" rIns="0" bIns="0" rtlCol="0" anchor="ctr"/>
          <a:lstStyle/>
          <a:p>
            <a:pPr marL="0" indent="0" algn="ctr">
              <a:buNone/>
            </a:pPr>
            <a:r>
              <a:rPr lang="en-US" sz="1300" b="1" dirty="0">
                <a:solidFill>
                  <a:srgbClr val="C9A84C"/>
                </a:solidFill>
              </a:rPr>
              <a:t>01</a:t>
            </a:r>
            <a:endParaRPr lang="en-US" sz="1300" dirty="0"/>
          </a:p>
        </p:txBody>
      </p:sp>
      <p:sp>
        <p:nvSpPr>
          <p:cNvPr id="8" name="Shape 6"/>
          <p:cNvSpPr/>
          <p:nvPr/>
        </p:nvSpPr>
        <p:spPr>
          <a:xfrm>
            <a:off x="914400" y="1463040"/>
            <a:ext cx="3657600" cy="594360"/>
          </a:xfrm>
          <a:prstGeom prst="rect">
            <a:avLst/>
          </a:prstGeom>
          <a:solidFill>
            <a:srgbClr val="EDF2F7"/>
          </a:solidFill>
          <a:ln w="12700">
            <a:solidFill>
              <a:srgbClr val="D6E4F7"/>
            </a:solidFill>
            <a:prstDash val="solid"/>
          </a:ln>
        </p:spPr>
      </p:sp>
      <p:sp>
        <p:nvSpPr>
          <p:cNvPr id="9" name="Text 7"/>
          <p:cNvSpPr/>
          <p:nvPr/>
        </p:nvSpPr>
        <p:spPr>
          <a:xfrm>
            <a:off x="1005840" y="1463040"/>
            <a:ext cx="3474720" cy="594360"/>
          </a:xfrm>
          <a:prstGeom prst="rect">
            <a:avLst/>
          </a:prstGeom>
          <a:noFill/>
          <a:ln/>
        </p:spPr>
        <p:txBody>
          <a:bodyPr wrap="square" rtlCol="0" anchor="ctr"/>
          <a:lstStyle/>
          <a:p>
            <a:pPr marL="0" indent="0">
              <a:buNone/>
            </a:pPr>
            <a:r>
              <a:rPr lang="en-US" sz="1300" b="1" dirty="0">
                <a:solidFill>
                  <a:srgbClr val="1B2A4A"/>
                </a:solidFill>
              </a:rPr>
              <a:t>The Problem
</a:t>
            </a:r>
            <a:r>
              <a:rPr lang="en-US" sz="1000" dirty="0">
                <a:solidFill>
                  <a:srgbClr val="4A5568"/>
                </a:solidFill>
              </a:rPr>
              <a:t>Why Egyptian Arabic needs its own writing system</a:t>
            </a:r>
            <a:endParaRPr lang="en-US" sz="1300" dirty="0"/>
          </a:p>
        </p:txBody>
      </p:sp>
      <p:sp>
        <p:nvSpPr>
          <p:cNvPr id="10" name="Shape 8"/>
          <p:cNvSpPr/>
          <p:nvPr/>
        </p:nvSpPr>
        <p:spPr>
          <a:xfrm>
            <a:off x="457200" y="2304288"/>
            <a:ext cx="457200" cy="594360"/>
          </a:xfrm>
          <a:prstGeom prst="rect">
            <a:avLst/>
          </a:prstGeom>
          <a:solidFill>
            <a:srgbClr val="1B2A4A"/>
          </a:solidFill>
          <a:ln w="12700">
            <a:solidFill>
              <a:srgbClr val="1B2A4A"/>
            </a:solidFill>
            <a:prstDash val="solid"/>
          </a:ln>
        </p:spPr>
      </p:sp>
      <p:sp>
        <p:nvSpPr>
          <p:cNvPr id="11" name="Text 9"/>
          <p:cNvSpPr/>
          <p:nvPr/>
        </p:nvSpPr>
        <p:spPr>
          <a:xfrm>
            <a:off x="457200" y="2304288"/>
            <a:ext cx="457200" cy="594360"/>
          </a:xfrm>
          <a:prstGeom prst="rect">
            <a:avLst/>
          </a:prstGeom>
          <a:noFill/>
          <a:ln/>
        </p:spPr>
        <p:txBody>
          <a:bodyPr wrap="square" lIns="0" tIns="0" rIns="0" bIns="0" rtlCol="0" anchor="ctr"/>
          <a:lstStyle/>
          <a:p>
            <a:pPr marL="0" indent="0" algn="ctr">
              <a:buNone/>
            </a:pPr>
            <a:r>
              <a:rPr lang="en-US" sz="1300" b="1" dirty="0">
                <a:solidFill>
                  <a:srgbClr val="C9A84C"/>
                </a:solidFill>
              </a:rPr>
              <a:t>02</a:t>
            </a:r>
            <a:endParaRPr lang="en-US" sz="1300" dirty="0"/>
          </a:p>
        </p:txBody>
      </p:sp>
      <p:sp>
        <p:nvSpPr>
          <p:cNvPr id="12" name="Shape 10"/>
          <p:cNvSpPr/>
          <p:nvPr/>
        </p:nvSpPr>
        <p:spPr>
          <a:xfrm>
            <a:off x="914400" y="2304288"/>
            <a:ext cx="3657600" cy="594360"/>
          </a:xfrm>
          <a:prstGeom prst="rect">
            <a:avLst/>
          </a:prstGeom>
          <a:solidFill>
            <a:srgbClr val="EDF2F7"/>
          </a:solidFill>
          <a:ln w="12700">
            <a:solidFill>
              <a:srgbClr val="D6E4F7"/>
            </a:solidFill>
            <a:prstDash val="solid"/>
          </a:ln>
        </p:spPr>
      </p:sp>
      <p:sp>
        <p:nvSpPr>
          <p:cNvPr id="13" name="Text 11"/>
          <p:cNvSpPr/>
          <p:nvPr/>
        </p:nvSpPr>
        <p:spPr>
          <a:xfrm>
            <a:off x="1005840" y="2304288"/>
            <a:ext cx="3474720" cy="594360"/>
          </a:xfrm>
          <a:prstGeom prst="rect">
            <a:avLst/>
          </a:prstGeom>
          <a:noFill/>
          <a:ln/>
        </p:spPr>
        <p:txBody>
          <a:bodyPr wrap="square" rtlCol="0" anchor="ctr"/>
          <a:lstStyle/>
          <a:p>
            <a:pPr marL="0" indent="0">
              <a:buNone/>
            </a:pPr>
            <a:r>
              <a:rPr lang="en-US" sz="1300" b="1" dirty="0">
                <a:solidFill>
                  <a:srgbClr val="1B2A4A"/>
                </a:solidFill>
              </a:rPr>
              <a:t>Core Principles
</a:t>
            </a:r>
            <a:r>
              <a:rPr lang="en-US" sz="1000" dirty="0">
                <a:solidFill>
                  <a:srgbClr val="4A5568"/>
                </a:solidFill>
              </a:rPr>
              <a:t>Design philosophy and rules</a:t>
            </a:r>
            <a:endParaRPr lang="en-US" sz="1300" dirty="0"/>
          </a:p>
        </p:txBody>
      </p:sp>
      <p:sp>
        <p:nvSpPr>
          <p:cNvPr id="14" name="Shape 12"/>
          <p:cNvSpPr/>
          <p:nvPr/>
        </p:nvSpPr>
        <p:spPr>
          <a:xfrm>
            <a:off x="457200" y="3145536"/>
            <a:ext cx="457200" cy="594360"/>
          </a:xfrm>
          <a:prstGeom prst="rect">
            <a:avLst/>
          </a:prstGeom>
          <a:solidFill>
            <a:srgbClr val="1B2A4A"/>
          </a:solidFill>
          <a:ln w="12700">
            <a:solidFill>
              <a:srgbClr val="1B2A4A"/>
            </a:solidFill>
            <a:prstDash val="solid"/>
          </a:ln>
        </p:spPr>
      </p:sp>
      <p:sp>
        <p:nvSpPr>
          <p:cNvPr id="15" name="Text 13"/>
          <p:cNvSpPr/>
          <p:nvPr/>
        </p:nvSpPr>
        <p:spPr>
          <a:xfrm>
            <a:off x="457200" y="3145536"/>
            <a:ext cx="457200" cy="594360"/>
          </a:xfrm>
          <a:prstGeom prst="rect">
            <a:avLst/>
          </a:prstGeom>
          <a:noFill/>
          <a:ln/>
        </p:spPr>
        <p:txBody>
          <a:bodyPr wrap="square" lIns="0" tIns="0" rIns="0" bIns="0" rtlCol="0" anchor="ctr"/>
          <a:lstStyle/>
          <a:p>
            <a:pPr marL="0" indent="0" algn="ctr">
              <a:buNone/>
            </a:pPr>
            <a:r>
              <a:rPr lang="en-US" sz="1300" b="1" dirty="0">
                <a:solidFill>
                  <a:srgbClr val="C9A84C"/>
                </a:solidFill>
              </a:rPr>
              <a:t>03</a:t>
            </a:r>
            <a:endParaRPr lang="en-US" sz="1300" dirty="0"/>
          </a:p>
        </p:txBody>
      </p:sp>
      <p:sp>
        <p:nvSpPr>
          <p:cNvPr id="16" name="Shape 14"/>
          <p:cNvSpPr/>
          <p:nvPr/>
        </p:nvSpPr>
        <p:spPr>
          <a:xfrm>
            <a:off x="914400" y="3145536"/>
            <a:ext cx="3657600" cy="594360"/>
          </a:xfrm>
          <a:prstGeom prst="rect">
            <a:avLst/>
          </a:prstGeom>
          <a:solidFill>
            <a:srgbClr val="EDF2F7"/>
          </a:solidFill>
          <a:ln w="12700">
            <a:solidFill>
              <a:srgbClr val="D6E4F7"/>
            </a:solidFill>
            <a:prstDash val="solid"/>
          </a:ln>
        </p:spPr>
      </p:sp>
      <p:sp>
        <p:nvSpPr>
          <p:cNvPr id="17" name="Text 15"/>
          <p:cNvSpPr/>
          <p:nvPr/>
        </p:nvSpPr>
        <p:spPr>
          <a:xfrm>
            <a:off x="1005840" y="3145536"/>
            <a:ext cx="3474720" cy="594360"/>
          </a:xfrm>
          <a:prstGeom prst="rect">
            <a:avLst/>
          </a:prstGeom>
          <a:noFill/>
          <a:ln/>
        </p:spPr>
        <p:txBody>
          <a:bodyPr wrap="square" rtlCol="0" anchor="ctr"/>
          <a:lstStyle/>
          <a:p>
            <a:pPr marL="0" indent="0">
              <a:buNone/>
            </a:pPr>
            <a:r>
              <a:rPr lang="en-US" sz="1300" b="1" dirty="0">
                <a:solidFill>
                  <a:srgbClr val="1B2A4A"/>
                </a:solidFill>
              </a:rPr>
              <a:t>The Two-Tier System
</a:t>
            </a:r>
            <a:r>
              <a:rPr lang="en-US" sz="1000" dirty="0">
                <a:solidFill>
                  <a:srgbClr val="4A5568"/>
                </a:solidFill>
              </a:rPr>
              <a:t>Everyday vs. Academic tiers</a:t>
            </a:r>
            <a:endParaRPr lang="en-US" sz="1300" dirty="0"/>
          </a:p>
        </p:txBody>
      </p:sp>
      <p:sp>
        <p:nvSpPr>
          <p:cNvPr id="18" name="Shape 16"/>
          <p:cNvSpPr/>
          <p:nvPr/>
        </p:nvSpPr>
        <p:spPr>
          <a:xfrm>
            <a:off x="457200" y="3986784"/>
            <a:ext cx="457200" cy="594360"/>
          </a:xfrm>
          <a:prstGeom prst="rect">
            <a:avLst/>
          </a:prstGeom>
          <a:solidFill>
            <a:srgbClr val="1B2A4A"/>
          </a:solidFill>
          <a:ln w="12700">
            <a:solidFill>
              <a:srgbClr val="1B2A4A"/>
            </a:solidFill>
            <a:prstDash val="solid"/>
          </a:ln>
        </p:spPr>
      </p:sp>
      <p:sp>
        <p:nvSpPr>
          <p:cNvPr id="19" name="Text 17"/>
          <p:cNvSpPr/>
          <p:nvPr/>
        </p:nvSpPr>
        <p:spPr>
          <a:xfrm>
            <a:off x="457200" y="3986784"/>
            <a:ext cx="457200" cy="594360"/>
          </a:xfrm>
          <a:prstGeom prst="rect">
            <a:avLst/>
          </a:prstGeom>
          <a:noFill/>
          <a:ln/>
        </p:spPr>
        <p:txBody>
          <a:bodyPr wrap="square" lIns="0" tIns="0" rIns="0" bIns="0" rtlCol="0" anchor="ctr"/>
          <a:lstStyle/>
          <a:p>
            <a:pPr marL="0" indent="0" algn="ctr">
              <a:buNone/>
            </a:pPr>
            <a:r>
              <a:rPr lang="en-US" sz="1300" b="1" dirty="0">
                <a:solidFill>
                  <a:srgbClr val="C9A84C"/>
                </a:solidFill>
              </a:rPr>
              <a:t>04</a:t>
            </a:r>
            <a:endParaRPr lang="en-US" sz="1300" dirty="0"/>
          </a:p>
        </p:txBody>
      </p:sp>
      <p:sp>
        <p:nvSpPr>
          <p:cNvPr id="20" name="Shape 18"/>
          <p:cNvSpPr/>
          <p:nvPr/>
        </p:nvSpPr>
        <p:spPr>
          <a:xfrm>
            <a:off x="914400" y="3986784"/>
            <a:ext cx="3657600" cy="594360"/>
          </a:xfrm>
          <a:prstGeom prst="rect">
            <a:avLst/>
          </a:prstGeom>
          <a:solidFill>
            <a:srgbClr val="EDF2F7"/>
          </a:solidFill>
          <a:ln w="12700">
            <a:solidFill>
              <a:srgbClr val="D6E4F7"/>
            </a:solidFill>
            <a:prstDash val="solid"/>
          </a:ln>
        </p:spPr>
      </p:sp>
      <p:sp>
        <p:nvSpPr>
          <p:cNvPr id="21" name="Text 19"/>
          <p:cNvSpPr/>
          <p:nvPr/>
        </p:nvSpPr>
        <p:spPr>
          <a:xfrm>
            <a:off x="1005840" y="3986784"/>
            <a:ext cx="3474720" cy="594360"/>
          </a:xfrm>
          <a:prstGeom prst="rect">
            <a:avLst/>
          </a:prstGeom>
          <a:noFill/>
          <a:ln/>
        </p:spPr>
        <p:txBody>
          <a:bodyPr wrap="square" rtlCol="0" anchor="ctr"/>
          <a:lstStyle/>
          <a:p>
            <a:pPr marL="0" indent="0">
              <a:buNone/>
            </a:pPr>
            <a:r>
              <a:rPr lang="en-US" sz="1300" b="1" dirty="0">
                <a:solidFill>
                  <a:srgbClr val="1B2A4A"/>
                </a:solidFill>
              </a:rPr>
              <a:t>Full Alphabet
</a:t>
            </a:r>
            <a:r>
              <a:rPr lang="en-US" sz="1000" dirty="0">
                <a:solidFill>
                  <a:srgbClr val="4A5568"/>
                </a:solidFill>
              </a:rPr>
              <a:t>28 sounds mapped, no numerals</a:t>
            </a:r>
            <a:endParaRPr lang="en-US" sz="1300" dirty="0"/>
          </a:p>
        </p:txBody>
      </p:sp>
      <p:sp>
        <p:nvSpPr>
          <p:cNvPr id="22" name="Shape 20"/>
          <p:cNvSpPr/>
          <p:nvPr/>
        </p:nvSpPr>
        <p:spPr>
          <a:xfrm>
            <a:off x="4754880" y="1463040"/>
            <a:ext cx="457200" cy="594360"/>
          </a:xfrm>
          <a:prstGeom prst="rect">
            <a:avLst/>
          </a:prstGeom>
          <a:solidFill>
            <a:srgbClr val="1B2A4A"/>
          </a:solidFill>
          <a:ln w="12700">
            <a:solidFill>
              <a:srgbClr val="1B2A4A"/>
            </a:solidFill>
            <a:prstDash val="solid"/>
          </a:ln>
        </p:spPr>
      </p:sp>
      <p:sp>
        <p:nvSpPr>
          <p:cNvPr id="23" name="Text 21"/>
          <p:cNvSpPr/>
          <p:nvPr/>
        </p:nvSpPr>
        <p:spPr>
          <a:xfrm>
            <a:off x="4754880" y="1463040"/>
            <a:ext cx="457200" cy="594360"/>
          </a:xfrm>
          <a:prstGeom prst="rect">
            <a:avLst/>
          </a:prstGeom>
          <a:noFill/>
          <a:ln/>
        </p:spPr>
        <p:txBody>
          <a:bodyPr wrap="square" lIns="0" tIns="0" rIns="0" bIns="0" rtlCol="0" anchor="ctr"/>
          <a:lstStyle/>
          <a:p>
            <a:pPr marL="0" indent="0" algn="ctr">
              <a:buNone/>
            </a:pPr>
            <a:r>
              <a:rPr lang="en-US" sz="1300" b="1" dirty="0">
                <a:solidFill>
                  <a:srgbClr val="C9A84C"/>
                </a:solidFill>
              </a:rPr>
              <a:t>05</a:t>
            </a:r>
            <a:endParaRPr lang="en-US" sz="1300" dirty="0"/>
          </a:p>
        </p:txBody>
      </p:sp>
      <p:sp>
        <p:nvSpPr>
          <p:cNvPr id="24" name="Shape 22"/>
          <p:cNvSpPr/>
          <p:nvPr/>
        </p:nvSpPr>
        <p:spPr>
          <a:xfrm>
            <a:off x="5212080" y="1463040"/>
            <a:ext cx="3657600" cy="594360"/>
          </a:xfrm>
          <a:prstGeom prst="rect">
            <a:avLst/>
          </a:prstGeom>
          <a:solidFill>
            <a:srgbClr val="EDF2F7"/>
          </a:solidFill>
          <a:ln w="12700">
            <a:solidFill>
              <a:srgbClr val="D6E4F7"/>
            </a:solidFill>
            <a:prstDash val="solid"/>
          </a:ln>
        </p:spPr>
      </p:sp>
      <p:sp>
        <p:nvSpPr>
          <p:cNvPr id="25" name="Text 23"/>
          <p:cNvSpPr/>
          <p:nvPr/>
        </p:nvSpPr>
        <p:spPr>
          <a:xfrm>
            <a:off x="5303520" y="1463040"/>
            <a:ext cx="3474720" cy="594360"/>
          </a:xfrm>
          <a:prstGeom prst="rect">
            <a:avLst/>
          </a:prstGeom>
          <a:noFill/>
          <a:ln/>
        </p:spPr>
        <p:txBody>
          <a:bodyPr wrap="square" rtlCol="0" anchor="ctr"/>
          <a:lstStyle/>
          <a:p>
            <a:pPr marL="0" indent="0">
              <a:buNone/>
            </a:pPr>
            <a:r>
              <a:rPr lang="en-US" sz="1300" b="1" dirty="0">
                <a:solidFill>
                  <a:srgbClr val="1B2A4A"/>
                </a:solidFill>
              </a:rPr>
              <a:t>Vowel System
</a:t>
            </a:r>
            <a:r>
              <a:rPr lang="en-US" sz="1000" dirty="0">
                <a:solidFill>
                  <a:srgbClr val="4A5568"/>
                </a:solidFill>
              </a:rPr>
              <a:t>Short, long, and diphthongs</a:t>
            </a:r>
            <a:endParaRPr lang="en-US" sz="1300" dirty="0"/>
          </a:p>
        </p:txBody>
      </p:sp>
      <p:sp>
        <p:nvSpPr>
          <p:cNvPr id="26" name="Shape 24"/>
          <p:cNvSpPr/>
          <p:nvPr/>
        </p:nvSpPr>
        <p:spPr>
          <a:xfrm>
            <a:off x="4754880" y="2304288"/>
            <a:ext cx="457200" cy="594360"/>
          </a:xfrm>
          <a:prstGeom prst="rect">
            <a:avLst/>
          </a:prstGeom>
          <a:solidFill>
            <a:srgbClr val="1B2A4A"/>
          </a:solidFill>
          <a:ln w="12700">
            <a:solidFill>
              <a:srgbClr val="1B2A4A"/>
            </a:solidFill>
            <a:prstDash val="solid"/>
          </a:ln>
        </p:spPr>
      </p:sp>
      <p:sp>
        <p:nvSpPr>
          <p:cNvPr id="27" name="Text 25"/>
          <p:cNvSpPr/>
          <p:nvPr/>
        </p:nvSpPr>
        <p:spPr>
          <a:xfrm>
            <a:off x="4754880" y="2304288"/>
            <a:ext cx="457200" cy="594360"/>
          </a:xfrm>
          <a:prstGeom prst="rect">
            <a:avLst/>
          </a:prstGeom>
          <a:noFill/>
          <a:ln/>
        </p:spPr>
        <p:txBody>
          <a:bodyPr wrap="square" lIns="0" tIns="0" rIns="0" bIns="0" rtlCol="0" anchor="ctr"/>
          <a:lstStyle/>
          <a:p>
            <a:pPr marL="0" indent="0" algn="ctr">
              <a:buNone/>
            </a:pPr>
            <a:r>
              <a:rPr lang="en-US" sz="1300" b="1" dirty="0">
                <a:solidFill>
                  <a:srgbClr val="C9A84C"/>
                </a:solidFill>
              </a:rPr>
              <a:t>06</a:t>
            </a:r>
            <a:endParaRPr lang="en-US" sz="1300" dirty="0"/>
          </a:p>
        </p:txBody>
      </p:sp>
      <p:sp>
        <p:nvSpPr>
          <p:cNvPr id="28" name="Shape 26"/>
          <p:cNvSpPr/>
          <p:nvPr/>
        </p:nvSpPr>
        <p:spPr>
          <a:xfrm>
            <a:off x="5212080" y="2304288"/>
            <a:ext cx="3657600" cy="594360"/>
          </a:xfrm>
          <a:prstGeom prst="rect">
            <a:avLst/>
          </a:prstGeom>
          <a:solidFill>
            <a:srgbClr val="EDF2F7"/>
          </a:solidFill>
          <a:ln w="12700">
            <a:solidFill>
              <a:srgbClr val="D6E4F7"/>
            </a:solidFill>
            <a:prstDash val="solid"/>
          </a:ln>
        </p:spPr>
      </p:sp>
      <p:sp>
        <p:nvSpPr>
          <p:cNvPr id="29" name="Text 27"/>
          <p:cNvSpPr/>
          <p:nvPr/>
        </p:nvSpPr>
        <p:spPr>
          <a:xfrm>
            <a:off x="5303520" y="2304288"/>
            <a:ext cx="3474720" cy="594360"/>
          </a:xfrm>
          <a:prstGeom prst="rect">
            <a:avLst/>
          </a:prstGeom>
          <a:noFill/>
          <a:ln/>
        </p:spPr>
        <p:txBody>
          <a:bodyPr wrap="square" rtlCol="0" anchor="ctr"/>
          <a:lstStyle/>
          <a:p>
            <a:pPr marL="0" indent="0">
              <a:buNone/>
            </a:pPr>
            <a:r>
              <a:rPr lang="en-US" sz="1300" b="1" dirty="0">
                <a:solidFill>
                  <a:srgbClr val="1B2A4A"/>
                </a:solidFill>
              </a:rPr>
              <a:t>Key Rules
</a:t>
            </a:r>
            <a:r>
              <a:rPr lang="en-US" sz="1000" dirty="0">
                <a:solidFill>
                  <a:srgbClr val="4A5568"/>
                </a:solidFill>
              </a:rPr>
              <a:t>ع, gemination, glottal stop, and more</a:t>
            </a:r>
            <a:endParaRPr lang="en-US" sz="1300" dirty="0"/>
          </a:p>
        </p:txBody>
      </p:sp>
      <p:sp>
        <p:nvSpPr>
          <p:cNvPr id="30" name="Shape 28"/>
          <p:cNvSpPr/>
          <p:nvPr/>
        </p:nvSpPr>
        <p:spPr>
          <a:xfrm>
            <a:off x="4754880" y="3145536"/>
            <a:ext cx="457200" cy="594360"/>
          </a:xfrm>
          <a:prstGeom prst="rect">
            <a:avLst/>
          </a:prstGeom>
          <a:solidFill>
            <a:srgbClr val="1B2A4A"/>
          </a:solidFill>
          <a:ln w="12700">
            <a:solidFill>
              <a:srgbClr val="1B2A4A"/>
            </a:solidFill>
            <a:prstDash val="solid"/>
          </a:ln>
        </p:spPr>
      </p:sp>
      <p:sp>
        <p:nvSpPr>
          <p:cNvPr id="31" name="Text 29"/>
          <p:cNvSpPr/>
          <p:nvPr/>
        </p:nvSpPr>
        <p:spPr>
          <a:xfrm>
            <a:off x="4754880" y="3145536"/>
            <a:ext cx="457200" cy="594360"/>
          </a:xfrm>
          <a:prstGeom prst="rect">
            <a:avLst/>
          </a:prstGeom>
          <a:noFill/>
          <a:ln/>
        </p:spPr>
        <p:txBody>
          <a:bodyPr wrap="square" lIns="0" tIns="0" rIns="0" bIns="0" rtlCol="0" anchor="ctr"/>
          <a:lstStyle/>
          <a:p>
            <a:pPr marL="0" indent="0" algn="ctr">
              <a:buNone/>
            </a:pPr>
            <a:r>
              <a:rPr lang="en-US" sz="1300" b="1" dirty="0">
                <a:solidFill>
                  <a:srgbClr val="C9A84C"/>
                </a:solidFill>
              </a:rPr>
              <a:t>07</a:t>
            </a:r>
            <a:endParaRPr lang="en-US" sz="1300" dirty="0"/>
          </a:p>
        </p:txBody>
      </p:sp>
      <p:sp>
        <p:nvSpPr>
          <p:cNvPr id="32" name="Shape 30"/>
          <p:cNvSpPr/>
          <p:nvPr/>
        </p:nvSpPr>
        <p:spPr>
          <a:xfrm>
            <a:off x="5212080" y="3145536"/>
            <a:ext cx="3657600" cy="594360"/>
          </a:xfrm>
          <a:prstGeom prst="rect">
            <a:avLst/>
          </a:prstGeom>
          <a:solidFill>
            <a:srgbClr val="EDF2F7"/>
          </a:solidFill>
          <a:ln w="12700">
            <a:solidFill>
              <a:srgbClr val="D6E4F7"/>
            </a:solidFill>
            <a:prstDash val="solid"/>
          </a:ln>
        </p:spPr>
      </p:sp>
      <p:sp>
        <p:nvSpPr>
          <p:cNvPr id="33" name="Text 31"/>
          <p:cNvSpPr/>
          <p:nvPr/>
        </p:nvSpPr>
        <p:spPr>
          <a:xfrm>
            <a:off x="5303520" y="3145536"/>
            <a:ext cx="3474720" cy="594360"/>
          </a:xfrm>
          <a:prstGeom prst="rect">
            <a:avLst/>
          </a:prstGeom>
          <a:noFill/>
          <a:ln/>
        </p:spPr>
        <p:txBody>
          <a:bodyPr wrap="square" rtlCol="0" anchor="ctr"/>
          <a:lstStyle/>
          <a:p>
            <a:pPr marL="0" indent="0">
              <a:buNone/>
            </a:pPr>
            <a:r>
              <a:rPr lang="en-US" sz="1300" b="1" dirty="0">
                <a:solidFill>
                  <a:srgbClr val="1B2A4A"/>
                </a:solidFill>
              </a:rPr>
              <a:t>Sample Texts
</a:t>
            </a:r>
            <a:r>
              <a:rPr lang="en-US" sz="1000" dirty="0">
                <a:solidFill>
                  <a:srgbClr val="4A5568"/>
                </a:solidFill>
              </a:rPr>
              <a:t>Real sentences in both tiers</a:t>
            </a:r>
            <a:endParaRPr lang="en-US" sz="1300" dirty="0"/>
          </a:p>
        </p:txBody>
      </p:sp>
      <p:sp>
        <p:nvSpPr>
          <p:cNvPr id="34" name="Shape 32"/>
          <p:cNvSpPr/>
          <p:nvPr/>
        </p:nvSpPr>
        <p:spPr>
          <a:xfrm>
            <a:off x="4754880" y="3986784"/>
            <a:ext cx="457200" cy="594360"/>
          </a:xfrm>
          <a:prstGeom prst="rect">
            <a:avLst/>
          </a:prstGeom>
          <a:solidFill>
            <a:srgbClr val="1B2A4A"/>
          </a:solidFill>
          <a:ln w="12700">
            <a:solidFill>
              <a:srgbClr val="1B2A4A"/>
            </a:solidFill>
            <a:prstDash val="solid"/>
          </a:ln>
        </p:spPr>
      </p:sp>
      <p:sp>
        <p:nvSpPr>
          <p:cNvPr id="35" name="Text 33"/>
          <p:cNvSpPr/>
          <p:nvPr/>
        </p:nvSpPr>
        <p:spPr>
          <a:xfrm>
            <a:off x="4754880" y="3986784"/>
            <a:ext cx="457200" cy="594360"/>
          </a:xfrm>
          <a:prstGeom prst="rect">
            <a:avLst/>
          </a:prstGeom>
          <a:noFill/>
          <a:ln/>
        </p:spPr>
        <p:txBody>
          <a:bodyPr wrap="square" lIns="0" tIns="0" rIns="0" bIns="0" rtlCol="0" anchor="ctr"/>
          <a:lstStyle/>
          <a:p>
            <a:pPr marL="0" indent="0" algn="ctr">
              <a:buNone/>
            </a:pPr>
            <a:r>
              <a:rPr lang="en-US" sz="1300" b="1" dirty="0">
                <a:solidFill>
                  <a:srgbClr val="C9A84C"/>
                </a:solidFill>
              </a:rPr>
              <a:t>08</a:t>
            </a:r>
            <a:endParaRPr lang="en-US" sz="1300" dirty="0"/>
          </a:p>
        </p:txBody>
      </p:sp>
      <p:sp>
        <p:nvSpPr>
          <p:cNvPr id="36" name="Shape 34"/>
          <p:cNvSpPr/>
          <p:nvPr/>
        </p:nvSpPr>
        <p:spPr>
          <a:xfrm>
            <a:off x="5212080" y="3986784"/>
            <a:ext cx="3657600" cy="594360"/>
          </a:xfrm>
          <a:prstGeom prst="rect">
            <a:avLst/>
          </a:prstGeom>
          <a:solidFill>
            <a:srgbClr val="EDF2F7"/>
          </a:solidFill>
          <a:ln w="12700">
            <a:solidFill>
              <a:srgbClr val="D6E4F7"/>
            </a:solidFill>
            <a:prstDash val="solid"/>
          </a:ln>
        </p:spPr>
      </p:sp>
      <p:sp>
        <p:nvSpPr>
          <p:cNvPr id="37" name="Text 35"/>
          <p:cNvSpPr/>
          <p:nvPr/>
        </p:nvSpPr>
        <p:spPr>
          <a:xfrm>
            <a:off x="5303520" y="3986784"/>
            <a:ext cx="3474720" cy="594360"/>
          </a:xfrm>
          <a:prstGeom prst="rect">
            <a:avLst/>
          </a:prstGeom>
          <a:noFill/>
          <a:ln/>
        </p:spPr>
        <p:txBody>
          <a:bodyPr wrap="square" rtlCol="0" anchor="ctr"/>
          <a:lstStyle/>
          <a:p>
            <a:pPr marL="0" indent="0">
              <a:buNone/>
            </a:pPr>
            <a:r>
              <a:rPr lang="en-US" sz="1300" b="1" dirty="0">
                <a:solidFill>
                  <a:srgbClr val="1B2A4A"/>
                </a:solidFill>
              </a:rPr>
              <a:t>Loanwords &amp; p/v
</a:t>
            </a:r>
            <a:r>
              <a:rPr lang="en-US" sz="1000" dirty="0">
                <a:solidFill>
                  <a:srgbClr val="4A5568"/>
                </a:solidFill>
              </a:rPr>
              <a:t>Modern vocabulary handling</a:t>
            </a:r>
            <a:endParaRPr lang="en-US" sz="1300" dirty="0"/>
          </a:p>
        </p:txBody>
      </p:sp>
      <p:sp>
        <p:nvSpPr>
          <p:cNvPr id="38" name="Shape 36"/>
          <p:cNvSpPr/>
          <p:nvPr/>
        </p:nvSpPr>
        <p:spPr>
          <a:xfrm>
            <a:off x="0" y="4937760"/>
            <a:ext cx="9144000" cy="205740"/>
          </a:xfrm>
          <a:prstGeom prst="rect">
            <a:avLst/>
          </a:prstGeom>
          <a:solidFill>
            <a:srgbClr val="1B2A4A"/>
          </a:solidFill>
          <a:ln w="12700">
            <a:solidFill>
              <a:srgbClr val="1B2A4A"/>
            </a:solidFill>
            <a:prstDash val="solid"/>
          </a:ln>
        </p:spPr>
      </p:sp>
      <p:sp>
        <p:nvSpPr>
          <p:cNvPr id="39" name="Text 37"/>
          <p:cNvSpPr/>
          <p:nvPr/>
        </p:nvSpPr>
        <p:spPr>
          <a:xfrm>
            <a:off x="0" y="4937760"/>
            <a:ext cx="9144000" cy="205740"/>
          </a:xfrm>
          <a:prstGeom prst="rect">
            <a:avLst/>
          </a:prstGeom>
          <a:noFill/>
          <a:ln/>
        </p:spPr>
        <p:txBody>
          <a:bodyPr wrap="square" lIns="0" tIns="0" rIns="0" bIns="0" rtlCol="0" anchor="ctr"/>
          <a:lstStyle/>
          <a:p>
            <a:pPr marL="0" indent="0" algn="ctr">
              <a:buNone/>
            </a:pPr>
            <a:r>
              <a:rPr lang="en-US" sz="800" dirty="0" err="1">
                <a:solidFill>
                  <a:srgbClr val="C9A84C"/>
                </a:solidFill>
              </a:rPr>
              <a:t>Maṣri</a:t>
            </a:r>
            <a:r>
              <a:rPr lang="en-US" sz="800" dirty="0">
                <a:solidFill>
                  <a:srgbClr val="C9A84C"/>
                </a:solidFill>
              </a:rPr>
              <a:t> Writing System  ·  مصري  ·  Diaa Hassouna  ·  Cairo 2026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28600"/>
            <a:ext cx="1828800" cy="347472"/>
          </a:xfrm>
          <a:prstGeom prst="roundRect">
            <a:avLst/>
          </a:prstGeom>
          <a:solidFill>
            <a:srgbClr val="C9A84C"/>
          </a:solidFill>
          <a:ln w="12700">
            <a:solidFill>
              <a:srgbClr val="C9A84C"/>
            </a:solidFill>
            <a:prstDash val="solid"/>
          </a:ln>
        </p:spPr>
      </p:sp>
      <p:sp>
        <p:nvSpPr>
          <p:cNvPr id="3" name="Text 1"/>
          <p:cNvSpPr/>
          <p:nvPr/>
        </p:nvSpPr>
        <p:spPr>
          <a:xfrm>
            <a:off x="365760" y="228600"/>
            <a:ext cx="1828800" cy="347472"/>
          </a:xfrm>
          <a:prstGeom prst="rect">
            <a:avLst/>
          </a:prstGeom>
          <a:noFill/>
          <a:ln/>
        </p:spPr>
        <p:txBody>
          <a:bodyPr wrap="square" lIns="0" tIns="0" rIns="0" bIns="0" rtlCol="0" anchor="ctr"/>
          <a:lstStyle/>
          <a:p>
            <a:pPr marL="0" indent="0" algn="ctr">
              <a:buNone/>
            </a:pPr>
            <a:r>
              <a:rPr lang="en-US" sz="900" b="1" dirty="0">
                <a:solidFill>
                  <a:srgbClr val="1B2A4A"/>
                </a:solidFill>
              </a:rPr>
              <a:t>01 · THE PROBLEM</a:t>
            </a:r>
            <a:endParaRPr lang="en-US" sz="900" dirty="0"/>
          </a:p>
        </p:txBody>
      </p:sp>
      <p:sp>
        <p:nvSpPr>
          <p:cNvPr id="4" name="Text 2"/>
          <p:cNvSpPr/>
          <p:nvPr/>
        </p:nvSpPr>
        <p:spPr>
          <a:xfrm>
            <a:off x="457200" y="658368"/>
            <a:ext cx="8229600" cy="594360"/>
          </a:xfrm>
          <a:prstGeom prst="rect">
            <a:avLst/>
          </a:prstGeom>
          <a:noFill/>
          <a:ln/>
        </p:spPr>
        <p:txBody>
          <a:bodyPr wrap="square" rtlCol="0" anchor="ctr"/>
          <a:lstStyle/>
          <a:p>
            <a:pPr marL="0" indent="0" algn="l">
              <a:buNone/>
            </a:pPr>
            <a:r>
              <a:rPr lang="en-US" sz="2800" b="1" dirty="0">
                <a:solidFill>
                  <a:srgbClr val="1B2A4A"/>
                </a:solidFill>
                <a:latin typeface="Georgia" pitchFamily="34" charset="0"/>
                <a:ea typeface="Georgia" pitchFamily="34" charset="-122"/>
                <a:cs typeface="Georgia" pitchFamily="34" charset="-120"/>
              </a:rPr>
              <a:t>Egyptian Arabic Has No Standard Latin Script</a:t>
            </a:r>
            <a:endParaRPr lang="en-US" sz="2800" dirty="0"/>
          </a:p>
        </p:txBody>
      </p:sp>
      <p:sp>
        <p:nvSpPr>
          <p:cNvPr id="5" name="Shape 3"/>
          <p:cNvSpPr/>
          <p:nvPr/>
        </p:nvSpPr>
        <p:spPr>
          <a:xfrm>
            <a:off x="457200" y="1325880"/>
            <a:ext cx="457200" cy="50292"/>
          </a:xfrm>
          <a:prstGeom prst="rect">
            <a:avLst/>
          </a:prstGeom>
          <a:solidFill>
            <a:srgbClr val="C9A84C"/>
          </a:solidFill>
          <a:ln w="12700">
            <a:solidFill>
              <a:srgbClr val="C9A84C"/>
            </a:solidFill>
            <a:prstDash val="solid"/>
          </a:ln>
        </p:spPr>
      </p:sp>
      <p:sp>
        <p:nvSpPr>
          <p:cNvPr id="6" name="Shape 4"/>
          <p:cNvSpPr/>
          <p:nvPr/>
        </p:nvSpPr>
        <p:spPr>
          <a:xfrm>
            <a:off x="457200" y="1463040"/>
            <a:ext cx="3931920" cy="3200400"/>
          </a:xfrm>
          <a:prstGeom prst="rect">
            <a:avLst/>
          </a:prstGeom>
          <a:solidFill>
            <a:srgbClr val="FFF5F5"/>
          </a:solidFill>
          <a:ln w="12700">
            <a:solidFill>
              <a:srgbClr val="FC8181"/>
            </a:solidFill>
            <a:prstDash val="solid"/>
          </a:ln>
        </p:spPr>
      </p:sp>
      <p:sp>
        <p:nvSpPr>
          <p:cNvPr id="7" name="Text 5"/>
          <p:cNvSpPr/>
          <p:nvPr/>
        </p:nvSpPr>
        <p:spPr>
          <a:xfrm>
            <a:off x="594360" y="1554480"/>
            <a:ext cx="3657600" cy="365760"/>
          </a:xfrm>
          <a:prstGeom prst="rect">
            <a:avLst/>
          </a:prstGeom>
          <a:noFill/>
          <a:ln/>
        </p:spPr>
        <p:txBody>
          <a:bodyPr wrap="square" rtlCol="0" anchor="ctr"/>
          <a:lstStyle/>
          <a:p>
            <a:pPr marL="0" indent="0">
              <a:buNone/>
            </a:pPr>
            <a:r>
              <a:rPr lang="en-US" sz="1300" b="1" dirty="0">
                <a:solidFill>
                  <a:srgbClr val="9B2335"/>
                </a:solidFill>
              </a:rPr>
              <a:t>❌  The Current Chaos</a:t>
            </a:r>
            <a:endParaRPr lang="en-US" sz="1300" dirty="0"/>
          </a:p>
        </p:txBody>
      </p:sp>
      <p:sp>
        <p:nvSpPr>
          <p:cNvPr id="8" name="Text 6"/>
          <p:cNvSpPr/>
          <p:nvPr/>
        </p:nvSpPr>
        <p:spPr>
          <a:xfrm>
            <a:off x="594360" y="1965960"/>
            <a:ext cx="3657600" cy="2560320"/>
          </a:xfrm>
          <a:prstGeom prst="rect">
            <a:avLst/>
          </a:prstGeom>
          <a:noFill/>
          <a:ln/>
        </p:spPr>
        <p:txBody>
          <a:bodyPr wrap="square" rtlCol="0" anchor="t"/>
          <a:lstStyle/>
          <a:p>
            <a:pPr marL="0" indent="0">
              <a:buNone/>
            </a:pPr>
            <a:r>
              <a:rPr lang="en-US" sz="1300" b="1" dirty="0">
                <a:solidFill>
                  <a:srgbClr val="1B2A4A"/>
                </a:solidFill>
              </a:rPr>
              <a:t>Numerals as letters
</a:t>
            </a:r>
            <a:r>
              <a:rPr lang="en-US" sz="1200" dirty="0">
                <a:solidFill>
                  <a:srgbClr val="4A5568"/>
                </a:solidFill>
              </a:rPr>
              <a:t>3 for ع  ·  7 for ح  ·  2 for ء
</a:t>
            </a:r>
            <a:r>
              <a:rPr lang="en-US" sz="1300" b="1" dirty="0">
                <a:solidFill>
                  <a:srgbClr val="1B2A4A"/>
                </a:solidFill>
              </a:rPr>
              <a:t>No consistency
</a:t>
            </a:r>
            <a:r>
              <a:rPr lang="en-US" sz="1200" dirty="0">
                <a:solidFill>
                  <a:srgbClr val="4A5568"/>
                </a:solidFill>
              </a:rPr>
              <a:t>Every writer invents their own system
</a:t>
            </a:r>
            <a:r>
              <a:rPr lang="en-US" sz="1300" b="1" dirty="0">
                <a:solidFill>
                  <a:srgbClr val="1B2A4A"/>
                </a:solidFill>
              </a:rPr>
              <a:t>Ambiguity everywhere
</a:t>
            </a:r>
            <a:r>
              <a:rPr lang="en-US" sz="1200" dirty="0">
                <a:solidFill>
                  <a:srgbClr val="4A5568"/>
                </a:solidFill>
              </a:rPr>
              <a:t>Same word spelled 5 different ways
</a:t>
            </a:r>
            <a:r>
              <a:rPr lang="en-US" sz="1300" b="1" dirty="0">
                <a:solidFill>
                  <a:srgbClr val="1B2A4A"/>
                </a:solidFill>
              </a:rPr>
              <a:t>No phonetic accuracy
</a:t>
            </a:r>
            <a:r>
              <a:rPr lang="en-US" sz="1200" dirty="0">
                <a:solidFill>
                  <a:srgbClr val="4A5568"/>
                </a:solidFill>
              </a:rPr>
              <a:t>Latin cannot represent pharyngeal sounds</a:t>
            </a:r>
            <a:endParaRPr lang="en-US" sz="1300" dirty="0"/>
          </a:p>
        </p:txBody>
      </p:sp>
      <p:sp>
        <p:nvSpPr>
          <p:cNvPr id="9" name="Shape 7"/>
          <p:cNvSpPr/>
          <p:nvPr/>
        </p:nvSpPr>
        <p:spPr>
          <a:xfrm>
            <a:off x="4663440" y="1463040"/>
            <a:ext cx="3931920" cy="3200400"/>
          </a:xfrm>
          <a:prstGeom prst="rect">
            <a:avLst/>
          </a:prstGeom>
          <a:solidFill>
            <a:srgbClr val="F0FFF4"/>
          </a:solidFill>
          <a:ln w="12700">
            <a:solidFill>
              <a:srgbClr val="68D391"/>
            </a:solidFill>
            <a:prstDash val="solid"/>
          </a:ln>
        </p:spPr>
      </p:sp>
      <p:sp>
        <p:nvSpPr>
          <p:cNvPr id="10" name="Text 8"/>
          <p:cNvSpPr/>
          <p:nvPr/>
        </p:nvSpPr>
        <p:spPr>
          <a:xfrm>
            <a:off x="4800600" y="1554480"/>
            <a:ext cx="3657600" cy="365760"/>
          </a:xfrm>
          <a:prstGeom prst="rect">
            <a:avLst/>
          </a:prstGeom>
          <a:noFill/>
          <a:ln/>
        </p:spPr>
        <p:txBody>
          <a:bodyPr wrap="square" rtlCol="0" anchor="ctr"/>
          <a:lstStyle/>
          <a:p>
            <a:pPr marL="0" indent="0">
              <a:buNone/>
            </a:pPr>
            <a:r>
              <a:rPr lang="en-US" sz="1300" b="1" dirty="0">
                <a:solidFill>
                  <a:srgbClr val="276749"/>
                </a:solidFill>
              </a:rPr>
              <a:t>✓  Masri Solution</a:t>
            </a:r>
            <a:endParaRPr lang="en-US" sz="1300" dirty="0"/>
          </a:p>
        </p:txBody>
      </p:sp>
      <p:sp>
        <p:nvSpPr>
          <p:cNvPr id="11" name="Text 9"/>
          <p:cNvSpPr/>
          <p:nvPr/>
        </p:nvSpPr>
        <p:spPr>
          <a:xfrm>
            <a:off x="4800600" y="1965960"/>
            <a:ext cx="3657600" cy="2560320"/>
          </a:xfrm>
          <a:prstGeom prst="rect">
            <a:avLst/>
          </a:prstGeom>
          <a:noFill/>
          <a:ln/>
        </p:spPr>
        <p:txBody>
          <a:bodyPr wrap="square" rtlCol="0" anchor="t"/>
          <a:lstStyle/>
          <a:p>
            <a:pPr marL="0" indent="0">
              <a:buNone/>
            </a:pPr>
            <a:r>
              <a:rPr lang="en-US" sz="1300" b="1" dirty="0">
                <a:solidFill>
                  <a:srgbClr val="1B2A4A"/>
                </a:solidFill>
              </a:rPr>
              <a:t>One symbol per sound
</a:t>
            </a:r>
            <a:r>
              <a:rPr lang="en-US" sz="1200" dirty="0">
                <a:solidFill>
                  <a:srgbClr val="4A5568"/>
                </a:solidFill>
              </a:rPr>
              <a:t>Strict bijection: no ambiguity
</a:t>
            </a:r>
            <a:r>
              <a:rPr lang="en-US" sz="1300" b="1" dirty="0">
                <a:solidFill>
                  <a:srgbClr val="1B2A4A"/>
                </a:solidFill>
              </a:rPr>
              <a:t>No numerals ever
</a:t>
            </a:r>
            <a:r>
              <a:rPr lang="en-US" sz="1200" dirty="0">
                <a:solidFill>
                  <a:srgbClr val="4A5568"/>
                </a:solidFill>
              </a:rPr>
              <a:t>Every sound has a real letter
</a:t>
            </a:r>
            <a:r>
              <a:rPr lang="en-US" sz="1300" b="1" dirty="0">
                <a:solidFill>
                  <a:srgbClr val="1B2A4A"/>
                </a:solidFill>
              </a:rPr>
              <a:t>Keyboard accessible
</a:t>
            </a:r>
            <a:r>
              <a:rPr lang="en-US" sz="1200" dirty="0">
                <a:solidFill>
                  <a:srgbClr val="4A5568"/>
                </a:solidFill>
              </a:rPr>
              <a:t>Tier 1: any standard keyboard
</a:t>
            </a:r>
            <a:r>
              <a:rPr lang="en-US" sz="1300" b="1" dirty="0">
                <a:solidFill>
                  <a:srgbClr val="1B2A4A"/>
                </a:solidFill>
              </a:rPr>
              <a:t>Cairene reference dialect
</a:t>
            </a:r>
            <a:r>
              <a:rPr lang="en-US" sz="1200" dirty="0">
                <a:solidFill>
                  <a:srgbClr val="4A5568"/>
                </a:solidFill>
              </a:rPr>
              <a:t>Urban Cairo Arabic is the standard</a:t>
            </a:r>
            <a:endParaRPr lang="en-US" sz="1300" dirty="0"/>
          </a:p>
        </p:txBody>
      </p:sp>
      <p:sp>
        <p:nvSpPr>
          <p:cNvPr id="12" name="Shape 10"/>
          <p:cNvSpPr/>
          <p:nvPr/>
        </p:nvSpPr>
        <p:spPr>
          <a:xfrm>
            <a:off x="0" y="4937760"/>
            <a:ext cx="9144000" cy="205740"/>
          </a:xfrm>
          <a:prstGeom prst="rect">
            <a:avLst/>
          </a:prstGeom>
          <a:solidFill>
            <a:srgbClr val="1B2A4A"/>
          </a:solidFill>
          <a:ln w="12700">
            <a:solidFill>
              <a:srgbClr val="1B2A4A"/>
            </a:solidFill>
            <a:prstDash val="solid"/>
          </a:ln>
        </p:spPr>
      </p:sp>
      <p:sp>
        <p:nvSpPr>
          <p:cNvPr id="13" name="Text 11"/>
          <p:cNvSpPr/>
          <p:nvPr/>
        </p:nvSpPr>
        <p:spPr>
          <a:xfrm>
            <a:off x="0" y="4937760"/>
            <a:ext cx="9144000" cy="205740"/>
          </a:xfrm>
          <a:prstGeom prst="rect">
            <a:avLst/>
          </a:prstGeom>
          <a:noFill/>
          <a:ln/>
        </p:spPr>
        <p:txBody>
          <a:bodyPr wrap="square" lIns="0" tIns="0" rIns="0" bIns="0" rtlCol="0" anchor="ctr"/>
          <a:lstStyle/>
          <a:p>
            <a:pPr marL="0" indent="0" algn="ctr">
              <a:buNone/>
            </a:pPr>
            <a:r>
              <a:rPr lang="en-US" sz="800" dirty="0" err="1">
                <a:solidFill>
                  <a:srgbClr val="C9A84C"/>
                </a:solidFill>
              </a:rPr>
              <a:t>Maṣri</a:t>
            </a:r>
            <a:r>
              <a:rPr lang="en-US" sz="800" dirty="0">
                <a:solidFill>
                  <a:srgbClr val="C9A84C"/>
                </a:solidFill>
              </a:rPr>
              <a:t> Writing System  ·  مصري  ·  Diaa Hassouna  ·  Cairo 2026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F38"/>
        </a:solidFill>
        <a:effectLst/>
      </p:bgPr>
    </p:bg>
    <p:spTree>
      <p:nvGrpSpPr>
        <p:cNvPr id="1" name=""/>
        <p:cNvGrpSpPr/>
        <p:nvPr/>
      </p:nvGrpSpPr>
      <p:grpSpPr>
        <a:xfrm>
          <a:off x="0" y="0"/>
          <a:ext cx="0" cy="0"/>
          <a:chOff x="0" y="0"/>
          <a:chExt cx="0" cy="0"/>
        </a:xfrm>
      </p:grpSpPr>
      <p:sp>
        <p:nvSpPr>
          <p:cNvPr id="2" name="Shape 0"/>
          <p:cNvSpPr/>
          <p:nvPr/>
        </p:nvSpPr>
        <p:spPr>
          <a:xfrm>
            <a:off x="365760" y="228600"/>
            <a:ext cx="1828800" cy="347472"/>
          </a:xfrm>
          <a:prstGeom prst="roundRect">
            <a:avLst/>
          </a:prstGeom>
          <a:solidFill>
            <a:srgbClr val="C9A84C"/>
          </a:solidFill>
          <a:ln w="12700">
            <a:solidFill>
              <a:srgbClr val="C9A84C"/>
            </a:solidFill>
            <a:prstDash val="solid"/>
          </a:ln>
        </p:spPr>
      </p:sp>
      <p:sp>
        <p:nvSpPr>
          <p:cNvPr id="3" name="Text 1"/>
          <p:cNvSpPr/>
          <p:nvPr/>
        </p:nvSpPr>
        <p:spPr>
          <a:xfrm>
            <a:off x="365760" y="228600"/>
            <a:ext cx="1828800" cy="347472"/>
          </a:xfrm>
          <a:prstGeom prst="rect">
            <a:avLst/>
          </a:prstGeom>
          <a:noFill/>
          <a:ln/>
        </p:spPr>
        <p:txBody>
          <a:bodyPr wrap="square" lIns="0" tIns="0" rIns="0" bIns="0" rtlCol="0" anchor="ctr"/>
          <a:lstStyle/>
          <a:p>
            <a:pPr marL="0" indent="0" algn="ctr">
              <a:buNone/>
            </a:pPr>
            <a:r>
              <a:rPr lang="en-US" sz="900" b="1" dirty="0">
                <a:solidFill>
                  <a:srgbClr val="1B2A4A"/>
                </a:solidFill>
              </a:rPr>
              <a:t>02 · CORE PRINCIPLES</a:t>
            </a:r>
            <a:endParaRPr lang="en-US" sz="900" dirty="0"/>
          </a:p>
        </p:txBody>
      </p:sp>
      <p:sp>
        <p:nvSpPr>
          <p:cNvPr id="4" name="Text 2"/>
          <p:cNvSpPr/>
          <p:nvPr/>
        </p:nvSpPr>
        <p:spPr>
          <a:xfrm>
            <a:off x="457200" y="658368"/>
            <a:ext cx="8229600" cy="594360"/>
          </a:xfrm>
          <a:prstGeom prst="rect">
            <a:avLst/>
          </a:prstGeom>
          <a:noFill/>
          <a:ln/>
        </p:spPr>
        <p:txBody>
          <a:bodyPr wrap="square" rtlCol="0" anchor="ctr"/>
          <a:lstStyle/>
          <a:p>
            <a:pPr marL="0" indent="0" algn="l">
              <a:buNone/>
            </a:pPr>
            <a:r>
              <a:rPr lang="en-US" sz="2800" b="1" dirty="0">
                <a:solidFill>
                  <a:srgbClr val="FFFFFF"/>
                </a:solidFill>
                <a:latin typeface="Georgia" pitchFamily="34" charset="0"/>
                <a:ea typeface="Georgia" pitchFamily="34" charset="-122"/>
                <a:cs typeface="Georgia" pitchFamily="34" charset="-120"/>
              </a:rPr>
              <a:t>Five Design Pillars</a:t>
            </a:r>
            <a:endParaRPr lang="en-US" sz="2800" dirty="0"/>
          </a:p>
        </p:txBody>
      </p:sp>
      <p:sp>
        <p:nvSpPr>
          <p:cNvPr id="5" name="Shape 3"/>
          <p:cNvSpPr/>
          <p:nvPr/>
        </p:nvSpPr>
        <p:spPr>
          <a:xfrm>
            <a:off x="457200" y="1325880"/>
            <a:ext cx="457200" cy="50292"/>
          </a:xfrm>
          <a:prstGeom prst="rect">
            <a:avLst/>
          </a:prstGeom>
          <a:solidFill>
            <a:srgbClr val="C9A84C"/>
          </a:solidFill>
          <a:ln w="12700">
            <a:solidFill>
              <a:srgbClr val="C9A84C"/>
            </a:solidFill>
            <a:prstDash val="solid"/>
          </a:ln>
        </p:spPr>
      </p:sp>
      <p:sp>
        <p:nvSpPr>
          <p:cNvPr id="6" name="Shape 4"/>
          <p:cNvSpPr/>
          <p:nvPr/>
        </p:nvSpPr>
        <p:spPr>
          <a:xfrm>
            <a:off x="457200" y="1417320"/>
            <a:ext cx="1508760" cy="3291840"/>
          </a:xfrm>
          <a:prstGeom prst="rect">
            <a:avLst/>
          </a:prstGeom>
          <a:solidFill>
            <a:srgbClr val="FFFFFF">
              <a:alpha val="8000"/>
            </a:srgbClr>
          </a:solidFill>
          <a:ln w="12700">
            <a:solidFill>
              <a:srgbClr val="C9A84C"/>
            </a:solidFill>
            <a:prstDash val="solid"/>
          </a:ln>
        </p:spPr>
      </p:sp>
      <p:sp>
        <p:nvSpPr>
          <p:cNvPr id="7" name="Shape 5"/>
          <p:cNvSpPr/>
          <p:nvPr/>
        </p:nvSpPr>
        <p:spPr>
          <a:xfrm>
            <a:off x="457200" y="1417320"/>
            <a:ext cx="1508760" cy="502920"/>
          </a:xfrm>
          <a:prstGeom prst="rect">
            <a:avLst/>
          </a:prstGeom>
          <a:solidFill>
            <a:srgbClr val="C9A84C"/>
          </a:solidFill>
          <a:ln w="12700">
            <a:solidFill>
              <a:srgbClr val="C9A84C"/>
            </a:solidFill>
            <a:prstDash val="solid"/>
          </a:ln>
        </p:spPr>
      </p:sp>
      <p:sp>
        <p:nvSpPr>
          <p:cNvPr id="8" name="Text 6"/>
          <p:cNvSpPr/>
          <p:nvPr/>
        </p:nvSpPr>
        <p:spPr>
          <a:xfrm>
            <a:off x="457200" y="1417320"/>
            <a:ext cx="1508760" cy="502920"/>
          </a:xfrm>
          <a:prstGeom prst="rect">
            <a:avLst/>
          </a:prstGeom>
          <a:noFill/>
          <a:ln/>
        </p:spPr>
        <p:txBody>
          <a:bodyPr wrap="square" lIns="0" tIns="0" rIns="0" bIns="0" rtlCol="0" anchor="ctr"/>
          <a:lstStyle/>
          <a:p>
            <a:pPr marL="0" indent="0" algn="ctr">
              <a:buNone/>
            </a:pPr>
            <a:r>
              <a:rPr lang="en-US" sz="2200" b="1" dirty="0">
                <a:solidFill>
                  <a:srgbClr val="1B2A4A"/>
                </a:solidFill>
              </a:rPr>
              <a:t>①</a:t>
            </a:r>
            <a:endParaRPr lang="en-US" sz="2200" dirty="0"/>
          </a:p>
        </p:txBody>
      </p:sp>
      <p:sp>
        <p:nvSpPr>
          <p:cNvPr id="9" name="Text 7"/>
          <p:cNvSpPr/>
          <p:nvPr/>
        </p:nvSpPr>
        <p:spPr>
          <a:xfrm>
            <a:off x="530352" y="1993392"/>
            <a:ext cx="1371600" cy="640080"/>
          </a:xfrm>
          <a:prstGeom prst="rect">
            <a:avLst/>
          </a:prstGeom>
          <a:noFill/>
          <a:ln/>
        </p:spPr>
        <p:txBody>
          <a:bodyPr wrap="square" rtlCol="0" anchor="ctr"/>
          <a:lstStyle/>
          <a:p>
            <a:pPr marL="0" indent="0" algn="ctr">
              <a:buNone/>
            </a:pPr>
            <a:r>
              <a:rPr lang="en-US" sz="1200" b="1" dirty="0">
                <a:solidFill>
                  <a:srgbClr val="C9A84C"/>
                </a:solidFill>
              </a:rPr>
              <a:t>One Symbol Per Sound</a:t>
            </a:r>
            <a:endParaRPr lang="en-US" sz="1200" dirty="0"/>
          </a:p>
        </p:txBody>
      </p:sp>
      <p:sp>
        <p:nvSpPr>
          <p:cNvPr id="10" name="Text 8"/>
          <p:cNvSpPr/>
          <p:nvPr/>
        </p:nvSpPr>
        <p:spPr>
          <a:xfrm>
            <a:off x="530352" y="2651760"/>
            <a:ext cx="1371600" cy="1737360"/>
          </a:xfrm>
          <a:prstGeom prst="rect">
            <a:avLst/>
          </a:prstGeom>
          <a:noFill/>
          <a:ln/>
        </p:spPr>
        <p:txBody>
          <a:bodyPr wrap="square" rtlCol="0" anchor="t"/>
          <a:lstStyle/>
          <a:p>
            <a:pPr marL="0" indent="0" algn="ctr">
              <a:buNone/>
            </a:pPr>
            <a:r>
              <a:rPr lang="en-US" sz="1050" dirty="0">
                <a:solidFill>
                  <a:srgbClr val="FFFFFF"/>
                </a:solidFill>
              </a:rPr>
              <a:t>Each sound → one symbol.</a:t>
            </a:r>
            <a:endParaRPr lang="en-US" sz="1050" dirty="0"/>
          </a:p>
          <a:p>
            <a:pPr marL="0" indent="0" algn="ctr">
              <a:buNone/>
            </a:pPr>
            <a:r>
              <a:rPr lang="en-US" sz="1050" dirty="0">
                <a:solidFill>
                  <a:srgbClr val="FFFFFF"/>
                </a:solidFill>
              </a:rPr>
              <a:t>Each symbol → one sound.</a:t>
            </a:r>
            <a:endParaRPr lang="en-US" sz="1050" dirty="0"/>
          </a:p>
          <a:p>
            <a:pPr marL="0" indent="0" algn="ctr">
              <a:buNone/>
            </a:pPr>
            <a:r>
              <a:rPr lang="en-US" sz="1050" dirty="0">
                <a:solidFill>
                  <a:srgbClr val="FFFFFF"/>
                </a:solidFill>
              </a:rPr>
              <a:t>No ambiguity, ever.</a:t>
            </a:r>
            <a:endParaRPr lang="en-US" sz="1050" dirty="0"/>
          </a:p>
        </p:txBody>
      </p:sp>
      <p:sp>
        <p:nvSpPr>
          <p:cNvPr id="11" name="Shape 9"/>
          <p:cNvSpPr/>
          <p:nvPr/>
        </p:nvSpPr>
        <p:spPr>
          <a:xfrm>
            <a:off x="2148840" y="1417320"/>
            <a:ext cx="1508760" cy="3291840"/>
          </a:xfrm>
          <a:prstGeom prst="rect">
            <a:avLst/>
          </a:prstGeom>
          <a:solidFill>
            <a:srgbClr val="FFFFFF">
              <a:alpha val="8000"/>
            </a:srgbClr>
          </a:solidFill>
          <a:ln w="12700">
            <a:solidFill>
              <a:srgbClr val="C9A84C"/>
            </a:solidFill>
            <a:prstDash val="solid"/>
          </a:ln>
        </p:spPr>
      </p:sp>
      <p:sp>
        <p:nvSpPr>
          <p:cNvPr id="12" name="Shape 10"/>
          <p:cNvSpPr/>
          <p:nvPr/>
        </p:nvSpPr>
        <p:spPr>
          <a:xfrm>
            <a:off x="2148840" y="1417320"/>
            <a:ext cx="1508760" cy="502920"/>
          </a:xfrm>
          <a:prstGeom prst="rect">
            <a:avLst/>
          </a:prstGeom>
          <a:solidFill>
            <a:srgbClr val="C9A84C"/>
          </a:solidFill>
          <a:ln w="12700">
            <a:solidFill>
              <a:srgbClr val="C9A84C"/>
            </a:solidFill>
            <a:prstDash val="solid"/>
          </a:ln>
        </p:spPr>
      </p:sp>
      <p:sp>
        <p:nvSpPr>
          <p:cNvPr id="13" name="Text 11"/>
          <p:cNvSpPr/>
          <p:nvPr/>
        </p:nvSpPr>
        <p:spPr>
          <a:xfrm>
            <a:off x="2148840" y="1417320"/>
            <a:ext cx="1508760" cy="502920"/>
          </a:xfrm>
          <a:prstGeom prst="rect">
            <a:avLst/>
          </a:prstGeom>
          <a:noFill/>
          <a:ln/>
        </p:spPr>
        <p:txBody>
          <a:bodyPr wrap="square" lIns="0" tIns="0" rIns="0" bIns="0" rtlCol="0" anchor="ctr"/>
          <a:lstStyle/>
          <a:p>
            <a:pPr marL="0" indent="0" algn="ctr">
              <a:buNone/>
            </a:pPr>
            <a:r>
              <a:rPr lang="en-US" sz="2200" b="1" dirty="0">
                <a:solidFill>
                  <a:srgbClr val="1B2A4A"/>
                </a:solidFill>
              </a:rPr>
              <a:t>②</a:t>
            </a:r>
            <a:endParaRPr lang="en-US" sz="2200" dirty="0"/>
          </a:p>
        </p:txBody>
      </p:sp>
      <p:sp>
        <p:nvSpPr>
          <p:cNvPr id="14" name="Text 12"/>
          <p:cNvSpPr/>
          <p:nvPr/>
        </p:nvSpPr>
        <p:spPr>
          <a:xfrm>
            <a:off x="2221992" y="1993392"/>
            <a:ext cx="1371600" cy="640080"/>
          </a:xfrm>
          <a:prstGeom prst="rect">
            <a:avLst/>
          </a:prstGeom>
          <a:noFill/>
          <a:ln/>
        </p:spPr>
        <p:txBody>
          <a:bodyPr wrap="square" rtlCol="0" anchor="ctr"/>
          <a:lstStyle/>
          <a:p>
            <a:pPr marL="0" indent="0" algn="ctr">
              <a:buNone/>
            </a:pPr>
            <a:r>
              <a:rPr lang="en-US" sz="1200" b="1" dirty="0">
                <a:solidFill>
                  <a:srgbClr val="C9A84C"/>
                </a:solidFill>
              </a:rPr>
              <a:t>Speed Over Elegance</a:t>
            </a:r>
            <a:endParaRPr lang="en-US" sz="1200" dirty="0"/>
          </a:p>
        </p:txBody>
      </p:sp>
      <p:sp>
        <p:nvSpPr>
          <p:cNvPr id="15" name="Text 13"/>
          <p:cNvSpPr/>
          <p:nvPr/>
        </p:nvSpPr>
        <p:spPr>
          <a:xfrm>
            <a:off x="2221992" y="2651760"/>
            <a:ext cx="1371600" cy="1737360"/>
          </a:xfrm>
          <a:prstGeom prst="rect">
            <a:avLst/>
          </a:prstGeom>
          <a:noFill/>
          <a:ln/>
        </p:spPr>
        <p:txBody>
          <a:bodyPr wrap="square" rtlCol="0" anchor="t"/>
          <a:lstStyle/>
          <a:p>
            <a:pPr marL="0" indent="0" algn="ctr">
              <a:buNone/>
            </a:pPr>
            <a:r>
              <a:rPr lang="en-US" sz="1050" dirty="0">
                <a:solidFill>
                  <a:srgbClr val="FFFFFF"/>
                </a:solidFill>
              </a:rPr>
              <a:t>Practical usability first.</a:t>
            </a:r>
            <a:endParaRPr lang="en-US" sz="1050" dirty="0"/>
          </a:p>
          <a:p>
            <a:pPr marL="0" indent="0" algn="ctr">
              <a:buNone/>
            </a:pPr>
            <a:r>
              <a:rPr lang="en-US" sz="1050" dirty="0">
                <a:solidFill>
                  <a:srgbClr val="FFFFFF"/>
                </a:solidFill>
              </a:rPr>
              <a:t>Designed for real digital</a:t>
            </a:r>
            <a:endParaRPr lang="en-US" sz="1050" dirty="0"/>
          </a:p>
          <a:p>
            <a:pPr marL="0" indent="0" algn="ctr">
              <a:buNone/>
            </a:pPr>
            <a:r>
              <a:rPr lang="en-US" sz="1050" dirty="0">
                <a:solidFill>
                  <a:srgbClr val="FFFFFF"/>
                </a:solidFill>
              </a:rPr>
              <a:t>communication.</a:t>
            </a:r>
            <a:endParaRPr lang="en-US" sz="1050" dirty="0"/>
          </a:p>
        </p:txBody>
      </p:sp>
      <p:sp>
        <p:nvSpPr>
          <p:cNvPr id="16" name="Shape 14"/>
          <p:cNvSpPr/>
          <p:nvPr/>
        </p:nvSpPr>
        <p:spPr>
          <a:xfrm>
            <a:off x="3840480" y="1417320"/>
            <a:ext cx="1508760" cy="3291840"/>
          </a:xfrm>
          <a:prstGeom prst="rect">
            <a:avLst/>
          </a:prstGeom>
          <a:solidFill>
            <a:srgbClr val="FFFFFF">
              <a:alpha val="8000"/>
            </a:srgbClr>
          </a:solidFill>
          <a:ln w="12700">
            <a:solidFill>
              <a:srgbClr val="C9A84C"/>
            </a:solidFill>
            <a:prstDash val="solid"/>
          </a:ln>
        </p:spPr>
      </p:sp>
      <p:sp>
        <p:nvSpPr>
          <p:cNvPr id="17" name="Shape 15"/>
          <p:cNvSpPr/>
          <p:nvPr/>
        </p:nvSpPr>
        <p:spPr>
          <a:xfrm>
            <a:off x="3840480" y="1417320"/>
            <a:ext cx="1508760" cy="502920"/>
          </a:xfrm>
          <a:prstGeom prst="rect">
            <a:avLst/>
          </a:prstGeom>
          <a:solidFill>
            <a:srgbClr val="C9A84C"/>
          </a:solidFill>
          <a:ln w="12700">
            <a:solidFill>
              <a:srgbClr val="C9A84C"/>
            </a:solidFill>
            <a:prstDash val="solid"/>
          </a:ln>
        </p:spPr>
      </p:sp>
      <p:sp>
        <p:nvSpPr>
          <p:cNvPr id="18" name="Text 16"/>
          <p:cNvSpPr/>
          <p:nvPr/>
        </p:nvSpPr>
        <p:spPr>
          <a:xfrm>
            <a:off x="3840480" y="1417320"/>
            <a:ext cx="1508760" cy="502920"/>
          </a:xfrm>
          <a:prstGeom prst="rect">
            <a:avLst/>
          </a:prstGeom>
          <a:noFill/>
          <a:ln/>
        </p:spPr>
        <p:txBody>
          <a:bodyPr wrap="square" lIns="0" tIns="0" rIns="0" bIns="0" rtlCol="0" anchor="ctr"/>
          <a:lstStyle/>
          <a:p>
            <a:pPr marL="0" indent="0" algn="ctr">
              <a:buNone/>
            </a:pPr>
            <a:r>
              <a:rPr lang="en-US" sz="2200" b="1" dirty="0">
                <a:solidFill>
                  <a:srgbClr val="1B2A4A"/>
                </a:solidFill>
              </a:rPr>
              <a:t>③</a:t>
            </a:r>
            <a:endParaRPr lang="en-US" sz="2200" dirty="0"/>
          </a:p>
        </p:txBody>
      </p:sp>
      <p:sp>
        <p:nvSpPr>
          <p:cNvPr id="19" name="Text 17"/>
          <p:cNvSpPr/>
          <p:nvPr/>
        </p:nvSpPr>
        <p:spPr>
          <a:xfrm>
            <a:off x="3913632" y="1993392"/>
            <a:ext cx="1371600" cy="640080"/>
          </a:xfrm>
          <a:prstGeom prst="rect">
            <a:avLst/>
          </a:prstGeom>
          <a:noFill/>
          <a:ln/>
        </p:spPr>
        <p:txBody>
          <a:bodyPr wrap="square" rtlCol="0" anchor="ctr"/>
          <a:lstStyle/>
          <a:p>
            <a:pPr marL="0" indent="0" algn="ctr">
              <a:buNone/>
            </a:pPr>
            <a:r>
              <a:rPr lang="en-US" sz="1200" b="1" dirty="0">
                <a:solidFill>
                  <a:srgbClr val="C9A84C"/>
                </a:solidFill>
              </a:rPr>
              <a:t>Cairene Standard</a:t>
            </a:r>
            <a:endParaRPr lang="en-US" sz="1200" dirty="0"/>
          </a:p>
        </p:txBody>
      </p:sp>
      <p:sp>
        <p:nvSpPr>
          <p:cNvPr id="20" name="Text 18"/>
          <p:cNvSpPr/>
          <p:nvPr/>
        </p:nvSpPr>
        <p:spPr>
          <a:xfrm>
            <a:off x="3913632" y="2651760"/>
            <a:ext cx="1371600" cy="1737360"/>
          </a:xfrm>
          <a:prstGeom prst="rect">
            <a:avLst/>
          </a:prstGeom>
          <a:noFill/>
          <a:ln/>
        </p:spPr>
        <p:txBody>
          <a:bodyPr wrap="square" rtlCol="0" anchor="t"/>
          <a:lstStyle/>
          <a:p>
            <a:pPr marL="0" indent="0" algn="ctr">
              <a:buNone/>
            </a:pPr>
            <a:r>
              <a:rPr lang="en-US" sz="1050" dirty="0">
                <a:solidFill>
                  <a:srgbClr val="FFFFFF"/>
                </a:solidFill>
              </a:rPr>
              <a:t>Urban Cairo dialect is</a:t>
            </a:r>
            <a:endParaRPr lang="en-US" sz="1050" dirty="0"/>
          </a:p>
          <a:p>
            <a:pPr marL="0" indent="0" algn="ctr">
              <a:buNone/>
            </a:pPr>
            <a:r>
              <a:rPr lang="en-US" sz="1050" dirty="0">
                <a:solidFill>
                  <a:srgbClr val="FFFFFF"/>
                </a:solidFill>
              </a:rPr>
              <a:t>the normative reference</a:t>
            </a:r>
            <a:endParaRPr lang="en-US" sz="1050" dirty="0"/>
          </a:p>
          <a:p>
            <a:pPr marL="0" indent="0" algn="ctr">
              <a:buNone/>
            </a:pPr>
            <a:r>
              <a:rPr lang="en-US" sz="1050" dirty="0">
                <a:solidFill>
                  <a:srgbClr val="FFFFFF"/>
                </a:solidFill>
              </a:rPr>
              <a:t>throughout.</a:t>
            </a:r>
            <a:endParaRPr lang="en-US" sz="1050" dirty="0"/>
          </a:p>
        </p:txBody>
      </p:sp>
      <p:sp>
        <p:nvSpPr>
          <p:cNvPr id="21" name="Shape 19"/>
          <p:cNvSpPr/>
          <p:nvPr/>
        </p:nvSpPr>
        <p:spPr>
          <a:xfrm>
            <a:off x="5532120" y="1417320"/>
            <a:ext cx="1508760" cy="3291840"/>
          </a:xfrm>
          <a:prstGeom prst="rect">
            <a:avLst/>
          </a:prstGeom>
          <a:solidFill>
            <a:srgbClr val="FFFFFF">
              <a:alpha val="8000"/>
            </a:srgbClr>
          </a:solidFill>
          <a:ln w="12700">
            <a:solidFill>
              <a:srgbClr val="C9A84C"/>
            </a:solidFill>
            <a:prstDash val="solid"/>
          </a:ln>
        </p:spPr>
      </p:sp>
      <p:sp>
        <p:nvSpPr>
          <p:cNvPr id="22" name="Shape 20"/>
          <p:cNvSpPr/>
          <p:nvPr/>
        </p:nvSpPr>
        <p:spPr>
          <a:xfrm>
            <a:off x="5532120" y="1417320"/>
            <a:ext cx="1508760" cy="502920"/>
          </a:xfrm>
          <a:prstGeom prst="rect">
            <a:avLst/>
          </a:prstGeom>
          <a:solidFill>
            <a:srgbClr val="C9A84C"/>
          </a:solidFill>
          <a:ln w="12700">
            <a:solidFill>
              <a:srgbClr val="C9A84C"/>
            </a:solidFill>
            <a:prstDash val="solid"/>
          </a:ln>
        </p:spPr>
      </p:sp>
      <p:sp>
        <p:nvSpPr>
          <p:cNvPr id="23" name="Text 21"/>
          <p:cNvSpPr/>
          <p:nvPr/>
        </p:nvSpPr>
        <p:spPr>
          <a:xfrm>
            <a:off x="5532120" y="1417320"/>
            <a:ext cx="1508760" cy="502920"/>
          </a:xfrm>
          <a:prstGeom prst="rect">
            <a:avLst/>
          </a:prstGeom>
          <a:noFill/>
          <a:ln/>
        </p:spPr>
        <p:txBody>
          <a:bodyPr wrap="square" lIns="0" tIns="0" rIns="0" bIns="0" rtlCol="0" anchor="ctr"/>
          <a:lstStyle/>
          <a:p>
            <a:pPr marL="0" indent="0" algn="ctr">
              <a:buNone/>
            </a:pPr>
            <a:r>
              <a:rPr lang="en-US" sz="2200" b="1" dirty="0">
                <a:solidFill>
                  <a:srgbClr val="1B2A4A"/>
                </a:solidFill>
              </a:rPr>
              <a:t>④</a:t>
            </a:r>
            <a:endParaRPr lang="en-US" sz="2200" dirty="0"/>
          </a:p>
        </p:txBody>
      </p:sp>
      <p:sp>
        <p:nvSpPr>
          <p:cNvPr id="24" name="Text 22"/>
          <p:cNvSpPr/>
          <p:nvPr/>
        </p:nvSpPr>
        <p:spPr>
          <a:xfrm>
            <a:off x="5605272" y="1993392"/>
            <a:ext cx="1371600" cy="640080"/>
          </a:xfrm>
          <a:prstGeom prst="rect">
            <a:avLst/>
          </a:prstGeom>
          <a:noFill/>
          <a:ln/>
        </p:spPr>
        <p:txBody>
          <a:bodyPr wrap="square" rtlCol="0" anchor="ctr"/>
          <a:lstStyle/>
          <a:p>
            <a:pPr marL="0" indent="0" algn="ctr">
              <a:buNone/>
            </a:pPr>
            <a:r>
              <a:rPr lang="en-US" sz="1200" b="1" dirty="0">
                <a:solidFill>
                  <a:srgbClr val="C9A84C"/>
                </a:solidFill>
              </a:rPr>
              <a:t>No Numerals</a:t>
            </a:r>
            <a:endParaRPr lang="en-US" sz="1200" dirty="0"/>
          </a:p>
        </p:txBody>
      </p:sp>
      <p:sp>
        <p:nvSpPr>
          <p:cNvPr id="25" name="Text 23"/>
          <p:cNvSpPr/>
          <p:nvPr/>
        </p:nvSpPr>
        <p:spPr>
          <a:xfrm>
            <a:off x="5605272" y="2651760"/>
            <a:ext cx="1371600" cy="1737360"/>
          </a:xfrm>
          <a:prstGeom prst="rect">
            <a:avLst/>
          </a:prstGeom>
          <a:noFill/>
          <a:ln/>
        </p:spPr>
        <p:txBody>
          <a:bodyPr wrap="square" rtlCol="0" anchor="t"/>
          <a:lstStyle/>
          <a:p>
            <a:pPr marL="0" indent="0" algn="ctr">
              <a:buNone/>
            </a:pPr>
            <a:r>
              <a:rPr lang="en-US" sz="1050" dirty="0">
                <a:solidFill>
                  <a:srgbClr val="FFFFFF"/>
                </a:solidFill>
              </a:rPr>
              <a:t>Zero Arabic or Western</a:t>
            </a:r>
            <a:endParaRPr lang="en-US" sz="1050" dirty="0"/>
          </a:p>
          <a:p>
            <a:pPr marL="0" indent="0" algn="ctr">
              <a:buNone/>
            </a:pPr>
            <a:r>
              <a:rPr lang="en-US" sz="1050" dirty="0">
                <a:solidFill>
                  <a:srgbClr val="FFFFFF"/>
                </a:solidFill>
              </a:rPr>
              <a:t>numerals used as letter</a:t>
            </a:r>
            <a:endParaRPr lang="en-US" sz="1050" dirty="0"/>
          </a:p>
          <a:p>
            <a:pPr marL="0" indent="0" algn="ctr">
              <a:buNone/>
            </a:pPr>
            <a:r>
              <a:rPr lang="en-US" sz="1050" dirty="0">
                <a:solidFill>
                  <a:srgbClr val="FFFFFF"/>
                </a:solidFill>
              </a:rPr>
              <a:t>substitutes.</a:t>
            </a:r>
            <a:endParaRPr lang="en-US" sz="1050" dirty="0"/>
          </a:p>
        </p:txBody>
      </p:sp>
      <p:sp>
        <p:nvSpPr>
          <p:cNvPr id="26" name="Shape 24"/>
          <p:cNvSpPr/>
          <p:nvPr/>
        </p:nvSpPr>
        <p:spPr>
          <a:xfrm>
            <a:off x="7223760" y="1417320"/>
            <a:ext cx="1508760" cy="3291840"/>
          </a:xfrm>
          <a:prstGeom prst="rect">
            <a:avLst/>
          </a:prstGeom>
          <a:solidFill>
            <a:srgbClr val="FFFFFF">
              <a:alpha val="8000"/>
            </a:srgbClr>
          </a:solidFill>
          <a:ln w="12700">
            <a:solidFill>
              <a:srgbClr val="C9A84C"/>
            </a:solidFill>
            <a:prstDash val="solid"/>
          </a:ln>
        </p:spPr>
      </p:sp>
      <p:sp>
        <p:nvSpPr>
          <p:cNvPr id="27" name="Shape 25"/>
          <p:cNvSpPr/>
          <p:nvPr/>
        </p:nvSpPr>
        <p:spPr>
          <a:xfrm>
            <a:off x="7223760" y="1417320"/>
            <a:ext cx="1508760" cy="502920"/>
          </a:xfrm>
          <a:prstGeom prst="rect">
            <a:avLst/>
          </a:prstGeom>
          <a:solidFill>
            <a:srgbClr val="C9A84C"/>
          </a:solidFill>
          <a:ln w="12700">
            <a:solidFill>
              <a:srgbClr val="C9A84C"/>
            </a:solidFill>
            <a:prstDash val="solid"/>
          </a:ln>
        </p:spPr>
      </p:sp>
      <p:sp>
        <p:nvSpPr>
          <p:cNvPr id="28" name="Text 26"/>
          <p:cNvSpPr/>
          <p:nvPr/>
        </p:nvSpPr>
        <p:spPr>
          <a:xfrm>
            <a:off x="7223760" y="1417320"/>
            <a:ext cx="1508760" cy="502920"/>
          </a:xfrm>
          <a:prstGeom prst="rect">
            <a:avLst/>
          </a:prstGeom>
          <a:noFill/>
          <a:ln/>
        </p:spPr>
        <p:txBody>
          <a:bodyPr wrap="square" lIns="0" tIns="0" rIns="0" bIns="0" rtlCol="0" anchor="ctr"/>
          <a:lstStyle/>
          <a:p>
            <a:pPr marL="0" indent="0" algn="ctr">
              <a:buNone/>
            </a:pPr>
            <a:r>
              <a:rPr lang="en-US" sz="2200" b="1" dirty="0">
                <a:solidFill>
                  <a:srgbClr val="1B2A4A"/>
                </a:solidFill>
              </a:rPr>
              <a:t>⑤</a:t>
            </a:r>
            <a:endParaRPr lang="en-US" sz="2200" dirty="0"/>
          </a:p>
        </p:txBody>
      </p:sp>
      <p:sp>
        <p:nvSpPr>
          <p:cNvPr id="29" name="Text 27"/>
          <p:cNvSpPr/>
          <p:nvPr/>
        </p:nvSpPr>
        <p:spPr>
          <a:xfrm>
            <a:off x="7296912" y="1993392"/>
            <a:ext cx="1371600" cy="640080"/>
          </a:xfrm>
          <a:prstGeom prst="rect">
            <a:avLst/>
          </a:prstGeom>
          <a:noFill/>
          <a:ln/>
        </p:spPr>
        <p:txBody>
          <a:bodyPr wrap="square" rtlCol="0" anchor="ctr"/>
          <a:lstStyle/>
          <a:p>
            <a:pPr marL="0" indent="0" algn="ctr">
              <a:buNone/>
            </a:pPr>
            <a:r>
              <a:rPr lang="en-US" sz="1200" b="1" dirty="0">
                <a:solidFill>
                  <a:srgbClr val="C9A84C"/>
                </a:solidFill>
              </a:rPr>
              <a:t>Keyboard Access</a:t>
            </a:r>
            <a:endParaRPr lang="en-US" sz="1200" dirty="0"/>
          </a:p>
        </p:txBody>
      </p:sp>
      <p:sp>
        <p:nvSpPr>
          <p:cNvPr id="30" name="Text 28"/>
          <p:cNvSpPr/>
          <p:nvPr/>
        </p:nvSpPr>
        <p:spPr>
          <a:xfrm>
            <a:off x="7296912" y="2651760"/>
            <a:ext cx="1371600" cy="1737360"/>
          </a:xfrm>
          <a:prstGeom prst="rect">
            <a:avLst/>
          </a:prstGeom>
          <a:noFill/>
          <a:ln/>
        </p:spPr>
        <p:txBody>
          <a:bodyPr wrap="square" rtlCol="0" anchor="t"/>
          <a:lstStyle/>
          <a:p>
            <a:pPr marL="0" indent="0" algn="ctr">
              <a:buNone/>
            </a:pPr>
            <a:r>
              <a:rPr lang="en-US" sz="1050" dirty="0">
                <a:solidFill>
                  <a:srgbClr val="FFFFFF"/>
                </a:solidFill>
              </a:rPr>
              <a:t>All Tier 1 symbols type</a:t>
            </a:r>
            <a:endParaRPr lang="en-US" sz="1050" dirty="0"/>
          </a:p>
          <a:p>
            <a:pPr marL="0" indent="0" algn="ctr">
              <a:buNone/>
            </a:pPr>
            <a:r>
              <a:rPr lang="en-US" sz="1050" dirty="0">
                <a:solidFill>
                  <a:srgbClr val="FFFFFF"/>
                </a:solidFill>
              </a:rPr>
              <a:t>on any standard Latin</a:t>
            </a:r>
            <a:endParaRPr lang="en-US" sz="1050" dirty="0"/>
          </a:p>
          <a:p>
            <a:pPr marL="0" indent="0" algn="ctr">
              <a:buNone/>
            </a:pPr>
            <a:r>
              <a:rPr lang="en-US" sz="1050" dirty="0">
                <a:solidFill>
                  <a:srgbClr val="FFFFFF"/>
                </a:solidFill>
              </a:rPr>
              <a:t>keyboard.</a:t>
            </a:r>
            <a:endParaRPr lang="en-US" sz="1050" dirty="0"/>
          </a:p>
        </p:txBody>
      </p:sp>
      <p:sp>
        <p:nvSpPr>
          <p:cNvPr id="31" name="Shape 29"/>
          <p:cNvSpPr/>
          <p:nvPr/>
        </p:nvSpPr>
        <p:spPr>
          <a:xfrm>
            <a:off x="0" y="4937760"/>
            <a:ext cx="9144000" cy="205740"/>
          </a:xfrm>
          <a:prstGeom prst="rect">
            <a:avLst/>
          </a:prstGeom>
          <a:solidFill>
            <a:srgbClr val="1B2A4A"/>
          </a:solidFill>
          <a:ln w="12700">
            <a:solidFill>
              <a:srgbClr val="1B2A4A"/>
            </a:solidFill>
            <a:prstDash val="solid"/>
          </a:ln>
        </p:spPr>
      </p:sp>
      <p:sp>
        <p:nvSpPr>
          <p:cNvPr id="32" name="Text 30"/>
          <p:cNvSpPr/>
          <p:nvPr/>
        </p:nvSpPr>
        <p:spPr>
          <a:xfrm>
            <a:off x="0" y="4937760"/>
            <a:ext cx="9144000" cy="205740"/>
          </a:xfrm>
          <a:prstGeom prst="rect">
            <a:avLst/>
          </a:prstGeom>
          <a:noFill/>
          <a:ln/>
        </p:spPr>
        <p:txBody>
          <a:bodyPr wrap="square" lIns="0" tIns="0" rIns="0" bIns="0" rtlCol="0" anchor="ctr"/>
          <a:lstStyle/>
          <a:p>
            <a:pPr marL="0" indent="0" algn="ctr">
              <a:buNone/>
            </a:pPr>
            <a:r>
              <a:rPr lang="en-US" sz="800" dirty="0" err="1">
                <a:solidFill>
                  <a:srgbClr val="C9A84C"/>
                </a:solidFill>
              </a:rPr>
              <a:t>Maṣri</a:t>
            </a:r>
            <a:r>
              <a:rPr lang="en-US" sz="800" dirty="0">
                <a:solidFill>
                  <a:srgbClr val="C9A84C"/>
                </a:solidFill>
              </a:rPr>
              <a:t> Writing System  ·  مصري  ·  Diaa Hassouna  ·  Cairo 2026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365760" y="228600"/>
            <a:ext cx="1828800" cy="347472"/>
          </a:xfrm>
          <a:prstGeom prst="roundRect">
            <a:avLst/>
          </a:prstGeom>
          <a:solidFill>
            <a:srgbClr val="C9A84C"/>
          </a:solidFill>
          <a:ln w="12700">
            <a:solidFill>
              <a:srgbClr val="C9A84C"/>
            </a:solidFill>
            <a:prstDash val="solid"/>
          </a:ln>
        </p:spPr>
      </p:sp>
      <p:sp>
        <p:nvSpPr>
          <p:cNvPr id="3" name="Text 1"/>
          <p:cNvSpPr/>
          <p:nvPr/>
        </p:nvSpPr>
        <p:spPr>
          <a:xfrm>
            <a:off x="365760" y="228600"/>
            <a:ext cx="1828800" cy="347472"/>
          </a:xfrm>
          <a:prstGeom prst="rect">
            <a:avLst/>
          </a:prstGeom>
          <a:noFill/>
          <a:ln/>
        </p:spPr>
        <p:txBody>
          <a:bodyPr wrap="square" lIns="0" tIns="0" rIns="0" bIns="0" rtlCol="0" anchor="ctr"/>
          <a:lstStyle/>
          <a:p>
            <a:pPr marL="0" indent="0" algn="ctr">
              <a:buNone/>
            </a:pPr>
            <a:r>
              <a:rPr lang="en-US" sz="900" b="1" dirty="0">
                <a:solidFill>
                  <a:srgbClr val="1B2A4A"/>
                </a:solidFill>
              </a:rPr>
              <a:t>03 · TWO-TIER SYSTEM</a:t>
            </a:r>
            <a:endParaRPr lang="en-US" sz="900" dirty="0"/>
          </a:p>
        </p:txBody>
      </p:sp>
      <p:sp>
        <p:nvSpPr>
          <p:cNvPr id="4" name="Text 2"/>
          <p:cNvSpPr/>
          <p:nvPr/>
        </p:nvSpPr>
        <p:spPr>
          <a:xfrm>
            <a:off x="457200" y="658368"/>
            <a:ext cx="8229600" cy="594360"/>
          </a:xfrm>
          <a:prstGeom prst="rect">
            <a:avLst/>
          </a:prstGeom>
          <a:noFill/>
          <a:ln/>
        </p:spPr>
        <p:txBody>
          <a:bodyPr wrap="square" rtlCol="0" anchor="ctr"/>
          <a:lstStyle/>
          <a:p>
            <a:pPr marL="0" indent="0" algn="l">
              <a:buNone/>
            </a:pPr>
            <a:r>
              <a:rPr lang="en-US" sz="2800" b="1" dirty="0">
                <a:solidFill>
                  <a:srgbClr val="1B2A4A"/>
                </a:solidFill>
                <a:latin typeface="Georgia" pitchFamily="34" charset="0"/>
                <a:ea typeface="Georgia" pitchFamily="34" charset="-122"/>
                <a:cs typeface="Georgia" pitchFamily="34" charset="-120"/>
              </a:rPr>
              <a:t>Everyday ASCII vs. Academic / Cultural</a:t>
            </a:r>
            <a:endParaRPr lang="en-US" sz="2800" dirty="0"/>
          </a:p>
        </p:txBody>
      </p:sp>
      <p:sp>
        <p:nvSpPr>
          <p:cNvPr id="5" name="Shape 3"/>
          <p:cNvSpPr/>
          <p:nvPr/>
        </p:nvSpPr>
        <p:spPr>
          <a:xfrm>
            <a:off x="457200" y="1325880"/>
            <a:ext cx="457200" cy="50292"/>
          </a:xfrm>
          <a:prstGeom prst="rect">
            <a:avLst/>
          </a:prstGeom>
          <a:solidFill>
            <a:srgbClr val="C9A84C"/>
          </a:solidFill>
          <a:ln w="12700">
            <a:solidFill>
              <a:srgbClr val="C9A84C"/>
            </a:solidFill>
            <a:prstDash val="solid"/>
          </a:ln>
        </p:spPr>
      </p:sp>
      <p:sp>
        <p:nvSpPr>
          <p:cNvPr id="6" name="Shape 4"/>
          <p:cNvSpPr/>
          <p:nvPr/>
        </p:nvSpPr>
        <p:spPr>
          <a:xfrm>
            <a:off x="457200" y="1417320"/>
            <a:ext cx="3886200" cy="3291840"/>
          </a:xfrm>
          <a:prstGeom prst="rect">
            <a:avLst/>
          </a:prstGeom>
          <a:solidFill>
            <a:srgbClr val="D6E4F7"/>
          </a:solidFill>
          <a:ln w="12700">
            <a:solidFill>
              <a:srgbClr val="2B6CB0"/>
            </a:solidFill>
            <a:prstDash val="solid"/>
          </a:ln>
        </p:spPr>
      </p:sp>
      <p:sp>
        <p:nvSpPr>
          <p:cNvPr id="7" name="Shape 5"/>
          <p:cNvSpPr/>
          <p:nvPr/>
        </p:nvSpPr>
        <p:spPr>
          <a:xfrm>
            <a:off x="457200" y="1417320"/>
            <a:ext cx="3886200" cy="548640"/>
          </a:xfrm>
          <a:prstGeom prst="rect">
            <a:avLst/>
          </a:prstGeom>
          <a:solidFill>
            <a:srgbClr val="2B6CB0"/>
          </a:solidFill>
          <a:ln w="12700">
            <a:solidFill>
              <a:srgbClr val="2B6CB0"/>
            </a:solidFill>
            <a:prstDash val="solid"/>
          </a:ln>
        </p:spPr>
      </p:sp>
      <p:sp>
        <p:nvSpPr>
          <p:cNvPr id="8" name="Text 6"/>
          <p:cNvSpPr/>
          <p:nvPr/>
        </p:nvSpPr>
        <p:spPr>
          <a:xfrm>
            <a:off x="457200" y="1417320"/>
            <a:ext cx="3886200" cy="548640"/>
          </a:xfrm>
          <a:prstGeom prst="rect">
            <a:avLst/>
          </a:prstGeom>
          <a:noFill/>
          <a:ln/>
        </p:spPr>
        <p:txBody>
          <a:bodyPr wrap="square" lIns="0" tIns="0" rIns="0" bIns="0" rtlCol="0" anchor="ctr"/>
          <a:lstStyle/>
          <a:p>
            <a:pPr marL="0" indent="0" algn="ctr">
              <a:buNone/>
            </a:pPr>
            <a:r>
              <a:rPr lang="en-US" sz="1200" b="1" dirty="0">
                <a:solidFill>
                  <a:srgbClr val="FFFFFF"/>
                </a:solidFill>
              </a:rPr>
              <a:t>TIER 1 — EVERYDAY (ASCII)</a:t>
            </a:r>
            <a:endParaRPr lang="en-US" sz="1200" dirty="0"/>
          </a:p>
        </p:txBody>
      </p:sp>
      <p:sp>
        <p:nvSpPr>
          <p:cNvPr id="9" name="Text 7"/>
          <p:cNvSpPr/>
          <p:nvPr/>
        </p:nvSpPr>
        <p:spPr>
          <a:xfrm>
            <a:off x="594360" y="2057400"/>
            <a:ext cx="3611880" cy="2514600"/>
          </a:xfrm>
          <a:prstGeom prst="rect">
            <a:avLst/>
          </a:prstGeom>
          <a:noFill/>
          <a:ln/>
        </p:spPr>
        <p:txBody>
          <a:bodyPr wrap="square" rtlCol="0" anchor="t"/>
          <a:lstStyle/>
          <a:p>
            <a:pPr marL="0" indent="0">
              <a:buNone/>
            </a:pPr>
            <a:r>
              <a:rPr lang="en-US" sz="1200" b="1" dirty="0">
                <a:solidFill>
                  <a:srgbClr val="1B2A4A"/>
                </a:solidFill>
              </a:rPr>
              <a:t>Standard Latin only
</a:t>
            </a:r>
            <a:r>
              <a:rPr lang="en-US" sz="1100" dirty="0">
                <a:solidFill>
                  <a:srgbClr val="4A5568"/>
                </a:solidFill>
              </a:rPr>
              <a:t>Typeable on any keyboard
</a:t>
            </a:r>
            <a:r>
              <a:rPr lang="en-US" sz="1200" b="1" dirty="0">
                <a:solidFill>
                  <a:srgbClr val="1B2A4A"/>
                </a:solidFill>
              </a:rPr>
              <a:t>Digraphs for complex sounds
</a:t>
            </a:r>
            <a:r>
              <a:rPr lang="en-US" sz="1300" b="1" dirty="0">
                <a:solidFill>
                  <a:srgbClr val="2B6CB0"/>
                </a:solidFill>
              </a:rPr>
              <a:t>sh · kh · gh
</a:t>
            </a:r>
            <a:r>
              <a:rPr lang="en-US" sz="1200" b="1" dirty="0">
                <a:solidFill>
                  <a:srgbClr val="1B2A4A"/>
                </a:solidFill>
              </a:rPr>
              <a:t>Short vowels optional
</a:t>
            </a:r>
            <a:r>
              <a:rPr lang="en-US" sz="1100" dirty="0">
                <a:solidFill>
                  <a:srgbClr val="4A5568"/>
                </a:solidFill>
              </a:rPr>
              <a:t>Required only when ambiguous
</a:t>
            </a:r>
            <a:r>
              <a:rPr lang="en-US" sz="1100" b="1" dirty="0">
                <a:solidFill>
                  <a:srgbClr val="1B2A4A"/>
                </a:solidFill>
              </a:rPr>
              <a:t>Example:
</a:t>
            </a:r>
            <a:r>
              <a:rPr lang="en-US" sz="1100" i="1" dirty="0">
                <a:solidFill>
                  <a:srgbClr val="4A5568"/>
                </a:solidFill>
              </a:rPr>
              <a:t>Ana baheb Masr</a:t>
            </a:r>
            <a:endParaRPr lang="en-US" sz="1200" dirty="0"/>
          </a:p>
          <a:p>
            <a:pPr marL="0" indent="0">
              <a:buNone/>
            </a:pPr>
            <a:r>
              <a:rPr lang="en-US" sz="1100" i="1" dirty="0">
                <a:solidFill>
                  <a:srgbClr val="4A5568"/>
                </a:solidFill>
              </a:rPr>
              <a:t>El ahwa el masreya ahsan ahwa fi el donya</a:t>
            </a:r>
            <a:endParaRPr lang="en-US" sz="1200" dirty="0"/>
          </a:p>
        </p:txBody>
      </p:sp>
      <p:sp>
        <p:nvSpPr>
          <p:cNvPr id="10" name="Shape 8"/>
          <p:cNvSpPr/>
          <p:nvPr/>
        </p:nvSpPr>
        <p:spPr>
          <a:xfrm>
            <a:off x="4800600" y="1417320"/>
            <a:ext cx="3886200" cy="3291840"/>
          </a:xfrm>
          <a:prstGeom prst="rect">
            <a:avLst/>
          </a:prstGeom>
          <a:solidFill>
            <a:srgbClr val="FEF9F0"/>
          </a:solidFill>
          <a:ln w="12700">
            <a:solidFill>
              <a:srgbClr val="C9A84C"/>
            </a:solidFill>
            <a:prstDash val="solid"/>
          </a:ln>
        </p:spPr>
      </p:sp>
      <p:sp>
        <p:nvSpPr>
          <p:cNvPr id="11" name="Shape 9"/>
          <p:cNvSpPr/>
          <p:nvPr/>
        </p:nvSpPr>
        <p:spPr>
          <a:xfrm>
            <a:off x="4800600" y="1417320"/>
            <a:ext cx="3886200" cy="548640"/>
          </a:xfrm>
          <a:prstGeom prst="rect">
            <a:avLst/>
          </a:prstGeom>
          <a:solidFill>
            <a:srgbClr val="1B2A4A"/>
          </a:solidFill>
          <a:ln w="12700">
            <a:solidFill>
              <a:srgbClr val="1B2A4A"/>
            </a:solidFill>
            <a:prstDash val="solid"/>
          </a:ln>
        </p:spPr>
      </p:sp>
      <p:sp>
        <p:nvSpPr>
          <p:cNvPr id="12" name="Text 10"/>
          <p:cNvSpPr/>
          <p:nvPr/>
        </p:nvSpPr>
        <p:spPr>
          <a:xfrm>
            <a:off x="4800600" y="1417320"/>
            <a:ext cx="3886200" cy="548640"/>
          </a:xfrm>
          <a:prstGeom prst="rect">
            <a:avLst/>
          </a:prstGeom>
          <a:noFill/>
          <a:ln/>
        </p:spPr>
        <p:txBody>
          <a:bodyPr wrap="square" lIns="0" tIns="0" rIns="0" bIns="0" rtlCol="0" anchor="ctr"/>
          <a:lstStyle/>
          <a:p>
            <a:pPr marL="0" indent="0" algn="ctr">
              <a:buNone/>
            </a:pPr>
            <a:r>
              <a:rPr lang="en-US" sz="1200" b="1" dirty="0">
                <a:solidFill>
                  <a:srgbClr val="C9A84C"/>
                </a:solidFill>
              </a:rPr>
              <a:t>TIER 2 — ACADEMIC / CULTURAL</a:t>
            </a:r>
            <a:endParaRPr lang="en-US" sz="1200" dirty="0"/>
          </a:p>
        </p:txBody>
      </p:sp>
      <p:sp>
        <p:nvSpPr>
          <p:cNvPr id="13" name="Text 11"/>
          <p:cNvSpPr/>
          <p:nvPr/>
        </p:nvSpPr>
        <p:spPr>
          <a:xfrm>
            <a:off x="4937760" y="2057400"/>
            <a:ext cx="3611880" cy="2514600"/>
          </a:xfrm>
          <a:prstGeom prst="rect">
            <a:avLst/>
          </a:prstGeom>
          <a:noFill/>
          <a:ln/>
        </p:spPr>
        <p:txBody>
          <a:bodyPr wrap="square" rtlCol="0" anchor="t"/>
          <a:lstStyle/>
          <a:p>
            <a:pPr marL="0" indent="0">
              <a:buNone/>
            </a:pPr>
            <a:r>
              <a:rPr lang="en-US" sz="1200" b="1" dirty="0">
                <a:solidFill>
                  <a:srgbClr val="1B2A4A"/>
                </a:solidFill>
              </a:rPr>
              <a:t>Greek &amp; Coptic letters
</a:t>
            </a:r>
            <a:r>
              <a:rPr lang="en-US" sz="1100" dirty="0">
                <a:solidFill>
                  <a:srgbClr val="4A5568"/>
                </a:solidFill>
              </a:rPr>
              <a:t>For sounds Latin can't capture
</a:t>
            </a:r>
            <a:r>
              <a:rPr lang="en-US" sz="1200" b="1" dirty="0">
                <a:solidFill>
                  <a:srgbClr val="1B2A4A"/>
                </a:solidFill>
              </a:rPr>
              <a:t>Special characters:
</a:t>
            </a:r>
            <a:r>
              <a:rPr lang="en-US" sz="1200" b="1" dirty="0">
                <a:solidFill>
                  <a:srgbClr val="9B2335"/>
                </a:solidFill>
              </a:rPr>
              <a:t>ϣ (Coptic Shai) · θ (Theta) · Ϩ (Hori) · Ⲵ (Ain)
</a:t>
            </a:r>
            <a:r>
              <a:rPr lang="en-US" sz="1200" b="1" dirty="0">
                <a:solidFill>
                  <a:srgbClr val="1B2A4A"/>
                </a:solidFill>
              </a:rPr>
              <a:t>Diacritics for emphatics
</a:t>
            </a:r>
            <a:r>
              <a:rPr lang="en-US" sz="1100" dirty="0">
                <a:solidFill>
                  <a:srgbClr val="4A5568"/>
                </a:solidFill>
              </a:rPr>
              <a:t>ṣ · ḍ · ṭ · ẓ
</a:t>
            </a:r>
            <a:r>
              <a:rPr lang="en-US" sz="1100" b="1" dirty="0">
                <a:solidFill>
                  <a:srgbClr val="1B2A4A"/>
                </a:solidFill>
              </a:rPr>
              <a:t>Example:
</a:t>
            </a:r>
            <a:r>
              <a:rPr lang="en-US" sz="1100" i="1" dirty="0">
                <a:solidFill>
                  <a:srgbClr val="4A5568"/>
                </a:solidFill>
              </a:rPr>
              <a:t>Ana baϨeb Maṣr</a:t>
            </a:r>
            <a:endParaRPr lang="en-US" sz="1200" dirty="0"/>
          </a:p>
          <a:p>
            <a:pPr marL="0" indent="0">
              <a:buNone/>
            </a:pPr>
            <a:r>
              <a:rPr lang="en-US" sz="1100" i="1" dirty="0">
                <a:solidFill>
                  <a:srgbClr val="4A5568"/>
                </a:solidFill>
              </a:rPr>
              <a:t>El ahwa el maṣreyya aϨsan ahwa fi el donya</a:t>
            </a:r>
            <a:endParaRPr lang="en-US" sz="1200" dirty="0"/>
          </a:p>
        </p:txBody>
      </p:sp>
      <p:sp>
        <p:nvSpPr>
          <p:cNvPr id="14" name="Shape 12"/>
          <p:cNvSpPr/>
          <p:nvPr/>
        </p:nvSpPr>
        <p:spPr>
          <a:xfrm>
            <a:off x="4343400" y="2468880"/>
            <a:ext cx="457200" cy="1097280"/>
          </a:xfrm>
          <a:prstGeom prst="rect">
            <a:avLst/>
          </a:prstGeom>
          <a:solidFill>
            <a:srgbClr val="C9A84C"/>
          </a:solidFill>
          <a:ln w="12700">
            <a:solidFill>
              <a:srgbClr val="C9A84C"/>
            </a:solidFill>
            <a:prstDash val="solid"/>
          </a:ln>
        </p:spPr>
      </p:sp>
      <p:sp>
        <p:nvSpPr>
          <p:cNvPr id="15" name="Text 13"/>
          <p:cNvSpPr/>
          <p:nvPr/>
        </p:nvSpPr>
        <p:spPr>
          <a:xfrm>
            <a:off x="4315968" y="2468880"/>
            <a:ext cx="512064" cy="1097280"/>
          </a:xfrm>
          <a:prstGeom prst="rect">
            <a:avLst/>
          </a:prstGeom>
          <a:noFill/>
          <a:ln/>
        </p:spPr>
        <p:txBody>
          <a:bodyPr wrap="square" lIns="0" tIns="0" rIns="0" bIns="0" rtlCol="0" anchor="ctr"/>
          <a:lstStyle/>
          <a:p>
            <a:pPr marL="0" indent="0" algn="ctr">
              <a:buNone/>
            </a:pPr>
            <a:r>
              <a:rPr lang="en-US" sz="2400" b="1" dirty="0">
                <a:solidFill>
                  <a:srgbClr val="FFFFFF"/>
                </a:solidFill>
              </a:rPr>
              <a:t>→</a:t>
            </a:r>
            <a:endParaRPr lang="en-US" sz="2400" dirty="0"/>
          </a:p>
        </p:txBody>
      </p:sp>
      <p:sp>
        <p:nvSpPr>
          <p:cNvPr id="16" name="Shape 14"/>
          <p:cNvSpPr/>
          <p:nvPr/>
        </p:nvSpPr>
        <p:spPr>
          <a:xfrm>
            <a:off x="0" y="4937760"/>
            <a:ext cx="9144000" cy="205740"/>
          </a:xfrm>
          <a:prstGeom prst="rect">
            <a:avLst/>
          </a:prstGeom>
          <a:solidFill>
            <a:srgbClr val="1B2A4A"/>
          </a:solidFill>
          <a:ln w="12700">
            <a:solidFill>
              <a:srgbClr val="1B2A4A"/>
            </a:solidFill>
            <a:prstDash val="solid"/>
          </a:ln>
        </p:spPr>
      </p:sp>
      <p:sp>
        <p:nvSpPr>
          <p:cNvPr id="17" name="Text 15"/>
          <p:cNvSpPr/>
          <p:nvPr/>
        </p:nvSpPr>
        <p:spPr>
          <a:xfrm>
            <a:off x="0" y="4937760"/>
            <a:ext cx="9144000" cy="205740"/>
          </a:xfrm>
          <a:prstGeom prst="rect">
            <a:avLst/>
          </a:prstGeom>
          <a:noFill/>
          <a:ln/>
        </p:spPr>
        <p:txBody>
          <a:bodyPr wrap="square" lIns="0" tIns="0" rIns="0" bIns="0" rtlCol="0" anchor="ctr"/>
          <a:lstStyle/>
          <a:p>
            <a:pPr marL="0" indent="0" algn="ctr">
              <a:buNone/>
            </a:pPr>
            <a:r>
              <a:rPr lang="en-US" sz="800" dirty="0" err="1">
                <a:solidFill>
                  <a:srgbClr val="C9A84C"/>
                </a:solidFill>
              </a:rPr>
              <a:t>Maṣri</a:t>
            </a:r>
            <a:r>
              <a:rPr lang="en-US" sz="800" dirty="0">
                <a:solidFill>
                  <a:srgbClr val="C9A84C"/>
                </a:solidFill>
              </a:rPr>
              <a:t> Writing System  ·  مصري  ·  Diaa Hassouna  ·  Cairo 2026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28600"/>
            <a:ext cx="1828800" cy="347472"/>
          </a:xfrm>
          <a:prstGeom prst="roundRect">
            <a:avLst/>
          </a:prstGeom>
          <a:solidFill>
            <a:srgbClr val="C9A84C"/>
          </a:solidFill>
          <a:ln w="12700">
            <a:solidFill>
              <a:srgbClr val="C9A84C"/>
            </a:solidFill>
            <a:prstDash val="solid"/>
          </a:ln>
        </p:spPr>
      </p:sp>
      <p:sp>
        <p:nvSpPr>
          <p:cNvPr id="3" name="Text 1"/>
          <p:cNvSpPr/>
          <p:nvPr/>
        </p:nvSpPr>
        <p:spPr>
          <a:xfrm>
            <a:off x="365760" y="228600"/>
            <a:ext cx="1828800" cy="347472"/>
          </a:xfrm>
          <a:prstGeom prst="rect">
            <a:avLst/>
          </a:prstGeom>
          <a:noFill/>
          <a:ln/>
        </p:spPr>
        <p:txBody>
          <a:bodyPr wrap="square" lIns="0" tIns="0" rIns="0" bIns="0" rtlCol="0" anchor="ctr"/>
          <a:lstStyle/>
          <a:p>
            <a:pPr marL="0" indent="0" algn="ctr">
              <a:buNone/>
            </a:pPr>
            <a:r>
              <a:rPr lang="en-US" sz="900" b="1" dirty="0">
                <a:solidFill>
                  <a:srgbClr val="1B2A4A"/>
                </a:solidFill>
              </a:rPr>
              <a:t>04 · FULL ALPHABET</a:t>
            </a:r>
            <a:endParaRPr lang="en-US" sz="900" dirty="0"/>
          </a:p>
        </p:txBody>
      </p:sp>
      <p:sp>
        <p:nvSpPr>
          <p:cNvPr id="4" name="Text 2"/>
          <p:cNvSpPr/>
          <p:nvPr/>
        </p:nvSpPr>
        <p:spPr>
          <a:xfrm>
            <a:off x="457200" y="658368"/>
            <a:ext cx="8229600" cy="594360"/>
          </a:xfrm>
          <a:prstGeom prst="rect">
            <a:avLst/>
          </a:prstGeom>
          <a:noFill/>
          <a:ln/>
        </p:spPr>
        <p:txBody>
          <a:bodyPr wrap="square" rtlCol="0" anchor="ctr"/>
          <a:lstStyle/>
          <a:p>
            <a:pPr marL="0" indent="0" algn="l">
              <a:buNone/>
            </a:pPr>
            <a:r>
              <a:rPr lang="en-US" sz="2800" b="1" dirty="0" err="1">
                <a:solidFill>
                  <a:srgbClr val="1B2A4A"/>
                </a:solidFill>
                <a:latin typeface="Georgia" pitchFamily="34" charset="0"/>
                <a:ea typeface="Georgia" pitchFamily="34" charset="-122"/>
                <a:cs typeface="Georgia" pitchFamily="34" charset="-120"/>
              </a:rPr>
              <a:t>Maṣri</a:t>
            </a:r>
            <a:r>
              <a:rPr lang="en-US" sz="2800" b="1" dirty="0">
                <a:solidFill>
                  <a:srgbClr val="1B2A4A"/>
                </a:solidFill>
                <a:latin typeface="Georgia" pitchFamily="34" charset="0"/>
                <a:ea typeface="Georgia" pitchFamily="34" charset="-122"/>
                <a:cs typeface="Georgia" pitchFamily="34" charset="-120"/>
              </a:rPr>
              <a:t> Alphabet — Zero Numerals</a:t>
            </a:r>
            <a:endParaRPr lang="en-US" sz="2800" dirty="0"/>
          </a:p>
        </p:txBody>
      </p:sp>
      <p:sp>
        <p:nvSpPr>
          <p:cNvPr id="5" name="Shape 3"/>
          <p:cNvSpPr/>
          <p:nvPr/>
        </p:nvSpPr>
        <p:spPr>
          <a:xfrm>
            <a:off x="457200" y="1325880"/>
            <a:ext cx="457200" cy="50292"/>
          </a:xfrm>
          <a:prstGeom prst="rect">
            <a:avLst/>
          </a:prstGeom>
          <a:solidFill>
            <a:srgbClr val="C9A84C"/>
          </a:solidFill>
          <a:ln w="12700">
            <a:solidFill>
              <a:srgbClr val="C9A84C"/>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4272820380"/>
              </p:ext>
            </p:extLst>
          </p:nvPr>
        </p:nvGraphicFramePr>
        <p:xfrm>
          <a:off x="274320" y="1463040"/>
          <a:ext cx="6126480" cy="3322320"/>
        </p:xfrm>
        <a:graphic>
          <a:graphicData uri="http://schemas.openxmlformats.org/drawingml/2006/table">
            <a:tbl>
              <a:tblPr/>
              <a:tblGrid>
                <a:gridCol w="91440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123444">
                <a:tc>
                  <a:txBody>
                    <a:bodyPr/>
                    <a:lstStyle/>
                    <a:p>
                      <a:pPr marL="0" indent="0" algn="ctr">
                        <a:buNone/>
                      </a:pPr>
                      <a:r>
                        <a:rPr lang="en-US" sz="900" b="1" dirty="0">
                          <a:solidFill>
                            <a:srgbClr val="FFFFFF"/>
                          </a:solidFill>
                        </a:rPr>
                        <a:t>Letter</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Arabic</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Everyday</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Academic</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Sound</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l">
                        <a:buNone/>
                      </a:pPr>
                      <a:r>
                        <a:rPr lang="en-US" sz="900" b="1" dirty="0">
                          <a:solidFill>
                            <a:srgbClr val="FFFFFF"/>
                          </a:solidFill>
                        </a:rPr>
                        <a:t>Example</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123444">
                <a:tc>
                  <a:txBody>
                    <a:bodyPr/>
                    <a:lstStyle/>
                    <a:p>
                      <a:pPr marL="0" indent="0" algn="ctr">
                        <a:buNone/>
                      </a:pPr>
                      <a:r>
                        <a:rPr lang="en-US" sz="850" dirty="0">
                          <a:solidFill>
                            <a:srgbClr val="4A5568"/>
                          </a:solidFill>
                        </a:rPr>
                        <a:t>A / a</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ا</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a</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a</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/ʔ/, /aː/</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l">
                        <a:buNone/>
                      </a:pPr>
                      <a:r>
                        <a:rPr lang="en-US" sz="850" dirty="0">
                          <a:solidFill>
                            <a:srgbClr val="4A5568"/>
                          </a:solidFill>
                        </a:rPr>
                        <a:t>ana أنا</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extLst>
                  <a:ext uri="{0D108BD9-81ED-4DB2-BD59-A6C34878D82A}">
                    <a16:rowId xmlns:a16="http://schemas.microsoft.com/office/drawing/2014/main" val="10001"/>
                  </a:ext>
                </a:extLst>
              </a:tr>
              <a:tr h="123444">
                <a:tc>
                  <a:txBody>
                    <a:bodyPr/>
                    <a:lstStyle/>
                    <a:p>
                      <a:pPr marL="0" indent="0" algn="ctr">
                        <a:buNone/>
                      </a:pPr>
                      <a:r>
                        <a:rPr lang="en-US" sz="850" dirty="0">
                          <a:solidFill>
                            <a:srgbClr val="1B2A4A"/>
                          </a:solidFill>
                        </a:rPr>
                        <a:t>B / b</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ب</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b</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b</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/b/</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850" dirty="0" err="1">
                          <a:solidFill>
                            <a:srgbClr val="1B2A4A"/>
                          </a:solidFill>
                        </a:rPr>
                        <a:t>baṭṭa</a:t>
                      </a:r>
                      <a:r>
                        <a:rPr lang="en-US" sz="850" dirty="0">
                          <a:solidFill>
                            <a:srgbClr val="1B2A4A"/>
                          </a:solidFill>
                        </a:rPr>
                        <a:t> بطة</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23444">
                <a:tc>
                  <a:txBody>
                    <a:bodyPr/>
                    <a:lstStyle/>
                    <a:p>
                      <a:pPr marL="0" indent="0" algn="ctr">
                        <a:buNone/>
                      </a:pPr>
                      <a:r>
                        <a:rPr lang="en-US" sz="850" dirty="0">
                          <a:solidFill>
                            <a:srgbClr val="4A5568"/>
                          </a:solidFill>
                        </a:rPr>
                        <a:t>P / p</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3CD"/>
                    </a:solidFill>
                  </a:tcPr>
                </a:tc>
                <a:tc>
                  <a:txBody>
                    <a:bodyPr/>
                    <a:lstStyle/>
                    <a:p>
                      <a:pPr marL="0" indent="0" algn="ctr">
                        <a:buNone/>
                      </a:pPr>
                      <a:r>
                        <a:rPr lang="ar-EG" sz="850" dirty="0">
                          <a:solidFill>
                            <a:srgbClr val="4A5568"/>
                          </a:solidFill>
                        </a:rPr>
                        <a:t>پ</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3CD"/>
                    </a:solidFill>
                  </a:tcPr>
                </a:tc>
                <a:tc>
                  <a:txBody>
                    <a:bodyPr/>
                    <a:lstStyle/>
                    <a:p>
                      <a:pPr marL="0" indent="0" algn="ctr">
                        <a:buNone/>
                      </a:pPr>
                      <a:r>
                        <a:rPr lang="en-US" sz="850" dirty="0">
                          <a:solidFill>
                            <a:srgbClr val="4A5568"/>
                          </a:solidFill>
                        </a:rPr>
                        <a:t>p</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3CD"/>
                    </a:solidFill>
                  </a:tcPr>
                </a:tc>
                <a:tc>
                  <a:txBody>
                    <a:bodyPr/>
                    <a:lstStyle/>
                    <a:p>
                      <a:pPr marL="0" indent="0" algn="ctr">
                        <a:buNone/>
                      </a:pPr>
                      <a:r>
                        <a:rPr lang="en-US" sz="850" dirty="0">
                          <a:solidFill>
                            <a:srgbClr val="4A5568"/>
                          </a:solidFill>
                        </a:rPr>
                        <a:t>p</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3CD"/>
                    </a:solidFill>
                  </a:tcPr>
                </a:tc>
                <a:tc>
                  <a:txBody>
                    <a:bodyPr/>
                    <a:lstStyle/>
                    <a:p>
                      <a:pPr marL="0" indent="0" algn="ctr">
                        <a:buNone/>
                      </a:pPr>
                      <a:r>
                        <a:rPr lang="en-US" sz="850" dirty="0">
                          <a:solidFill>
                            <a:srgbClr val="4A5568"/>
                          </a:solidFill>
                        </a:rPr>
                        <a:t>/p/</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3CD"/>
                    </a:solidFill>
                  </a:tcPr>
                </a:tc>
                <a:tc>
                  <a:txBody>
                    <a:bodyPr/>
                    <a:lstStyle/>
                    <a:p>
                      <a:pPr marL="0" indent="0" algn="l">
                        <a:buNone/>
                      </a:pPr>
                      <a:r>
                        <a:rPr lang="en-US" sz="850" dirty="0">
                          <a:solidFill>
                            <a:srgbClr val="4A5568"/>
                          </a:solidFill>
                        </a:rPr>
                        <a:t>printer </a:t>
                      </a:r>
                      <a:r>
                        <a:rPr lang="ar-EG" sz="850" dirty="0">
                          <a:solidFill>
                            <a:srgbClr val="4A5568"/>
                          </a:solidFill>
                        </a:rPr>
                        <a:t>پرنتر</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3CD"/>
                    </a:solidFill>
                  </a:tcPr>
                </a:tc>
                <a:extLst>
                  <a:ext uri="{0D108BD9-81ED-4DB2-BD59-A6C34878D82A}">
                    <a16:rowId xmlns:a16="http://schemas.microsoft.com/office/drawing/2014/main" val="10003"/>
                  </a:ext>
                </a:extLst>
              </a:tr>
              <a:tr h="123444">
                <a:tc>
                  <a:txBody>
                    <a:bodyPr/>
                    <a:lstStyle/>
                    <a:p>
                      <a:pPr marL="0" indent="0" algn="ctr">
                        <a:buNone/>
                      </a:pPr>
                      <a:r>
                        <a:rPr lang="en-US" sz="850" dirty="0">
                          <a:solidFill>
                            <a:srgbClr val="1B2A4A"/>
                          </a:solidFill>
                        </a:rPr>
                        <a:t>T / t</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ت</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t</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t</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/t/</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850" dirty="0">
                          <a:solidFill>
                            <a:srgbClr val="1B2A4A"/>
                          </a:solidFill>
                        </a:rPr>
                        <a:t>tamam تمام</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23444">
                <a:tc>
                  <a:txBody>
                    <a:bodyPr/>
                    <a:lstStyle/>
                    <a:p>
                      <a:pPr marL="0" indent="0" algn="ctr">
                        <a:buNone/>
                      </a:pPr>
                      <a:r>
                        <a:rPr lang="en-US" sz="850" dirty="0">
                          <a:solidFill>
                            <a:srgbClr val="4A5568"/>
                          </a:solidFill>
                        </a:rPr>
                        <a:t>Θ / θ</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ث</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s/t</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θ</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/θ/</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l">
                        <a:buNone/>
                      </a:pPr>
                      <a:r>
                        <a:rPr lang="en-US" sz="850" dirty="0">
                          <a:solidFill>
                            <a:srgbClr val="4A5568"/>
                          </a:solidFill>
                        </a:rPr>
                        <a:t>θania ثانية</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extLst>
                  <a:ext uri="{0D108BD9-81ED-4DB2-BD59-A6C34878D82A}">
                    <a16:rowId xmlns:a16="http://schemas.microsoft.com/office/drawing/2014/main" val="10005"/>
                  </a:ext>
                </a:extLst>
              </a:tr>
              <a:tr h="123444">
                <a:tc>
                  <a:txBody>
                    <a:bodyPr/>
                    <a:lstStyle/>
                    <a:p>
                      <a:pPr marL="0" indent="0" algn="ctr">
                        <a:buNone/>
                      </a:pPr>
                      <a:r>
                        <a:rPr lang="en-US" sz="850" dirty="0">
                          <a:solidFill>
                            <a:srgbClr val="1B2A4A"/>
                          </a:solidFill>
                        </a:rPr>
                        <a:t>G / g</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ج</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g</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g</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/g/</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dirty="0" err="1">
                          <a:solidFill>
                            <a:srgbClr val="1B2A4A"/>
                          </a:solidFill>
                        </a:rPr>
                        <a:t>gam</a:t>
                      </a:r>
                      <a:r>
                        <a:rPr lang="en-US" sz="850" dirty="0" err="1">
                          <a:solidFill>
                            <a:srgbClr val="4A5568"/>
                          </a:solidFill>
                        </a:rPr>
                        <a:t>Ⲵ</a:t>
                      </a:r>
                      <a:r>
                        <a:rPr lang="en-US" sz="850" dirty="0" err="1">
                          <a:solidFill>
                            <a:srgbClr val="1B2A4A"/>
                          </a:solidFill>
                        </a:rPr>
                        <a:t>a</a:t>
                      </a:r>
                      <a:r>
                        <a:rPr lang="en-US" sz="850" dirty="0">
                          <a:solidFill>
                            <a:srgbClr val="1B2A4A"/>
                          </a:solidFill>
                        </a:rPr>
                        <a:t> جامعة</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23444">
                <a:tc>
                  <a:txBody>
                    <a:bodyPr/>
                    <a:lstStyle/>
                    <a:p>
                      <a:pPr marL="0" indent="0" algn="ctr">
                        <a:buNone/>
                      </a:pPr>
                      <a:r>
                        <a:rPr lang="en-US" sz="850" dirty="0">
                          <a:solidFill>
                            <a:srgbClr val="4A5568"/>
                          </a:solidFill>
                        </a:rPr>
                        <a:t>Ϩ / ϩ</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ح</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h</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Ϩ</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/ħ/</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l">
                        <a:buNone/>
                      </a:pPr>
                      <a:r>
                        <a:rPr lang="en-US" sz="850" dirty="0">
                          <a:solidFill>
                            <a:srgbClr val="4A5568"/>
                          </a:solidFill>
                        </a:rPr>
                        <a:t>Ϩamza حمزة</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extLst>
                  <a:ext uri="{0D108BD9-81ED-4DB2-BD59-A6C34878D82A}">
                    <a16:rowId xmlns:a16="http://schemas.microsoft.com/office/drawing/2014/main" val="10007"/>
                  </a:ext>
                </a:extLst>
              </a:tr>
              <a:tr h="123444">
                <a:tc>
                  <a:txBody>
                    <a:bodyPr/>
                    <a:lstStyle/>
                    <a:p>
                      <a:pPr marL="0" indent="0" algn="ctr">
                        <a:buNone/>
                      </a:pPr>
                      <a:r>
                        <a:rPr lang="en-US" sz="850" dirty="0">
                          <a:solidFill>
                            <a:srgbClr val="1B2A4A"/>
                          </a:solidFill>
                        </a:rPr>
                        <a:t>X / x</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خ</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kh</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x</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/x/</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850" dirty="0">
                          <a:solidFill>
                            <a:srgbClr val="1B2A4A"/>
                          </a:solidFill>
                        </a:rPr>
                        <a:t>xafeef خفيف</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123444">
                <a:tc>
                  <a:txBody>
                    <a:bodyPr/>
                    <a:lstStyle/>
                    <a:p>
                      <a:pPr marL="0" indent="0" algn="ctr">
                        <a:buNone/>
                      </a:pPr>
                      <a:r>
                        <a:rPr lang="en-US" sz="850" dirty="0">
                          <a:solidFill>
                            <a:srgbClr val="4A5568"/>
                          </a:solidFill>
                        </a:rPr>
                        <a:t>D / d</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د</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d</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d</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/d/</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l">
                        <a:buNone/>
                      </a:pPr>
                      <a:r>
                        <a:rPr lang="en-US" sz="850" dirty="0">
                          <a:solidFill>
                            <a:srgbClr val="4A5568"/>
                          </a:solidFill>
                        </a:rPr>
                        <a:t>dars درس</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extLst>
                  <a:ext uri="{0D108BD9-81ED-4DB2-BD59-A6C34878D82A}">
                    <a16:rowId xmlns:a16="http://schemas.microsoft.com/office/drawing/2014/main" val="10009"/>
                  </a:ext>
                </a:extLst>
              </a:tr>
              <a:tr h="123444">
                <a:tc>
                  <a:txBody>
                    <a:bodyPr/>
                    <a:lstStyle/>
                    <a:p>
                      <a:pPr marL="0" indent="0" algn="ctr">
                        <a:buNone/>
                      </a:pPr>
                      <a:r>
                        <a:rPr lang="en-US" sz="850" dirty="0">
                          <a:solidFill>
                            <a:srgbClr val="1B2A4A"/>
                          </a:solidFill>
                        </a:rPr>
                        <a:t>Ð / ð</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ar-EG" sz="850" dirty="0">
                          <a:solidFill>
                            <a:srgbClr val="1B2A4A"/>
                          </a:solidFill>
                        </a:rPr>
                        <a:t>ذ</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z</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ð</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/ð/</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850" dirty="0" err="1">
                          <a:solidFill>
                            <a:srgbClr val="1B2A4A"/>
                          </a:solidFill>
                        </a:rPr>
                        <a:t>mozakra</a:t>
                      </a:r>
                      <a:r>
                        <a:rPr lang="en-US" sz="850" dirty="0">
                          <a:solidFill>
                            <a:srgbClr val="1B2A4A"/>
                          </a:solidFill>
                        </a:rPr>
                        <a:t> </a:t>
                      </a:r>
                      <a:r>
                        <a:rPr lang="ar-EG" sz="850" dirty="0">
                          <a:solidFill>
                            <a:srgbClr val="1B2A4A"/>
                          </a:solidFill>
                        </a:rPr>
                        <a:t>مذاكرة</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123444">
                <a:tc>
                  <a:txBody>
                    <a:bodyPr/>
                    <a:lstStyle/>
                    <a:p>
                      <a:pPr marL="0" indent="0" algn="ctr">
                        <a:buNone/>
                      </a:pPr>
                      <a:r>
                        <a:rPr lang="en-US" sz="850" dirty="0">
                          <a:solidFill>
                            <a:srgbClr val="1B2A4A"/>
                          </a:solidFill>
                        </a:rPr>
                        <a:t>R / r</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1B2A4A"/>
                          </a:solidFill>
                        </a:rPr>
                        <a:t>ر</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1B2A4A"/>
                          </a:solidFill>
                        </a:rPr>
                        <a:t>r</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1B2A4A"/>
                          </a:solidFill>
                        </a:rPr>
                        <a:t>r</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1B2A4A"/>
                          </a:solidFill>
                        </a:rPr>
                        <a:t>/r/</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l">
                        <a:buNone/>
                      </a:pPr>
                      <a:r>
                        <a:rPr lang="en-US" sz="850" dirty="0">
                          <a:solidFill>
                            <a:srgbClr val="1B2A4A"/>
                          </a:solidFill>
                        </a:rPr>
                        <a:t>ramz رمز</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extLst>
                  <a:ext uri="{0D108BD9-81ED-4DB2-BD59-A6C34878D82A}">
                    <a16:rowId xmlns:a16="http://schemas.microsoft.com/office/drawing/2014/main" val="10011"/>
                  </a:ext>
                </a:extLst>
              </a:tr>
              <a:tr h="123444">
                <a:tc>
                  <a:txBody>
                    <a:bodyPr/>
                    <a:lstStyle/>
                    <a:p>
                      <a:pPr marL="0" indent="0" algn="ctr">
                        <a:buNone/>
                      </a:pPr>
                      <a:r>
                        <a:rPr lang="en-US" sz="850" dirty="0">
                          <a:solidFill>
                            <a:srgbClr val="4A5568"/>
                          </a:solidFill>
                        </a:rPr>
                        <a:t>Z / z</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ar-EG" sz="850" dirty="0">
                          <a:solidFill>
                            <a:srgbClr val="4A5568"/>
                          </a:solidFill>
                        </a:rPr>
                        <a:t>ز</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4A5568"/>
                          </a:solidFill>
                        </a:rPr>
                        <a:t>z</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4A5568"/>
                          </a:solidFill>
                        </a:rPr>
                        <a:t>z</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4A5568"/>
                          </a:solidFill>
                        </a:rPr>
                        <a:t>/z/</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dirty="0" err="1">
                          <a:solidFill>
                            <a:srgbClr val="4A5568"/>
                          </a:solidFill>
                        </a:rPr>
                        <a:t>Zabaadi</a:t>
                      </a:r>
                      <a:r>
                        <a:rPr lang="en-US" sz="850" dirty="0">
                          <a:solidFill>
                            <a:srgbClr val="4A5568"/>
                          </a:solidFill>
                        </a:rPr>
                        <a:t> </a:t>
                      </a:r>
                      <a:r>
                        <a:rPr lang="ar-EG" sz="850" dirty="0">
                          <a:solidFill>
                            <a:srgbClr val="4A5568"/>
                          </a:solidFill>
                        </a:rPr>
                        <a:t>زبادي</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123444">
                <a:tc>
                  <a:txBody>
                    <a:bodyPr/>
                    <a:lstStyle/>
                    <a:p>
                      <a:pPr marL="0" indent="0" algn="ctr">
                        <a:buNone/>
                      </a:pPr>
                      <a:r>
                        <a:rPr lang="en-US" sz="850" dirty="0">
                          <a:solidFill>
                            <a:srgbClr val="4A5568"/>
                          </a:solidFill>
                        </a:rPr>
                        <a:t>S / s</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س</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s</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s</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/s/</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dirty="0" err="1">
                          <a:solidFill>
                            <a:srgbClr val="4A5568"/>
                          </a:solidFill>
                        </a:rPr>
                        <a:t>somⲴa</a:t>
                      </a:r>
                      <a:r>
                        <a:rPr lang="en-US" sz="850" dirty="0">
                          <a:solidFill>
                            <a:srgbClr val="4A5568"/>
                          </a:solidFill>
                        </a:rPr>
                        <a:t> سمعة</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extLst>
                  <a:ext uri="{0D108BD9-81ED-4DB2-BD59-A6C34878D82A}">
                    <a16:rowId xmlns:a16="http://schemas.microsoft.com/office/drawing/2014/main" val="10013"/>
                  </a:ext>
                </a:extLst>
              </a:tr>
              <a:tr h="123444">
                <a:tc>
                  <a:txBody>
                    <a:bodyPr/>
                    <a:lstStyle/>
                    <a:p>
                      <a:pPr marL="0" indent="0" algn="ctr">
                        <a:buNone/>
                      </a:pPr>
                      <a:r>
                        <a:rPr lang="en-US" sz="850" dirty="0">
                          <a:solidFill>
                            <a:srgbClr val="1B2A4A"/>
                          </a:solidFill>
                        </a:rPr>
                        <a:t>Ϣ / ϣ</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ش</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sh</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ϣ</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/ʃ/</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850" dirty="0">
                          <a:solidFill>
                            <a:srgbClr val="1B2A4A"/>
                          </a:solidFill>
                        </a:rPr>
                        <a:t>Ϣahaada شهادة</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bl>
          </a:graphicData>
        </a:graphic>
      </p:graphicFrame>
      <p:sp>
        <p:nvSpPr>
          <p:cNvPr id="6" name="Shape 4"/>
          <p:cNvSpPr/>
          <p:nvPr/>
        </p:nvSpPr>
        <p:spPr>
          <a:xfrm>
            <a:off x="0" y="4937760"/>
            <a:ext cx="9144000" cy="205740"/>
          </a:xfrm>
          <a:prstGeom prst="rect">
            <a:avLst/>
          </a:prstGeom>
          <a:solidFill>
            <a:srgbClr val="1B2A4A"/>
          </a:solidFill>
          <a:ln w="12700">
            <a:solidFill>
              <a:srgbClr val="1B2A4A"/>
            </a:solidFill>
            <a:prstDash val="solid"/>
          </a:ln>
        </p:spPr>
      </p:sp>
      <p:sp>
        <p:nvSpPr>
          <p:cNvPr id="8" name="Text 5"/>
          <p:cNvSpPr/>
          <p:nvPr/>
        </p:nvSpPr>
        <p:spPr>
          <a:xfrm>
            <a:off x="0" y="4937760"/>
            <a:ext cx="9144000" cy="205740"/>
          </a:xfrm>
          <a:prstGeom prst="rect">
            <a:avLst/>
          </a:prstGeom>
          <a:noFill/>
          <a:ln/>
        </p:spPr>
        <p:txBody>
          <a:bodyPr wrap="square" lIns="0" tIns="0" rIns="0" bIns="0" rtlCol="0" anchor="ctr"/>
          <a:lstStyle/>
          <a:p>
            <a:pPr marL="0" indent="0" algn="ctr">
              <a:buNone/>
            </a:pPr>
            <a:r>
              <a:rPr lang="en-US" sz="800" dirty="0" err="1">
                <a:solidFill>
                  <a:srgbClr val="C9A84C"/>
                </a:solidFill>
              </a:rPr>
              <a:t>Maṣri</a:t>
            </a:r>
            <a:r>
              <a:rPr lang="en-US" sz="800" dirty="0">
                <a:solidFill>
                  <a:srgbClr val="C9A84C"/>
                </a:solidFill>
              </a:rPr>
              <a:t> Writing System  ·  مصري  ·  Diaa Hassouna  ·  Cairo 2026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28600"/>
            <a:ext cx="1828800" cy="347472"/>
          </a:xfrm>
          <a:prstGeom prst="roundRect">
            <a:avLst/>
          </a:prstGeom>
          <a:solidFill>
            <a:srgbClr val="C9A84C"/>
          </a:solidFill>
          <a:ln w="12700">
            <a:solidFill>
              <a:srgbClr val="C9A84C"/>
            </a:solidFill>
            <a:prstDash val="solid"/>
          </a:ln>
        </p:spPr>
      </p:sp>
      <p:sp>
        <p:nvSpPr>
          <p:cNvPr id="3" name="Text 1"/>
          <p:cNvSpPr/>
          <p:nvPr/>
        </p:nvSpPr>
        <p:spPr>
          <a:xfrm>
            <a:off x="365760" y="228600"/>
            <a:ext cx="1828800" cy="347472"/>
          </a:xfrm>
          <a:prstGeom prst="rect">
            <a:avLst/>
          </a:prstGeom>
          <a:noFill/>
          <a:ln/>
        </p:spPr>
        <p:txBody>
          <a:bodyPr wrap="square" lIns="0" tIns="0" rIns="0" bIns="0" rtlCol="0" anchor="ctr"/>
          <a:lstStyle/>
          <a:p>
            <a:pPr marL="0" indent="0" algn="ctr">
              <a:buNone/>
            </a:pPr>
            <a:r>
              <a:rPr lang="en-US" sz="900" b="1" dirty="0">
                <a:solidFill>
                  <a:srgbClr val="1B2A4A"/>
                </a:solidFill>
              </a:rPr>
              <a:t>04 · FULL ALPHABET</a:t>
            </a:r>
            <a:endParaRPr lang="en-US" sz="900" dirty="0"/>
          </a:p>
        </p:txBody>
      </p:sp>
      <p:sp>
        <p:nvSpPr>
          <p:cNvPr id="4" name="Text 2"/>
          <p:cNvSpPr/>
          <p:nvPr/>
        </p:nvSpPr>
        <p:spPr>
          <a:xfrm>
            <a:off x="457200" y="658368"/>
            <a:ext cx="8229600" cy="594360"/>
          </a:xfrm>
          <a:prstGeom prst="rect">
            <a:avLst/>
          </a:prstGeom>
          <a:noFill/>
          <a:ln/>
        </p:spPr>
        <p:txBody>
          <a:bodyPr wrap="square" rtlCol="0" anchor="ctr"/>
          <a:lstStyle/>
          <a:p>
            <a:pPr marL="0" indent="0" algn="l">
              <a:buNone/>
            </a:pPr>
            <a:r>
              <a:rPr lang="en-US" sz="2800" b="1" dirty="0" err="1">
                <a:solidFill>
                  <a:srgbClr val="1B2A4A"/>
                </a:solidFill>
                <a:latin typeface="Georgia" pitchFamily="34" charset="0"/>
                <a:ea typeface="Georgia" pitchFamily="34" charset="-122"/>
                <a:cs typeface="Georgia" pitchFamily="34" charset="-120"/>
              </a:rPr>
              <a:t>Maṣri</a:t>
            </a:r>
            <a:r>
              <a:rPr lang="en-US" sz="2800" b="1" dirty="0">
                <a:solidFill>
                  <a:srgbClr val="1B2A4A"/>
                </a:solidFill>
                <a:latin typeface="Georgia" pitchFamily="34" charset="0"/>
                <a:ea typeface="Georgia" pitchFamily="34" charset="-122"/>
                <a:cs typeface="Georgia" pitchFamily="34" charset="-120"/>
              </a:rPr>
              <a:t> Alphabet — Zero Numerals</a:t>
            </a:r>
            <a:endParaRPr lang="en-US" sz="2800" dirty="0"/>
          </a:p>
        </p:txBody>
      </p:sp>
      <p:sp>
        <p:nvSpPr>
          <p:cNvPr id="5" name="Shape 3"/>
          <p:cNvSpPr/>
          <p:nvPr/>
        </p:nvSpPr>
        <p:spPr>
          <a:xfrm>
            <a:off x="457200" y="1325880"/>
            <a:ext cx="457200" cy="50292"/>
          </a:xfrm>
          <a:prstGeom prst="rect">
            <a:avLst/>
          </a:prstGeom>
          <a:solidFill>
            <a:srgbClr val="C9A84C"/>
          </a:solidFill>
          <a:ln w="12700">
            <a:solidFill>
              <a:srgbClr val="C9A84C"/>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2824726735"/>
              </p:ext>
            </p:extLst>
          </p:nvPr>
        </p:nvGraphicFramePr>
        <p:xfrm>
          <a:off x="274320" y="1463040"/>
          <a:ext cx="6126480" cy="3322320"/>
        </p:xfrm>
        <a:graphic>
          <a:graphicData uri="http://schemas.openxmlformats.org/drawingml/2006/table">
            <a:tbl>
              <a:tblPr/>
              <a:tblGrid>
                <a:gridCol w="91440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123444">
                <a:tc>
                  <a:txBody>
                    <a:bodyPr/>
                    <a:lstStyle/>
                    <a:p>
                      <a:pPr marL="0" indent="0" algn="ctr">
                        <a:buNone/>
                      </a:pPr>
                      <a:r>
                        <a:rPr lang="en-US" sz="900" b="1" dirty="0">
                          <a:solidFill>
                            <a:srgbClr val="FFFFFF"/>
                          </a:solidFill>
                        </a:rPr>
                        <a:t>Letter</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Arabic</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Everyday</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Academic</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Sound</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l">
                        <a:buNone/>
                      </a:pPr>
                      <a:r>
                        <a:rPr lang="en-US" sz="900" b="1" dirty="0">
                          <a:solidFill>
                            <a:srgbClr val="FFFFFF"/>
                          </a:solidFill>
                        </a:rPr>
                        <a:t>Example</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123444">
                <a:tc>
                  <a:txBody>
                    <a:bodyPr/>
                    <a:lstStyle/>
                    <a:p>
                      <a:pPr marL="0" indent="0" algn="ctr">
                        <a:buNone/>
                      </a:pPr>
                      <a:r>
                        <a:rPr lang="en-US" sz="850" dirty="0">
                          <a:solidFill>
                            <a:srgbClr val="4A5568"/>
                          </a:solidFill>
                        </a:rPr>
                        <a:t>Ṣ / ṣ</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ص</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s</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ṣ</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/sˤ/</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l">
                        <a:buNone/>
                      </a:pPr>
                      <a:r>
                        <a:rPr lang="en-US" sz="850" dirty="0">
                          <a:solidFill>
                            <a:srgbClr val="4A5568"/>
                          </a:solidFill>
                        </a:rPr>
                        <a:t>Ṣafia صافية</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extLst>
                  <a:ext uri="{0D108BD9-81ED-4DB2-BD59-A6C34878D82A}">
                    <a16:rowId xmlns:a16="http://schemas.microsoft.com/office/drawing/2014/main" val="875856839"/>
                  </a:ext>
                </a:extLst>
              </a:tr>
              <a:tr h="123444">
                <a:tc>
                  <a:txBody>
                    <a:bodyPr/>
                    <a:lstStyle/>
                    <a:p>
                      <a:pPr marL="0" indent="0" algn="ctr">
                        <a:buNone/>
                      </a:pPr>
                      <a:r>
                        <a:rPr lang="en-US" sz="850" dirty="0">
                          <a:solidFill>
                            <a:srgbClr val="1B2A4A"/>
                          </a:solidFill>
                        </a:rPr>
                        <a:t>Ḍ / ḍ</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ar-EG" sz="850" dirty="0">
                          <a:solidFill>
                            <a:srgbClr val="1B2A4A"/>
                          </a:solidFill>
                        </a:rPr>
                        <a:t>ض</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d</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ḍ</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a:t>
                      </a:r>
                      <a:r>
                        <a:rPr lang="en-US" sz="850" dirty="0" err="1">
                          <a:solidFill>
                            <a:srgbClr val="1B2A4A"/>
                          </a:solidFill>
                        </a:rPr>
                        <a:t>dˤ</a:t>
                      </a:r>
                      <a:r>
                        <a:rPr lang="en-US" sz="850" dirty="0">
                          <a:solidFill>
                            <a:srgbClr val="1B2A4A"/>
                          </a:solidFill>
                        </a:rPr>
                        <a:t>/</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850" dirty="0" err="1">
                          <a:solidFill>
                            <a:srgbClr val="1B2A4A"/>
                          </a:solidFill>
                        </a:rPr>
                        <a:t>Ḍorɣam</a:t>
                      </a:r>
                      <a:r>
                        <a:rPr lang="en-US" sz="850" dirty="0">
                          <a:solidFill>
                            <a:srgbClr val="1B2A4A"/>
                          </a:solidFill>
                        </a:rPr>
                        <a:t> </a:t>
                      </a:r>
                      <a:r>
                        <a:rPr lang="ar-EG" sz="850" dirty="0">
                          <a:solidFill>
                            <a:srgbClr val="1B2A4A"/>
                          </a:solidFill>
                        </a:rPr>
                        <a:t>ضرغام</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467797609"/>
                  </a:ext>
                </a:extLst>
              </a:tr>
              <a:tr h="123444">
                <a:tc>
                  <a:txBody>
                    <a:bodyPr/>
                    <a:lstStyle/>
                    <a:p>
                      <a:pPr marL="0" indent="0" algn="ctr">
                        <a:buNone/>
                      </a:pPr>
                      <a:r>
                        <a:rPr lang="en-US" sz="850" dirty="0">
                          <a:solidFill>
                            <a:srgbClr val="1B2A4A"/>
                          </a:solidFill>
                        </a:rPr>
                        <a:t>Ṭ / ṭ</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1B2A4A"/>
                          </a:solidFill>
                        </a:rPr>
                        <a:t>ط</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1B2A4A"/>
                          </a:solidFill>
                        </a:rPr>
                        <a:t>t</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1B2A4A"/>
                          </a:solidFill>
                        </a:rPr>
                        <a:t>ṭ</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1B2A4A"/>
                          </a:solidFill>
                        </a:rPr>
                        <a:t>/tˤ/</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l">
                        <a:buNone/>
                      </a:pPr>
                      <a:r>
                        <a:rPr lang="en-US" sz="850" dirty="0" err="1">
                          <a:solidFill>
                            <a:srgbClr val="1B2A4A"/>
                          </a:solidFill>
                        </a:rPr>
                        <a:t>Ṭabour</a:t>
                      </a:r>
                      <a:r>
                        <a:rPr lang="en-US" sz="850" dirty="0">
                          <a:solidFill>
                            <a:srgbClr val="1B2A4A"/>
                          </a:solidFill>
                        </a:rPr>
                        <a:t> </a:t>
                      </a:r>
                      <a:r>
                        <a:rPr lang="en-US" sz="850" dirty="0" err="1">
                          <a:solidFill>
                            <a:srgbClr val="1B2A4A"/>
                          </a:solidFill>
                        </a:rPr>
                        <a:t>طابور</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extLst>
                  <a:ext uri="{0D108BD9-81ED-4DB2-BD59-A6C34878D82A}">
                    <a16:rowId xmlns:a16="http://schemas.microsoft.com/office/drawing/2014/main" val="1570191915"/>
                  </a:ext>
                </a:extLst>
              </a:tr>
              <a:tr h="123444">
                <a:tc>
                  <a:txBody>
                    <a:bodyPr/>
                    <a:lstStyle/>
                    <a:p>
                      <a:pPr marL="0" indent="0" algn="ctr">
                        <a:buNone/>
                      </a:pPr>
                      <a:r>
                        <a:rPr lang="en-US" sz="850" dirty="0">
                          <a:solidFill>
                            <a:srgbClr val="1B2A4A"/>
                          </a:solidFill>
                        </a:rPr>
                        <a:t>Ẓ / ẓ</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ar-EG" sz="850" dirty="0">
                          <a:solidFill>
                            <a:srgbClr val="1B2A4A"/>
                          </a:solidFill>
                        </a:rPr>
                        <a:t>ظ</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z</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ẓ</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a:t>
                      </a:r>
                      <a:r>
                        <a:rPr lang="en-US" sz="850" dirty="0" err="1">
                          <a:solidFill>
                            <a:srgbClr val="1B2A4A"/>
                          </a:solidFill>
                        </a:rPr>
                        <a:t>ðˤ</a:t>
                      </a:r>
                      <a:r>
                        <a:rPr lang="en-US" sz="850" dirty="0">
                          <a:solidFill>
                            <a:srgbClr val="1B2A4A"/>
                          </a:solidFill>
                        </a:rPr>
                        <a:t>/</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850">
                          <a:solidFill>
                            <a:srgbClr val="1B2A4A"/>
                          </a:solidFill>
                        </a:rPr>
                        <a:t>Ẓarf</a:t>
                      </a:r>
                      <a:r>
                        <a:rPr lang="en-US" sz="850" dirty="0">
                          <a:solidFill>
                            <a:srgbClr val="1B2A4A"/>
                          </a:solidFill>
                        </a:rPr>
                        <a:t> </a:t>
                      </a:r>
                      <a:r>
                        <a:rPr lang="ar-EG" sz="850" dirty="0">
                          <a:solidFill>
                            <a:srgbClr val="1B2A4A"/>
                          </a:solidFill>
                        </a:rPr>
                        <a:t>ظرف</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123444">
                <a:tc>
                  <a:txBody>
                    <a:bodyPr/>
                    <a:lstStyle/>
                    <a:p>
                      <a:pPr marL="0" indent="0" algn="ctr">
                        <a:buNone/>
                      </a:pPr>
                      <a:r>
                        <a:rPr lang="en-US" sz="850" dirty="0">
                          <a:solidFill>
                            <a:srgbClr val="4A5568"/>
                          </a:solidFill>
                        </a:rPr>
                        <a:t>Ⲵ</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3CD"/>
                    </a:solidFill>
                  </a:tcPr>
                </a:tc>
                <a:tc>
                  <a:txBody>
                    <a:bodyPr/>
                    <a:lstStyle/>
                    <a:p>
                      <a:pPr marL="0" indent="0" algn="ctr">
                        <a:buNone/>
                      </a:pPr>
                      <a:r>
                        <a:rPr lang="en-US" sz="850" dirty="0">
                          <a:solidFill>
                            <a:srgbClr val="4A5568"/>
                          </a:solidFill>
                        </a:rPr>
                        <a:t>ع</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3CD"/>
                    </a:solidFill>
                  </a:tcPr>
                </a:tc>
                <a:tc>
                  <a:txBody>
                    <a:bodyPr/>
                    <a:lstStyle/>
                    <a:p>
                      <a:pPr marL="0" indent="0" algn="ctr">
                        <a:buNone/>
                      </a:pPr>
                      <a:r>
                        <a:rPr lang="en-US" sz="850" dirty="0">
                          <a:solidFill>
                            <a:srgbClr val="4A5568"/>
                          </a:solidFill>
                        </a:rPr>
                        <a:t>`  (backtick)</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3CD"/>
                    </a:solidFill>
                  </a:tcPr>
                </a:tc>
                <a:tc>
                  <a:txBody>
                    <a:bodyPr/>
                    <a:lstStyle/>
                    <a:p>
                      <a:pPr marL="0" indent="0" algn="ctr">
                        <a:buNone/>
                      </a:pPr>
                      <a:r>
                        <a:rPr lang="en-US" sz="850" dirty="0">
                          <a:solidFill>
                            <a:srgbClr val="4A5568"/>
                          </a:solidFill>
                        </a:rPr>
                        <a:t>Ⲵ</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3CD"/>
                    </a:solidFill>
                  </a:tcPr>
                </a:tc>
                <a:tc>
                  <a:txBody>
                    <a:bodyPr/>
                    <a:lstStyle/>
                    <a:p>
                      <a:pPr marL="0" indent="0" algn="ctr">
                        <a:buNone/>
                      </a:pPr>
                      <a:r>
                        <a:rPr lang="en-US" sz="850" dirty="0">
                          <a:solidFill>
                            <a:srgbClr val="4A5568"/>
                          </a:solidFill>
                        </a:rPr>
                        <a:t>/ʕ/</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3C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dirty="0">
                          <a:solidFill>
                            <a:srgbClr val="4A5568"/>
                          </a:solidFill>
                        </a:rPr>
                        <a:t>Ⲵ</a:t>
                      </a:r>
                      <a:r>
                        <a:rPr lang="en-US" sz="850" dirty="0" err="1">
                          <a:solidFill>
                            <a:srgbClr val="4A5568"/>
                          </a:solidFill>
                        </a:rPr>
                        <a:t>aref</a:t>
                      </a:r>
                      <a:r>
                        <a:rPr lang="en-US" sz="850" dirty="0">
                          <a:solidFill>
                            <a:srgbClr val="4A5568"/>
                          </a:solidFill>
                        </a:rPr>
                        <a:t> عارف</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3CD"/>
                    </a:solidFill>
                  </a:tcPr>
                </a:tc>
                <a:extLst>
                  <a:ext uri="{0D108BD9-81ED-4DB2-BD59-A6C34878D82A}">
                    <a16:rowId xmlns:a16="http://schemas.microsoft.com/office/drawing/2014/main" val="10015"/>
                  </a:ext>
                </a:extLst>
              </a:tr>
              <a:tr h="123444">
                <a:tc>
                  <a:txBody>
                    <a:bodyPr/>
                    <a:lstStyle/>
                    <a:p>
                      <a:pPr marL="0" indent="0" algn="ctr">
                        <a:buNone/>
                      </a:pPr>
                      <a:r>
                        <a:rPr lang="en-US" sz="850" dirty="0">
                          <a:solidFill>
                            <a:srgbClr val="1B2A4A"/>
                          </a:solidFill>
                        </a:rPr>
                        <a:t>ɣ</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غ</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gh</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ɣ</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/ɣ/</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850" dirty="0">
                          <a:solidFill>
                            <a:srgbClr val="1B2A4A"/>
                          </a:solidFill>
                        </a:rPr>
                        <a:t>ɣareeb غريب</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6"/>
                  </a:ext>
                </a:extLst>
              </a:tr>
              <a:tr h="123444">
                <a:tc>
                  <a:txBody>
                    <a:bodyPr/>
                    <a:lstStyle/>
                    <a:p>
                      <a:pPr marL="0" indent="0" algn="ctr">
                        <a:buNone/>
                      </a:pPr>
                      <a:r>
                        <a:rPr lang="en-US" sz="850" dirty="0">
                          <a:solidFill>
                            <a:srgbClr val="4A5568"/>
                          </a:solidFill>
                        </a:rPr>
                        <a:t>F / f</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ف</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f</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f</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/f/</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l">
                        <a:buNone/>
                      </a:pPr>
                      <a:r>
                        <a:rPr lang="en-US" sz="850" dirty="0">
                          <a:solidFill>
                            <a:srgbClr val="4A5568"/>
                          </a:solidFill>
                        </a:rPr>
                        <a:t>fengaan فنجان</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extLst>
                  <a:ext uri="{0D108BD9-81ED-4DB2-BD59-A6C34878D82A}">
                    <a16:rowId xmlns:a16="http://schemas.microsoft.com/office/drawing/2014/main" val="10017"/>
                  </a:ext>
                </a:extLst>
              </a:tr>
              <a:tr h="123444">
                <a:tc>
                  <a:txBody>
                    <a:bodyPr/>
                    <a:lstStyle/>
                    <a:p>
                      <a:pPr marL="0" indent="0" algn="ctr">
                        <a:buNone/>
                      </a:pPr>
                      <a:r>
                        <a:rPr lang="en-US" sz="850" dirty="0">
                          <a:solidFill>
                            <a:srgbClr val="4A5568"/>
                          </a:solidFill>
                        </a:rPr>
                        <a:t>V / v</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3CD"/>
                    </a:solidFill>
                  </a:tcPr>
                </a:tc>
                <a:tc>
                  <a:txBody>
                    <a:bodyPr/>
                    <a:lstStyle/>
                    <a:p>
                      <a:pPr marL="0" indent="0" algn="ctr">
                        <a:buNone/>
                      </a:pPr>
                      <a:r>
                        <a:rPr lang="ar-EG" sz="850" dirty="0">
                          <a:solidFill>
                            <a:srgbClr val="4A5568"/>
                          </a:solidFill>
                        </a:rPr>
                        <a:t>ڤ</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3CD"/>
                    </a:solidFill>
                  </a:tcPr>
                </a:tc>
                <a:tc>
                  <a:txBody>
                    <a:bodyPr/>
                    <a:lstStyle/>
                    <a:p>
                      <a:pPr marL="0" indent="0" algn="ctr">
                        <a:buNone/>
                      </a:pPr>
                      <a:r>
                        <a:rPr lang="en-US" sz="850" dirty="0">
                          <a:solidFill>
                            <a:srgbClr val="4A5568"/>
                          </a:solidFill>
                        </a:rPr>
                        <a:t>v</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3CD"/>
                    </a:solidFill>
                  </a:tcPr>
                </a:tc>
                <a:tc>
                  <a:txBody>
                    <a:bodyPr/>
                    <a:lstStyle/>
                    <a:p>
                      <a:pPr marL="0" indent="0" algn="ctr">
                        <a:buNone/>
                      </a:pPr>
                      <a:r>
                        <a:rPr lang="en-US" sz="850" dirty="0">
                          <a:solidFill>
                            <a:srgbClr val="4A5568"/>
                          </a:solidFill>
                        </a:rPr>
                        <a:t>v</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3CD"/>
                    </a:solidFill>
                  </a:tcPr>
                </a:tc>
                <a:tc>
                  <a:txBody>
                    <a:bodyPr/>
                    <a:lstStyle/>
                    <a:p>
                      <a:pPr marL="0" indent="0" algn="ctr">
                        <a:buNone/>
                      </a:pPr>
                      <a:r>
                        <a:rPr lang="en-US" sz="850" dirty="0">
                          <a:solidFill>
                            <a:srgbClr val="4A5568"/>
                          </a:solidFill>
                        </a:rPr>
                        <a:t>/v/</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3CD"/>
                    </a:solidFill>
                  </a:tcPr>
                </a:tc>
                <a:tc>
                  <a:txBody>
                    <a:bodyPr/>
                    <a:lstStyle/>
                    <a:p>
                      <a:pPr marL="0" indent="0" algn="l">
                        <a:buNone/>
                      </a:pPr>
                      <a:r>
                        <a:rPr lang="en-US" sz="850" dirty="0" err="1">
                          <a:solidFill>
                            <a:srgbClr val="4A5568"/>
                          </a:solidFill>
                        </a:rPr>
                        <a:t>Varanda</a:t>
                      </a:r>
                      <a:r>
                        <a:rPr lang="en-US" sz="850" dirty="0">
                          <a:solidFill>
                            <a:srgbClr val="4A5568"/>
                          </a:solidFill>
                        </a:rPr>
                        <a:t> </a:t>
                      </a:r>
                      <a:r>
                        <a:rPr lang="ar-EG" sz="850" dirty="0">
                          <a:solidFill>
                            <a:srgbClr val="4A5568"/>
                          </a:solidFill>
                        </a:rPr>
                        <a:t>ڤرندة</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3CD"/>
                    </a:solidFill>
                  </a:tcPr>
                </a:tc>
                <a:extLst>
                  <a:ext uri="{0D108BD9-81ED-4DB2-BD59-A6C34878D82A}">
                    <a16:rowId xmlns:a16="http://schemas.microsoft.com/office/drawing/2014/main" val="2264272759"/>
                  </a:ext>
                </a:extLst>
              </a:tr>
              <a:tr h="123444">
                <a:tc>
                  <a:txBody>
                    <a:bodyPr/>
                    <a:lstStyle/>
                    <a:p>
                      <a:pPr marL="0" indent="0" algn="ctr">
                        <a:buNone/>
                      </a:pPr>
                      <a:r>
                        <a:rPr lang="en-US" sz="850" dirty="0">
                          <a:solidFill>
                            <a:srgbClr val="1B2A4A"/>
                          </a:solidFill>
                        </a:rPr>
                        <a:t>Q / q</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ق</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 (glottal)</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Ɐ or q</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/q/ or /ʔ/</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850" dirty="0" err="1">
                          <a:solidFill>
                            <a:srgbClr val="1B2A4A"/>
                          </a:solidFill>
                        </a:rPr>
                        <a:t>maⱯsood</a:t>
                      </a:r>
                      <a:r>
                        <a:rPr lang="en-US" sz="850" dirty="0">
                          <a:solidFill>
                            <a:srgbClr val="1B2A4A"/>
                          </a:solidFill>
                        </a:rPr>
                        <a:t> </a:t>
                      </a:r>
                      <a:r>
                        <a:rPr lang="ar-EG" sz="850" dirty="0">
                          <a:solidFill>
                            <a:srgbClr val="1B2A4A"/>
                          </a:solidFill>
                        </a:rPr>
                        <a:t>مقصود</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8"/>
                  </a:ext>
                </a:extLst>
              </a:tr>
              <a:tr h="123444">
                <a:tc>
                  <a:txBody>
                    <a:bodyPr/>
                    <a:lstStyle/>
                    <a:p>
                      <a:pPr marL="0" indent="0" algn="ctr">
                        <a:buNone/>
                      </a:pPr>
                      <a:r>
                        <a:rPr lang="en-US" sz="850" dirty="0">
                          <a:solidFill>
                            <a:srgbClr val="4A5568"/>
                          </a:solidFill>
                        </a:rPr>
                        <a:t>K / k</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ك</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k</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k</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/k/</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l">
                        <a:buNone/>
                      </a:pPr>
                      <a:r>
                        <a:rPr lang="en-US" sz="850" dirty="0">
                          <a:solidFill>
                            <a:srgbClr val="4A5568"/>
                          </a:solidFill>
                        </a:rPr>
                        <a:t>kaan كان</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extLst>
                  <a:ext uri="{0D108BD9-81ED-4DB2-BD59-A6C34878D82A}">
                    <a16:rowId xmlns:a16="http://schemas.microsoft.com/office/drawing/2014/main" val="10019"/>
                  </a:ext>
                </a:extLst>
              </a:tr>
              <a:tr h="123444">
                <a:tc>
                  <a:txBody>
                    <a:bodyPr/>
                    <a:lstStyle/>
                    <a:p>
                      <a:pPr marL="0" indent="0" algn="ctr">
                        <a:buNone/>
                      </a:pPr>
                      <a:r>
                        <a:rPr lang="en-US" sz="850" dirty="0">
                          <a:solidFill>
                            <a:srgbClr val="1B2A4A"/>
                          </a:solidFill>
                        </a:rPr>
                        <a:t>L / l</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ل</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l</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l</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/l/</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850" dirty="0">
                          <a:solidFill>
                            <a:srgbClr val="1B2A4A"/>
                          </a:solidFill>
                        </a:rPr>
                        <a:t>lamba لمبة</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20"/>
                  </a:ext>
                </a:extLst>
              </a:tr>
              <a:tr h="123444">
                <a:tc>
                  <a:txBody>
                    <a:bodyPr/>
                    <a:lstStyle/>
                    <a:p>
                      <a:pPr marL="0" indent="0" algn="ctr">
                        <a:buNone/>
                      </a:pPr>
                      <a:r>
                        <a:rPr lang="en-US" sz="850" dirty="0">
                          <a:solidFill>
                            <a:srgbClr val="4A5568"/>
                          </a:solidFill>
                        </a:rPr>
                        <a:t>M / m</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م</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m</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m</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/m/</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l">
                        <a:buNone/>
                      </a:pPr>
                      <a:r>
                        <a:rPr lang="en-US" sz="850" dirty="0" err="1">
                          <a:solidFill>
                            <a:srgbClr val="4A5568"/>
                          </a:solidFill>
                        </a:rPr>
                        <a:t>Maṣr</a:t>
                      </a:r>
                      <a:r>
                        <a:rPr lang="en-US" sz="850" dirty="0">
                          <a:solidFill>
                            <a:srgbClr val="4A5568"/>
                          </a:solidFill>
                        </a:rPr>
                        <a:t> مصر</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extLst>
                  <a:ext uri="{0D108BD9-81ED-4DB2-BD59-A6C34878D82A}">
                    <a16:rowId xmlns:a16="http://schemas.microsoft.com/office/drawing/2014/main" val="10021"/>
                  </a:ext>
                </a:extLst>
              </a:tr>
              <a:tr h="123444">
                <a:tc>
                  <a:txBody>
                    <a:bodyPr/>
                    <a:lstStyle/>
                    <a:p>
                      <a:pPr marL="0" indent="0" algn="ctr">
                        <a:buNone/>
                      </a:pPr>
                      <a:r>
                        <a:rPr lang="en-US" sz="850" dirty="0">
                          <a:solidFill>
                            <a:srgbClr val="1B2A4A"/>
                          </a:solidFill>
                        </a:rPr>
                        <a:t>N / n</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ن</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n</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n</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/n/</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850" dirty="0">
                          <a:solidFill>
                            <a:srgbClr val="1B2A4A"/>
                          </a:solidFill>
                        </a:rPr>
                        <a:t>noor نور</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22"/>
                  </a:ext>
                </a:extLst>
              </a:tr>
              <a:tr h="123444">
                <a:tc>
                  <a:txBody>
                    <a:bodyPr/>
                    <a:lstStyle/>
                    <a:p>
                      <a:pPr marL="0" indent="0" algn="ctr">
                        <a:buNone/>
                      </a:pPr>
                      <a:r>
                        <a:rPr lang="en-US" sz="850" dirty="0">
                          <a:solidFill>
                            <a:srgbClr val="4A5568"/>
                          </a:solidFill>
                        </a:rPr>
                        <a:t>H / h</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ه</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h</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h</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/h/</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l">
                        <a:buNone/>
                      </a:pPr>
                      <a:r>
                        <a:rPr lang="en-US" sz="850" dirty="0">
                          <a:solidFill>
                            <a:srgbClr val="4A5568"/>
                          </a:solidFill>
                        </a:rPr>
                        <a:t>hawa هوا</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extLst>
                  <a:ext uri="{0D108BD9-81ED-4DB2-BD59-A6C34878D82A}">
                    <a16:rowId xmlns:a16="http://schemas.microsoft.com/office/drawing/2014/main" val="10023"/>
                  </a:ext>
                </a:extLst>
              </a:tr>
            </a:tbl>
          </a:graphicData>
        </a:graphic>
      </p:graphicFrame>
      <p:sp>
        <p:nvSpPr>
          <p:cNvPr id="6" name="Shape 4"/>
          <p:cNvSpPr/>
          <p:nvPr/>
        </p:nvSpPr>
        <p:spPr>
          <a:xfrm>
            <a:off x="0" y="4937760"/>
            <a:ext cx="9144000" cy="205740"/>
          </a:xfrm>
          <a:prstGeom prst="rect">
            <a:avLst/>
          </a:prstGeom>
          <a:solidFill>
            <a:srgbClr val="1B2A4A"/>
          </a:solidFill>
          <a:ln w="12700">
            <a:solidFill>
              <a:srgbClr val="1B2A4A"/>
            </a:solidFill>
            <a:prstDash val="solid"/>
          </a:ln>
        </p:spPr>
      </p:sp>
      <p:sp>
        <p:nvSpPr>
          <p:cNvPr id="8" name="Text 5"/>
          <p:cNvSpPr/>
          <p:nvPr/>
        </p:nvSpPr>
        <p:spPr>
          <a:xfrm>
            <a:off x="0" y="4937760"/>
            <a:ext cx="9144000" cy="205740"/>
          </a:xfrm>
          <a:prstGeom prst="rect">
            <a:avLst/>
          </a:prstGeom>
          <a:noFill/>
          <a:ln/>
        </p:spPr>
        <p:txBody>
          <a:bodyPr wrap="square" lIns="0" tIns="0" rIns="0" bIns="0" rtlCol="0" anchor="ctr"/>
          <a:lstStyle/>
          <a:p>
            <a:pPr marL="0" indent="0" algn="ctr">
              <a:buNone/>
            </a:pPr>
            <a:r>
              <a:rPr lang="en-US" sz="800" dirty="0" err="1">
                <a:solidFill>
                  <a:srgbClr val="C9A84C"/>
                </a:solidFill>
              </a:rPr>
              <a:t>Maṣri</a:t>
            </a:r>
            <a:r>
              <a:rPr lang="en-US" sz="800" dirty="0">
                <a:solidFill>
                  <a:srgbClr val="C9A84C"/>
                </a:solidFill>
              </a:rPr>
              <a:t> Writing System  ·  مصري  ·  Diaa Hassouna  ·  Cairo 2026</a:t>
            </a:r>
            <a:endParaRPr lang="en-US" sz="800" dirty="0"/>
          </a:p>
        </p:txBody>
      </p:sp>
    </p:spTree>
    <p:extLst>
      <p:ext uri="{BB962C8B-B14F-4D97-AF65-F5344CB8AC3E}">
        <p14:creationId xmlns:p14="http://schemas.microsoft.com/office/powerpoint/2010/main" val="2580646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28600"/>
            <a:ext cx="1828800" cy="347472"/>
          </a:xfrm>
          <a:prstGeom prst="roundRect">
            <a:avLst/>
          </a:prstGeom>
          <a:solidFill>
            <a:srgbClr val="C9A84C"/>
          </a:solidFill>
          <a:ln w="12700">
            <a:solidFill>
              <a:srgbClr val="C9A84C"/>
            </a:solidFill>
            <a:prstDash val="solid"/>
          </a:ln>
        </p:spPr>
      </p:sp>
      <p:sp>
        <p:nvSpPr>
          <p:cNvPr id="3" name="Text 1"/>
          <p:cNvSpPr/>
          <p:nvPr/>
        </p:nvSpPr>
        <p:spPr>
          <a:xfrm>
            <a:off x="365760" y="228600"/>
            <a:ext cx="1828800" cy="347472"/>
          </a:xfrm>
          <a:prstGeom prst="rect">
            <a:avLst/>
          </a:prstGeom>
          <a:noFill/>
          <a:ln/>
        </p:spPr>
        <p:txBody>
          <a:bodyPr wrap="square" lIns="0" tIns="0" rIns="0" bIns="0" rtlCol="0" anchor="ctr"/>
          <a:lstStyle/>
          <a:p>
            <a:pPr marL="0" indent="0" algn="ctr">
              <a:buNone/>
            </a:pPr>
            <a:r>
              <a:rPr lang="en-US" sz="900" b="1" dirty="0">
                <a:solidFill>
                  <a:srgbClr val="1B2A4A"/>
                </a:solidFill>
              </a:rPr>
              <a:t>04 · FULL ALPHABET</a:t>
            </a:r>
            <a:endParaRPr lang="en-US" sz="900" dirty="0"/>
          </a:p>
        </p:txBody>
      </p:sp>
      <p:sp>
        <p:nvSpPr>
          <p:cNvPr id="4" name="Text 2"/>
          <p:cNvSpPr/>
          <p:nvPr/>
        </p:nvSpPr>
        <p:spPr>
          <a:xfrm>
            <a:off x="457200" y="658368"/>
            <a:ext cx="8229600" cy="594360"/>
          </a:xfrm>
          <a:prstGeom prst="rect">
            <a:avLst/>
          </a:prstGeom>
          <a:noFill/>
          <a:ln/>
        </p:spPr>
        <p:txBody>
          <a:bodyPr wrap="square" rtlCol="0" anchor="ctr"/>
          <a:lstStyle/>
          <a:p>
            <a:pPr marL="0" indent="0" algn="l">
              <a:buNone/>
            </a:pPr>
            <a:r>
              <a:rPr lang="en-US" sz="2800" b="1" dirty="0" err="1">
                <a:solidFill>
                  <a:srgbClr val="1B2A4A"/>
                </a:solidFill>
                <a:latin typeface="Georgia" pitchFamily="34" charset="0"/>
                <a:ea typeface="Georgia" pitchFamily="34" charset="-122"/>
                <a:cs typeface="Georgia" pitchFamily="34" charset="-120"/>
              </a:rPr>
              <a:t>Maṣri</a:t>
            </a:r>
            <a:r>
              <a:rPr lang="en-US" sz="2800" b="1" dirty="0">
                <a:solidFill>
                  <a:srgbClr val="1B2A4A"/>
                </a:solidFill>
                <a:latin typeface="Georgia" pitchFamily="34" charset="0"/>
                <a:ea typeface="Georgia" pitchFamily="34" charset="-122"/>
                <a:cs typeface="Georgia" pitchFamily="34" charset="-120"/>
              </a:rPr>
              <a:t> Alphabet — Zero Numerals</a:t>
            </a:r>
            <a:endParaRPr lang="en-US" sz="2800" dirty="0"/>
          </a:p>
        </p:txBody>
      </p:sp>
      <p:sp>
        <p:nvSpPr>
          <p:cNvPr id="5" name="Shape 3"/>
          <p:cNvSpPr/>
          <p:nvPr/>
        </p:nvSpPr>
        <p:spPr>
          <a:xfrm>
            <a:off x="457200" y="1325880"/>
            <a:ext cx="457200" cy="50292"/>
          </a:xfrm>
          <a:prstGeom prst="rect">
            <a:avLst/>
          </a:prstGeom>
          <a:solidFill>
            <a:srgbClr val="C9A84C"/>
          </a:solidFill>
          <a:ln w="12700">
            <a:solidFill>
              <a:srgbClr val="C9A84C"/>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3758858080"/>
              </p:ext>
            </p:extLst>
          </p:nvPr>
        </p:nvGraphicFramePr>
        <p:xfrm>
          <a:off x="274320" y="1463040"/>
          <a:ext cx="6126480" cy="1790700"/>
        </p:xfrm>
        <a:graphic>
          <a:graphicData uri="http://schemas.openxmlformats.org/drawingml/2006/table">
            <a:tbl>
              <a:tblPr/>
              <a:tblGrid>
                <a:gridCol w="91440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123444">
                <a:tc>
                  <a:txBody>
                    <a:bodyPr/>
                    <a:lstStyle/>
                    <a:p>
                      <a:pPr marL="0" indent="0" algn="ctr">
                        <a:buNone/>
                      </a:pPr>
                      <a:r>
                        <a:rPr lang="en-US" sz="900" b="1" dirty="0">
                          <a:solidFill>
                            <a:srgbClr val="FFFFFF"/>
                          </a:solidFill>
                        </a:rPr>
                        <a:t>Letter</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Arabic</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Everyday</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Academic</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Sound</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l">
                        <a:buNone/>
                      </a:pPr>
                      <a:r>
                        <a:rPr lang="en-US" sz="900" b="1" dirty="0">
                          <a:solidFill>
                            <a:srgbClr val="FFFFFF"/>
                          </a:solidFill>
                        </a:rPr>
                        <a:t>Example</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123444">
                <a:tc>
                  <a:txBody>
                    <a:bodyPr/>
                    <a:lstStyle/>
                    <a:p>
                      <a:pPr marL="0" indent="0" algn="ctr">
                        <a:buNone/>
                      </a:pPr>
                      <a:r>
                        <a:rPr lang="en-US" sz="850" dirty="0">
                          <a:solidFill>
                            <a:srgbClr val="1B2A4A"/>
                          </a:solidFill>
                        </a:rPr>
                        <a:t>W / w</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و</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w / oo</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w / ū</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/w/ or /uː/</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850" dirty="0">
                          <a:solidFill>
                            <a:srgbClr val="1B2A4A"/>
                          </a:solidFill>
                        </a:rPr>
                        <a:t>walad ولد</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24"/>
                  </a:ext>
                </a:extLst>
              </a:tr>
              <a:tr h="123444">
                <a:tc>
                  <a:txBody>
                    <a:bodyPr/>
                    <a:lstStyle/>
                    <a:p>
                      <a:pPr marL="0" indent="0" algn="ctr">
                        <a:buNone/>
                      </a:pPr>
                      <a:r>
                        <a:rPr lang="en-US" sz="850" dirty="0">
                          <a:solidFill>
                            <a:srgbClr val="4A5568"/>
                          </a:solidFill>
                        </a:rPr>
                        <a:t>Y / y</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ي</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y / ee</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y / ī</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solidFill>
                            <a:srgbClr val="4A5568"/>
                          </a:solidFill>
                        </a:rPr>
                        <a:t>/j/ or /iː/</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l">
                        <a:buNone/>
                      </a:pPr>
                      <a:r>
                        <a:rPr lang="en-US" sz="850" dirty="0">
                          <a:solidFill>
                            <a:srgbClr val="4A5568"/>
                          </a:solidFill>
                        </a:rPr>
                        <a:t>yoom يوم</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extLst>
                  <a:ext uri="{0D108BD9-81ED-4DB2-BD59-A6C34878D82A}">
                    <a16:rowId xmlns:a16="http://schemas.microsoft.com/office/drawing/2014/main" val="10025"/>
                  </a:ext>
                </a:extLst>
              </a:tr>
              <a:tr h="123444">
                <a:tc>
                  <a:txBody>
                    <a:bodyPr/>
                    <a:lstStyle/>
                    <a:p>
                      <a:pPr marL="0" indent="0" algn="ctr">
                        <a:buNone/>
                      </a:pPr>
                      <a:r>
                        <a:rPr lang="en-US" sz="850" dirty="0">
                          <a:solidFill>
                            <a:srgbClr val="1B2A4A"/>
                          </a:solidFill>
                        </a:rPr>
                        <a:t>Ɐ</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ء</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 (mid/end)</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Ɐ</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B2A4A"/>
                          </a:solidFill>
                        </a:rPr>
                        <a:t>/ʔ/</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dirty="0" err="1">
                          <a:solidFill>
                            <a:srgbClr val="1B2A4A"/>
                          </a:solidFill>
                        </a:rPr>
                        <a:t>masⱯala</a:t>
                      </a:r>
                      <a:r>
                        <a:rPr lang="en-US" sz="850" dirty="0">
                          <a:solidFill>
                            <a:srgbClr val="1B2A4A"/>
                          </a:solidFill>
                        </a:rPr>
                        <a:t> مسألة</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26"/>
                  </a:ext>
                </a:extLst>
              </a:tr>
              <a:tr h="123444">
                <a:tc gridSpan="6">
                  <a:txBody>
                    <a:bodyPr/>
                    <a:lstStyle/>
                    <a:p>
                      <a:pPr marL="0" indent="0" algn="ctr" defTabSz="914400" rtl="0" eaLnBrk="1" latinLnBrk="0" hangingPunct="1">
                        <a:buNone/>
                      </a:pPr>
                      <a:r>
                        <a:rPr lang="en-US" sz="900" b="1" kern="1200" dirty="0">
                          <a:solidFill>
                            <a:srgbClr val="FFFFFF"/>
                          </a:solidFill>
                          <a:latin typeface="+mn-lt"/>
                          <a:ea typeface="+mn-ea"/>
                          <a:cs typeface="+mn-cs"/>
                        </a:rPr>
                        <a:t>Borrowed Orthography</a:t>
                      </a:r>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hMerge="1">
                  <a:txBody>
                    <a:bodyPr/>
                    <a:lstStyle/>
                    <a:p>
                      <a:pPr marL="0" indent="0" algn="ctr" defTabSz="914400" rtl="0" eaLnBrk="1" latinLnBrk="0" hangingPunct="1">
                        <a:buNone/>
                      </a:pPr>
                      <a:endParaRPr lang="en-US" sz="900" b="1" kern="1200" dirty="0">
                        <a:solidFill>
                          <a:srgbClr val="FFFFFF"/>
                        </a:solidFill>
                        <a:latin typeface="+mn-lt"/>
                        <a:ea typeface="+mn-ea"/>
                        <a:cs typeface="+mn-cs"/>
                      </a:endParaRPr>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hMerge="1">
                  <a:txBody>
                    <a:bodyPr/>
                    <a:lstStyle/>
                    <a:p>
                      <a:pPr marL="0" indent="0" algn="ctr" defTabSz="914400" rtl="0" eaLnBrk="1" latinLnBrk="0" hangingPunct="1">
                        <a:buNone/>
                      </a:pPr>
                      <a:endParaRPr lang="en-US" sz="900" b="1" kern="1200" dirty="0">
                        <a:solidFill>
                          <a:srgbClr val="FFFFFF"/>
                        </a:solidFill>
                        <a:latin typeface="+mn-lt"/>
                        <a:ea typeface="+mn-ea"/>
                        <a:cs typeface="+mn-cs"/>
                      </a:endParaRPr>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hMerge="1">
                  <a:txBody>
                    <a:bodyPr/>
                    <a:lstStyle/>
                    <a:p>
                      <a:pPr marL="0" indent="0" algn="ctr" defTabSz="914400" rtl="0" eaLnBrk="1" latinLnBrk="0" hangingPunct="1">
                        <a:buNone/>
                      </a:pPr>
                      <a:endParaRPr lang="en-US" sz="900" b="1" kern="1200" dirty="0">
                        <a:solidFill>
                          <a:srgbClr val="FFFFFF"/>
                        </a:solidFill>
                        <a:latin typeface="+mn-lt"/>
                        <a:ea typeface="+mn-ea"/>
                        <a:cs typeface="+mn-cs"/>
                      </a:endParaRPr>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hMerge="1">
                  <a:txBody>
                    <a:bodyPr/>
                    <a:lstStyle/>
                    <a:p>
                      <a:pPr marL="0" indent="0" algn="ctr" defTabSz="914400" rtl="0" eaLnBrk="1" latinLnBrk="0" hangingPunct="1">
                        <a:buNone/>
                      </a:pPr>
                      <a:endParaRPr lang="en-US" sz="900" b="1" kern="1200" dirty="0">
                        <a:solidFill>
                          <a:srgbClr val="FFFFFF"/>
                        </a:solidFill>
                        <a:latin typeface="+mn-lt"/>
                        <a:ea typeface="+mn-ea"/>
                        <a:cs typeface="+mn-cs"/>
                      </a:endParaRPr>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b="1" kern="1200" dirty="0">
                        <a:solidFill>
                          <a:srgbClr val="FFFFFF"/>
                        </a:solidFill>
                        <a:latin typeface="+mn-lt"/>
                        <a:ea typeface="+mn-ea"/>
                        <a:cs typeface="+mn-cs"/>
                      </a:endParaRPr>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extLst>
                  <a:ext uri="{0D108BD9-81ED-4DB2-BD59-A6C34878D82A}">
                    <a16:rowId xmlns:a16="http://schemas.microsoft.com/office/drawing/2014/main" val="4087679154"/>
                  </a:ext>
                </a:extLst>
              </a:tr>
              <a:tr h="123444">
                <a:tc>
                  <a:txBody>
                    <a:bodyPr/>
                    <a:lstStyle/>
                    <a:p>
                      <a:pPr marL="0" indent="0" algn="ctr">
                        <a:buNone/>
                      </a:pPr>
                      <a:r>
                        <a:rPr lang="en-US" sz="900" b="1" dirty="0">
                          <a:solidFill>
                            <a:srgbClr val="FFFFFF"/>
                          </a:solidFill>
                        </a:rPr>
                        <a:t>Letter</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Arabic</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Everyday</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Academic</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rPr>
                        <a:t>Sound</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l">
                        <a:buNone/>
                      </a:pPr>
                      <a:r>
                        <a:rPr lang="en-US" sz="900" b="1" dirty="0">
                          <a:solidFill>
                            <a:srgbClr val="FFFFFF"/>
                          </a:solidFill>
                        </a:rPr>
                        <a:t>Example</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extLst>
                  <a:ext uri="{0D108BD9-81ED-4DB2-BD59-A6C34878D82A}">
                    <a16:rowId xmlns:a16="http://schemas.microsoft.com/office/drawing/2014/main" val="3764595670"/>
                  </a:ext>
                </a:extLst>
              </a:tr>
              <a:tr h="1234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dirty="0">
                          <a:solidFill>
                            <a:srgbClr val="1B2A4A"/>
                          </a:solidFill>
                        </a:rPr>
                        <a:t>C / c</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ar-EG" sz="850" dirty="0"/>
                        <a:t>س / ك</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dirty="0">
                          <a:solidFill>
                            <a:srgbClr val="1B2A4A"/>
                          </a:solidFill>
                        </a:rPr>
                        <a:t>C / c</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dirty="0">
                          <a:solidFill>
                            <a:srgbClr val="1B2A4A"/>
                          </a:solidFill>
                        </a:rPr>
                        <a:t>C / c</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dirty="0">
                          <a:solidFill>
                            <a:srgbClr val="1B2A4A"/>
                          </a:solidFill>
                        </a:rPr>
                        <a:t>/s/ or /k/</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dirty="0">
                          <a:solidFill>
                            <a:srgbClr val="1B2A4A"/>
                          </a:solidFill>
                        </a:rPr>
                        <a:t>Cinema </a:t>
                      </a:r>
                      <a:r>
                        <a:rPr lang="ar-EG" sz="850" dirty="0">
                          <a:solidFill>
                            <a:srgbClr val="1B2A4A"/>
                          </a:solidFill>
                        </a:rPr>
                        <a:t> سينما</a:t>
                      </a:r>
                      <a:r>
                        <a:rPr lang="en-US" sz="850" dirty="0">
                          <a:solidFill>
                            <a:srgbClr val="1B2A4A"/>
                          </a:solidFill>
                        </a:rPr>
                        <a:t>/ Café </a:t>
                      </a:r>
                      <a:r>
                        <a:rPr lang="ar-EG" sz="850" dirty="0">
                          <a:solidFill>
                            <a:srgbClr val="1B2A4A"/>
                          </a:solidFill>
                        </a:rPr>
                        <a:t>كافيه</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341328218"/>
                  </a:ext>
                </a:extLst>
              </a:tr>
              <a:tr h="1234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dirty="0">
                          <a:solidFill>
                            <a:srgbClr val="1B2A4A"/>
                          </a:solidFill>
                        </a:rPr>
                        <a:t>J / j</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ar-EG" sz="850" dirty="0">
                          <a:solidFill>
                            <a:srgbClr val="1B2A4A"/>
                          </a:solidFill>
                        </a:rPr>
                        <a:t>چ</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dirty="0">
                          <a:solidFill>
                            <a:srgbClr val="1B2A4A"/>
                          </a:solidFill>
                        </a:rPr>
                        <a:t>J / j</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dirty="0">
                          <a:solidFill>
                            <a:srgbClr val="1B2A4A"/>
                          </a:solidFill>
                        </a:rPr>
                        <a:t>J / j</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850" dirty="0"/>
                        <a:t>/</a:t>
                      </a:r>
                      <a:r>
                        <a:rPr lang="en-US" sz="850" dirty="0" err="1"/>
                        <a:t>d͡ʒ</a:t>
                      </a:r>
                      <a:r>
                        <a:rPr lang="en-US" sz="850" dirty="0"/>
                        <a:t>/</a:t>
                      </a:r>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dirty="0">
                          <a:solidFill>
                            <a:srgbClr val="1B2A4A"/>
                          </a:solidFill>
                        </a:rPr>
                        <a:t>Jacket </a:t>
                      </a:r>
                      <a:r>
                        <a:rPr lang="ar-EG" sz="850" dirty="0">
                          <a:solidFill>
                            <a:srgbClr val="1B2A4A"/>
                          </a:solidFill>
                        </a:rPr>
                        <a:t>چاكيت</a:t>
                      </a:r>
                      <a:endParaRPr lang="en-US" sz="85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extLst>
                  <a:ext uri="{0D108BD9-81ED-4DB2-BD59-A6C34878D82A}">
                    <a16:rowId xmlns:a16="http://schemas.microsoft.com/office/drawing/2014/main" val="3356171819"/>
                  </a:ext>
                </a:extLst>
              </a:tr>
            </a:tbl>
          </a:graphicData>
        </a:graphic>
      </p:graphicFrame>
      <p:sp>
        <p:nvSpPr>
          <p:cNvPr id="6" name="Shape 4"/>
          <p:cNvSpPr/>
          <p:nvPr/>
        </p:nvSpPr>
        <p:spPr>
          <a:xfrm>
            <a:off x="0" y="4937760"/>
            <a:ext cx="9144000" cy="205740"/>
          </a:xfrm>
          <a:prstGeom prst="rect">
            <a:avLst/>
          </a:prstGeom>
          <a:solidFill>
            <a:srgbClr val="1B2A4A"/>
          </a:solidFill>
          <a:ln w="12700">
            <a:solidFill>
              <a:srgbClr val="1B2A4A"/>
            </a:solidFill>
            <a:prstDash val="solid"/>
          </a:ln>
        </p:spPr>
      </p:sp>
      <p:sp>
        <p:nvSpPr>
          <p:cNvPr id="8" name="Text 5"/>
          <p:cNvSpPr/>
          <p:nvPr/>
        </p:nvSpPr>
        <p:spPr>
          <a:xfrm>
            <a:off x="0" y="4937760"/>
            <a:ext cx="9144000" cy="205740"/>
          </a:xfrm>
          <a:prstGeom prst="rect">
            <a:avLst/>
          </a:prstGeom>
          <a:noFill/>
          <a:ln/>
        </p:spPr>
        <p:txBody>
          <a:bodyPr wrap="square" lIns="0" tIns="0" rIns="0" bIns="0" rtlCol="0" anchor="ctr"/>
          <a:lstStyle/>
          <a:p>
            <a:pPr marL="0" indent="0" algn="ctr">
              <a:buNone/>
            </a:pPr>
            <a:r>
              <a:rPr lang="en-US" sz="800" dirty="0" err="1">
                <a:solidFill>
                  <a:srgbClr val="C9A84C"/>
                </a:solidFill>
              </a:rPr>
              <a:t>Maṣri</a:t>
            </a:r>
            <a:r>
              <a:rPr lang="en-US" sz="800" dirty="0">
                <a:solidFill>
                  <a:srgbClr val="C9A84C"/>
                </a:solidFill>
              </a:rPr>
              <a:t> Writing System  ·  مصري  ·  Diaa Hassouna  ·  Cairo 2026</a:t>
            </a:r>
            <a:endParaRPr lang="en-US" sz="800" dirty="0"/>
          </a:p>
        </p:txBody>
      </p:sp>
    </p:spTree>
    <p:extLst>
      <p:ext uri="{BB962C8B-B14F-4D97-AF65-F5344CB8AC3E}">
        <p14:creationId xmlns:p14="http://schemas.microsoft.com/office/powerpoint/2010/main" val="773983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365760" y="228600"/>
            <a:ext cx="1828800" cy="347472"/>
          </a:xfrm>
          <a:prstGeom prst="roundRect">
            <a:avLst/>
          </a:prstGeom>
          <a:solidFill>
            <a:srgbClr val="C9A84C"/>
          </a:solidFill>
          <a:ln w="12700">
            <a:solidFill>
              <a:srgbClr val="C9A84C"/>
            </a:solidFill>
            <a:prstDash val="solid"/>
          </a:ln>
        </p:spPr>
      </p:sp>
      <p:sp>
        <p:nvSpPr>
          <p:cNvPr id="3" name="Text 1"/>
          <p:cNvSpPr/>
          <p:nvPr/>
        </p:nvSpPr>
        <p:spPr>
          <a:xfrm>
            <a:off x="365760" y="228600"/>
            <a:ext cx="1828800" cy="347472"/>
          </a:xfrm>
          <a:prstGeom prst="rect">
            <a:avLst/>
          </a:prstGeom>
          <a:noFill/>
          <a:ln/>
        </p:spPr>
        <p:txBody>
          <a:bodyPr wrap="square" lIns="0" tIns="0" rIns="0" bIns="0" rtlCol="0" anchor="ctr"/>
          <a:lstStyle/>
          <a:p>
            <a:pPr marL="0" indent="0" algn="ctr">
              <a:buNone/>
            </a:pPr>
            <a:r>
              <a:rPr lang="en-US" sz="900" b="1" dirty="0">
                <a:solidFill>
                  <a:srgbClr val="1B2A4A"/>
                </a:solidFill>
              </a:rPr>
              <a:t>05 · VOWEL SYSTEM</a:t>
            </a:r>
            <a:endParaRPr lang="en-US" sz="900" dirty="0"/>
          </a:p>
        </p:txBody>
      </p:sp>
      <p:sp>
        <p:nvSpPr>
          <p:cNvPr id="4" name="Text 2"/>
          <p:cNvSpPr/>
          <p:nvPr/>
        </p:nvSpPr>
        <p:spPr>
          <a:xfrm>
            <a:off x="457200" y="658368"/>
            <a:ext cx="8229600" cy="594360"/>
          </a:xfrm>
          <a:prstGeom prst="rect">
            <a:avLst/>
          </a:prstGeom>
          <a:noFill/>
          <a:ln/>
        </p:spPr>
        <p:txBody>
          <a:bodyPr wrap="square" rtlCol="0" anchor="ctr"/>
          <a:lstStyle/>
          <a:p>
            <a:pPr marL="0" indent="0" algn="l">
              <a:buNone/>
            </a:pPr>
            <a:r>
              <a:rPr lang="en-US" sz="2800" b="1" dirty="0">
                <a:solidFill>
                  <a:srgbClr val="1B2A4A"/>
                </a:solidFill>
                <a:latin typeface="Georgia" pitchFamily="34" charset="0"/>
                <a:ea typeface="Georgia" pitchFamily="34" charset="-122"/>
                <a:cs typeface="Georgia" pitchFamily="34" charset="-120"/>
              </a:rPr>
              <a:t>Short · Long · Diphthongs</a:t>
            </a:r>
            <a:endParaRPr lang="en-US" sz="2800" dirty="0"/>
          </a:p>
        </p:txBody>
      </p:sp>
      <p:sp>
        <p:nvSpPr>
          <p:cNvPr id="5" name="Shape 3"/>
          <p:cNvSpPr/>
          <p:nvPr/>
        </p:nvSpPr>
        <p:spPr>
          <a:xfrm>
            <a:off x="457200" y="1325880"/>
            <a:ext cx="457200" cy="50292"/>
          </a:xfrm>
          <a:prstGeom prst="rect">
            <a:avLst/>
          </a:prstGeom>
          <a:solidFill>
            <a:srgbClr val="C9A84C"/>
          </a:solidFill>
          <a:ln w="12700">
            <a:solidFill>
              <a:srgbClr val="C9A84C"/>
            </a:solidFill>
            <a:prstDash val="solid"/>
          </a:ln>
        </p:spPr>
      </p:sp>
      <p:sp>
        <p:nvSpPr>
          <p:cNvPr id="6" name="Shape 4"/>
          <p:cNvSpPr/>
          <p:nvPr/>
        </p:nvSpPr>
        <p:spPr>
          <a:xfrm>
            <a:off x="457200" y="1463040"/>
            <a:ext cx="2651760" cy="411480"/>
          </a:xfrm>
          <a:prstGeom prst="rect">
            <a:avLst/>
          </a:prstGeom>
          <a:solidFill>
            <a:srgbClr val="1B2A4A"/>
          </a:solidFill>
          <a:ln w="12700">
            <a:solidFill>
              <a:srgbClr val="1B2A4A"/>
            </a:solidFill>
            <a:prstDash val="solid"/>
          </a:ln>
        </p:spPr>
      </p:sp>
      <p:sp>
        <p:nvSpPr>
          <p:cNvPr id="7" name="Text 5"/>
          <p:cNvSpPr/>
          <p:nvPr/>
        </p:nvSpPr>
        <p:spPr>
          <a:xfrm>
            <a:off x="457200" y="1463040"/>
            <a:ext cx="2651760" cy="411480"/>
          </a:xfrm>
          <a:prstGeom prst="rect">
            <a:avLst/>
          </a:prstGeom>
          <a:noFill/>
          <a:ln/>
        </p:spPr>
        <p:txBody>
          <a:bodyPr wrap="square" lIns="0" tIns="0" rIns="0" bIns="0" rtlCol="0" anchor="ctr"/>
          <a:lstStyle/>
          <a:p>
            <a:pPr marL="0" indent="0" algn="ctr">
              <a:buNone/>
            </a:pPr>
            <a:r>
              <a:rPr lang="en-US" sz="1100" b="1" dirty="0">
                <a:solidFill>
                  <a:srgbClr val="C9A84C"/>
                </a:solidFill>
              </a:rPr>
              <a:t>SHORT VOWELS</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4280850264"/>
              </p:ext>
            </p:extLst>
          </p:nvPr>
        </p:nvGraphicFramePr>
        <p:xfrm>
          <a:off x="457200" y="1874520"/>
          <a:ext cx="2651760" cy="1655064"/>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tblGrid>
              <a:tr h="310896">
                <a:tc>
                  <a:txBody>
                    <a:bodyPr/>
                    <a:lstStyle/>
                    <a:p>
                      <a:pPr marL="0" indent="0" algn="ctr">
                        <a:buNone/>
                      </a:pPr>
                      <a:r>
                        <a:rPr lang="en-US" sz="1050" b="1" dirty="0">
                          <a:solidFill>
                            <a:srgbClr val="FFFFFF"/>
                          </a:solidFill>
                        </a:rPr>
                        <a:t>Vowel</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2B6CB0"/>
                    </a:solidFill>
                  </a:tcPr>
                </a:tc>
                <a:tc>
                  <a:txBody>
                    <a:bodyPr/>
                    <a:lstStyle/>
                    <a:p>
                      <a:pPr marL="0" indent="0" algn="ctr">
                        <a:buNone/>
                      </a:pPr>
                      <a:r>
                        <a:rPr lang="en-US" sz="1050" b="1" dirty="0">
                          <a:solidFill>
                            <a:srgbClr val="FFFFFF"/>
                          </a:solidFill>
                        </a:rPr>
                        <a:t>Sound</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2B6CB0"/>
                    </a:solidFill>
                  </a:tcPr>
                </a:tc>
                <a:tc>
                  <a:txBody>
                    <a:bodyPr/>
                    <a:lstStyle/>
                    <a:p>
                      <a:pPr marL="0" indent="0" algn="ctr">
                        <a:buNone/>
                      </a:pPr>
                      <a:r>
                        <a:rPr lang="en-US" sz="1050" b="1" dirty="0">
                          <a:solidFill>
                            <a:srgbClr val="FFFFFF"/>
                          </a:solidFill>
                        </a:rPr>
                        <a:t>Everyday</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2B6CB0"/>
                    </a:solidFill>
                  </a:tcPr>
                </a:tc>
                <a:tc>
                  <a:txBody>
                    <a:bodyPr/>
                    <a:lstStyle/>
                    <a:p>
                      <a:pPr marL="0" indent="0" algn="ctr">
                        <a:buNone/>
                      </a:pPr>
                      <a:r>
                        <a:rPr lang="en-US" sz="1050" b="1" dirty="0">
                          <a:solidFill>
                            <a:srgbClr val="FFFFFF"/>
                          </a:solidFill>
                        </a:rPr>
                        <a:t>Academic</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2B6CB0"/>
                    </a:solidFill>
                  </a:tcPr>
                </a:tc>
                <a:extLst>
                  <a:ext uri="{0D108BD9-81ED-4DB2-BD59-A6C34878D82A}">
                    <a16:rowId xmlns:a16="http://schemas.microsoft.com/office/drawing/2014/main" val="10000"/>
                  </a:ext>
                </a:extLst>
              </a:tr>
              <a:tr h="310896">
                <a:tc>
                  <a:txBody>
                    <a:bodyPr/>
                    <a:lstStyle/>
                    <a:p>
                      <a:pPr marL="0" indent="0" algn="ctr">
                        <a:buNone/>
                      </a:pPr>
                      <a:r>
                        <a:rPr lang="en-US" sz="1050" dirty="0">
                          <a:solidFill>
                            <a:srgbClr val="1B2A4A"/>
                          </a:solidFill>
                        </a:rPr>
                        <a:t>فتحة</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050" dirty="0">
                          <a:solidFill>
                            <a:srgbClr val="1B2A4A"/>
                          </a:solidFill>
                        </a:rPr>
                        <a:t>a (short)</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050" dirty="0">
                          <a:solidFill>
                            <a:srgbClr val="1B2A4A"/>
                          </a:solidFill>
                        </a:rPr>
                        <a:t>a</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050" dirty="0">
                          <a:solidFill>
                            <a:srgbClr val="1B2A4A"/>
                          </a:solidFill>
                        </a:rPr>
                        <a:t>a</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extLst>
                  <a:ext uri="{0D108BD9-81ED-4DB2-BD59-A6C34878D82A}">
                    <a16:rowId xmlns:a16="http://schemas.microsoft.com/office/drawing/2014/main" val="10001"/>
                  </a:ext>
                </a:extLst>
              </a:tr>
              <a:tr h="310896">
                <a:tc>
                  <a:txBody>
                    <a:bodyPr/>
                    <a:lstStyle/>
                    <a:p>
                      <a:pPr marL="0" indent="0" algn="ctr">
                        <a:buNone/>
                      </a:pPr>
                      <a:r>
                        <a:rPr lang="en-US" sz="1050" dirty="0">
                          <a:solidFill>
                            <a:srgbClr val="1B2A4A"/>
                          </a:solidFill>
                        </a:rPr>
                        <a:t>ضمة</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2A4A"/>
                          </a:solidFill>
                        </a:rPr>
                        <a:t>u (short)</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2A4A"/>
                          </a:solidFill>
                        </a:rPr>
                        <a:t>u</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2A4A"/>
                          </a:solidFill>
                        </a:rPr>
                        <a:t>u</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ctr">
                        <a:buNone/>
                      </a:pPr>
                      <a:r>
                        <a:rPr lang="en-US" sz="1050" dirty="0">
                          <a:solidFill>
                            <a:srgbClr val="1B2A4A"/>
                          </a:solidFill>
                        </a:rPr>
                        <a:t>كسرة</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050" dirty="0">
                          <a:solidFill>
                            <a:srgbClr val="1B2A4A"/>
                          </a:solidFill>
                        </a:rPr>
                        <a:t>i (short)</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050" dirty="0">
                          <a:solidFill>
                            <a:srgbClr val="1B2A4A"/>
                          </a:solidFill>
                        </a:rPr>
                        <a:t>e or i</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050" dirty="0">
                          <a:solidFill>
                            <a:srgbClr val="1B2A4A"/>
                          </a:solidFill>
                        </a:rPr>
                        <a:t>i</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extLst>
                  <a:ext uri="{0D108BD9-81ED-4DB2-BD59-A6C34878D82A}">
                    <a16:rowId xmlns:a16="http://schemas.microsoft.com/office/drawing/2014/main" val="10003"/>
                  </a:ext>
                </a:extLst>
              </a:tr>
              <a:tr h="310896">
                <a:tc>
                  <a:txBody>
                    <a:bodyPr/>
                    <a:lstStyle/>
                    <a:p>
                      <a:pPr marL="0" indent="0" algn="ctr">
                        <a:buNone/>
                      </a:pPr>
                      <a:r>
                        <a:rPr lang="en-US" sz="1050" dirty="0">
                          <a:solidFill>
                            <a:srgbClr val="1B2A4A"/>
                          </a:solidFill>
                        </a:rPr>
                        <a:t>schwa</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2A4A"/>
                          </a:solidFill>
                        </a:rPr>
                        <a:t>ə</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2A4A"/>
                          </a:solidFill>
                        </a:rPr>
                        <a:t>omitted</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2A4A"/>
                          </a:solidFill>
                        </a:rPr>
                        <a:t>ə</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Shape 6"/>
          <p:cNvSpPr/>
          <p:nvPr/>
        </p:nvSpPr>
        <p:spPr>
          <a:xfrm>
            <a:off x="3291840" y="1463040"/>
            <a:ext cx="2651760" cy="411480"/>
          </a:xfrm>
          <a:prstGeom prst="rect">
            <a:avLst/>
          </a:prstGeom>
          <a:solidFill>
            <a:srgbClr val="1B2A4A"/>
          </a:solidFill>
          <a:ln w="12700">
            <a:solidFill>
              <a:srgbClr val="1B2A4A"/>
            </a:solidFill>
            <a:prstDash val="solid"/>
          </a:ln>
        </p:spPr>
      </p:sp>
      <p:sp>
        <p:nvSpPr>
          <p:cNvPr id="10" name="Text 7"/>
          <p:cNvSpPr/>
          <p:nvPr/>
        </p:nvSpPr>
        <p:spPr>
          <a:xfrm>
            <a:off x="3291840" y="1463040"/>
            <a:ext cx="2651760" cy="411480"/>
          </a:xfrm>
          <a:prstGeom prst="rect">
            <a:avLst/>
          </a:prstGeom>
          <a:noFill/>
          <a:ln/>
        </p:spPr>
        <p:txBody>
          <a:bodyPr wrap="square" lIns="0" tIns="0" rIns="0" bIns="0" rtlCol="0" anchor="ctr"/>
          <a:lstStyle/>
          <a:p>
            <a:pPr marL="0" indent="0" algn="ctr">
              <a:buNone/>
            </a:pPr>
            <a:r>
              <a:rPr lang="en-US" sz="1100" b="1" dirty="0">
                <a:solidFill>
                  <a:srgbClr val="C9A84C"/>
                </a:solidFill>
              </a:rPr>
              <a:t>LONG VOWELS</a:t>
            </a:r>
            <a:endParaRPr lang="en-US" sz="1100" dirty="0"/>
          </a:p>
        </p:txBody>
      </p:sp>
      <p:graphicFrame>
        <p:nvGraphicFramePr>
          <p:cNvPr id="15" name="Table 1"/>
          <p:cNvGraphicFramePr>
            <a:graphicFrameLocks noGrp="1"/>
          </p:cNvGraphicFramePr>
          <p:nvPr>
            <p:extLst>
              <p:ext uri="{D42A27DB-BD31-4B8C-83A1-F6EECF244321}">
                <p14:modId xmlns:p14="http://schemas.microsoft.com/office/powerpoint/2010/main" val="1807254726"/>
              </p:ext>
            </p:extLst>
          </p:nvPr>
        </p:nvGraphicFramePr>
        <p:xfrm>
          <a:off x="3291840" y="1874520"/>
          <a:ext cx="2651760" cy="1249680"/>
        </p:xfrm>
        <a:graphic>
          <a:graphicData uri="http://schemas.openxmlformats.org/drawingml/2006/table">
            <a:tbl>
              <a:tblPr/>
              <a:tblGrid>
                <a:gridCol w="64008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tblGrid>
              <a:tr h="274320">
                <a:tc>
                  <a:txBody>
                    <a:bodyPr/>
                    <a:lstStyle/>
                    <a:p>
                      <a:pPr marL="0" indent="0" algn="ctr">
                        <a:buNone/>
                      </a:pPr>
                      <a:r>
                        <a:rPr lang="en-US" sz="1100" b="1" dirty="0">
                          <a:solidFill>
                            <a:srgbClr val="FFFFFF"/>
                          </a:solidFill>
                        </a:rPr>
                        <a:t>Arabic</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2B6CB0"/>
                    </a:solidFill>
                  </a:tcPr>
                </a:tc>
                <a:tc>
                  <a:txBody>
                    <a:bodyPr/>
                    <a:lstStyle/>
                    <a:p>
                      <a:pPr marL="0" indent="0" algn="ctr">
                        <a:buNone/>
                      </a:pPr>
                      <a:r>
                        <a:rPr lang="en-US" sz="1100" b="1" dirty="0">
                          <a:solidFill>
                            <a:srgbClr val="FFFFFF"/>
                          </a:solidFill>
                        </a:rPr>
                        <a:t>Sound</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2B6CB0"/>
                    </a:solidFill>
                  </a:tcPr>
                </a:tc>
                <a:tc>
                  <a:txBody>
                    <a:bodyPr/>
                    <a:lstStyle/>
                    <a:p>
                      <a:pPr marL="0" indent="0" algn="ctr">
                        <a:buNone/>
                      </a:pPr>
                      <a:r>
                        <a:rPr lang="en-US" sz="1100" b="1" dirty="0">
                          <a:solidFill>
                            <a:srgbClr val="FFFFFF"/>
                          </a:solidFill>
                        </a:rPr>
                        <a:t>Everyday</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2B6CB0"/>
                    </a:solidFill>
                  </a:tcPr>
                </a:tc>
                <a:tc>
                  <a:txBody>
                    <a:bodyPr/>
                    <a:lstStyle/>
                    <a:p>
                      <a:pPr marL="0" indent="0" algn="ctr">
                        <a:buNone/>
                      </a:pPr>
                      <a:r>
                        <a:rPr lang="en-US" sz="1100" b="1" dirty="0">
                          <a:solidFill>
                            <a:srgbClr val="FFFFFF"/>
                          </a:solidFill>
                        </a:rPr>
                        <a:t>Academic</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2B6CB0"/>
                    </a:solidFill>
                  </a:tcPr>
                </a:tc>
                <a:extLst>
                  <a:ext uri="{0D108BD9-81ED-4DB2-BD59-A6C34878D82A}">
                    <a16:rowId xmlns:a16="http://schemas.microsoft.com/office/drawing/2014/main" val="10000"/>
                  </a:ext>
                </a:extLst>
              </a:tr>
              <a:tr h="274320">
                <a:tc>
                  <a:txBody>
                    <a:bodyPr/>
                    <a:lstStyle/>
                    <a:p>
                      <a:pPr marL="0" indent="0" algn="ctr">
                        <a:buNone/>
                      </a:pPr>
                      <a:r>
                        <a:rPr lang="en-US" sz="1100" dirty="0">
                          <a:solidFill>
                            <a:srgbClr val="1B2A4A"/>
                          </a:solidFill>
                        </a:rPr>
                        <a:t>آ / ا</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1B2A4A"/>
                          </a:solidFill>
                        </a:rPr>
                        <a:t>ā (long a)</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1B2A4A"/>
                          </a:solidFill>
                        </a:rPr>
                        <a:t>aa</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1B2A4A"/>
                          </a:solidFill>
                        </a:rPr>
                        <a:t>ā</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extLst>
                  <a:ext uri="{0D108BD9-81ED-4DB2-BD59-A6C34878D82A}">
                    <a16:rowId xmlns:a16="http://schemas.microsoft.com/office/drawing/2014/main" val="10001"/>
                  </a:ext>
                </a:extLst>
              </a:tr>
              <a:tr h="274320">
                <a:tc>
                  <a:txBody>
                    <a:bodyPr/>
                    <a:lstStyle/>
                    <a:p>
                      <a:pPr marL="0" indent="0" algn="ctr">
                        <a:buNone/>
                      </a:pPr>
                      <a:r>
                        <a:rPr lang="en-US" sz="1100" dirty="0">
                          <a:solidFill>
                            <a:srgbClr val="1B2A4A"/>
                          </a:solidFill>
                        </a:rPr>
                        <a:t>و</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A4A"/>
                          </a:solidFill>
                        </a:rPr>
                        <a:t>ū (long u)</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A4A"/>
                          </a:solidFill>
                        </a:rPr>
                        <a:t>oo</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A4A"/>
                          </a:solidFill>
                        </a:rPr>
                        <a:t>ū</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ctr">
                        <a:buNone/>
                      </a:pPr>
                      <a:r>
                        <a:rPr lang="en-US" sz="1100" dirty="0">
                          <a:solidFill>
                            <a:srgbClr val="1B2A4A"/>
                          </a:solidFill>
                        </a:rPr>
                        <a:t>ي</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1B2A4A"/>
                          </a:solidFill>
                        </a:rPr>
                        <a:t>ī (long i)</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1B2A4A"/>
                          </a:solidFill>
                        </a:rPr>
                        <a:t>ee</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1B2A4A"/>
                          </a:solidFill>
                        </a:rPr>
                        <a:t>ī</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extLst>
                  <a:ext uri="{0D108BD9-81ED-4DB2-BD59-A6C34878D82A}">
                    <a16:rowId xmlns:a16="http://schemas.microsoft.com/office/drawing/2014/main" val="10003"/>
                  </a:ext>
                </a:extLst>
              </a:tr>
            </a:tbl>
          </a:graphicData>
        </a:graphic>
      </p:graphicFrame>
      <p:sp>
        <p:nvSpPr>
          <p:cNvPr id="12" name="Shape 8"/>
          <p:cNvSpPr/>
          <p:nvPr/>
        </p:nvSpPr>
        <p:spPr>
          <a:xfrm>
            <a:off x="6126480" y="1463040"/>
            <a:ext cx="2560320" cy="411480"/>
          </a:xfrm>
          <a:prstGeom prst="rect">
            <a:avLst/>
          </a:prstGeom>
          <a:solidFill>
            <a:srgbClr val="1B2A4A"/>
          </a:solidFill>
          <a:ln w="12700">
            <a:solidFill>
              <a:srgbClr val="1B2A4A"/>
            </a:solidFill>
            <a:prstDash val="solid"/>
          </a:ln>
        </p:spPr>
      </p:sp>
      <p:sp>
        <p:nvSpPr>
          <p:cNvPr id="13" name="Text 9"/>
          <p:cNvSpPr/>
          <p:nvPr/>
        </p:nvSpPr>
        <p:spPr>
          <a:xfrm>
            <a:off x="6126480" y="1463040"/>
            <a:ext cx="2560320" cy="411480"/>
          </a:xfrm>
          <a:prstGeom prst="rect">
            <a:avLst/>
          </a:prstGeom>
          <a:noFill/>
          <a:ln/>
        </p:spPr>
        <p:txBody>
          <a:bodyPr wrap="square" lIns="0" tIns="0" rIns="0" bIns="0" rtlCol="0" anchor="ctr"/>
          <a:lstStyle/>
          <a:p>
            <a:pPr marL="0" indent="0" algn="ctr">
              <a:buNone/>
            </a:pPr>
            <a:r>
              <a:rPr lang="en-US" sz="1100" b="1" dirty="0">
                <a:solidFill>
                  <a:srgbClr val="C9A84C"/>
                </a:solidFill>
              </a:rPr>
              <a:t>DIPHTHONGS</a:t>
            </a:r>
            <a:endParaRPr lang="en-US" sz="1100" dirty="0"/>
          </a:p>
        </p:txBody>
      </p:sp>
      <p:graphicFrame>
        <p:nvGraphicFramePr>
          <p:cNvPr id="22" name="Table 2"/>
          <p:cNvGraphicFramePr>
            <a:graphicFrameLocks noGrp="1"/>
          </p:cNvGraphicFramePr>
          <p:nvPr>
            <p:extLst>
              <p:ext uri="{D42A27DB-BD31-4B8C-83A1-F6EECF244321}">
                <p14:modId xmlns:p14="http://schemas.microsoft.com/office/powerpoint/2010/main" val="1579011935"/>
              </p:ext>
            </p:extLst>
          </p:nvPr>
        </p:nvGraphicFramePr>
        <p:xfrm>
          <a:off x="6126480" y="1874520"/>
          <a:ext cx="2560320" cy="822960"/>
        </p:xfrm>
        <a:graphic>
          <a:graphicData uri="http://schemas.openxmlformats.org/drawingml/2006/table">
            <a:tbl>
              <a:tblPr/>
              <a:tblGrid>
                <a:gridCol w="8229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74320">
                <a:tc>
                  <a:txBody>
                    <a:bodyPr/>
                    <a:lstStyle/>
                    <a:p>
                      <a:pPr marL="0" indent="0" algn="ctr">
                        <a:buNone/>
                      </a:pPr>
                      <a:r>
                        <a:rPr lang="en-US" sz="1100" b="1" dirty="0">
                          <a:solidFill>
                            <a:srgbClr val="FFFFFF"/>
                          </a:solidFill>
                        </a:rPr>
                        <a:t>Arabic</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2B6CB0"/>
                    </a:solidFill>
                  </a:tcPr>
                </a:tc>
                <a:tc>
                  <a:txBody>
                    <a:bodyPr/>
                    <a:lstStyle/>
                    <a:p>
                      <a:pPr marL="0" indent="0" algn="ctr">
                        <a:buNone/>
                      </a:pPr>
                      <a:r>
                        <a:rPr lang="en-US" sz="1100" b="1" dirty="0">
                          <a:solidFill>
                            <a:srgbClr val="FFFFFF"/>
                          </a:solidFill>
                        </a:rPr>
                        <a:t>Sound</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2B6CB0"/>
                    </a:solidFill>
                  </a:tcPr>
                </a:tc>
                <a:tc>
                  <a:txBody>
                    <a:bodyPr/>
                    <a:lstStyle/>
                    <a:p>
                      <a:pPr marL="0" indent="0" algn="ctr">
                        <a:buNone/>
                      </a:pPr>
                      <a:r>
                        <a:rPr lang="en-US" sz="1100" b="1" dirty="0">
                          <a:solidFill>
                            <a:srgbClr val="FFFFFF"/>
                          </a:solidFill>
                        </a:rPr>
                        <a:t>Spelling</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2B6CB0"/>
                    </a:solidFill>
                  </a:tcPr>
                </a:tc>
                <a:extLst>
                  <a:ext uri="{0D108BD9-81ED-4DB2-BD59-A6C34878D82A}">
                    <a16:rowId xmlns:a16="http://schemas.microsoft.com/office/drawing/2014/main" val="10000"/>
                  </a:ext>
                </a:extLst>
              </a:tr>
              <a:tr h="274320">
                <a:tc>
                  <a:txBody>
                    <a:bodyPr/>
                    <a:lstStyle/>
                    <a:p>
                      <a:pPr marL="0" indent="0" algn="ctr">
                        <a:buNone/>
                      </a:pPr>
                      <a:r>
                        <a:rPr lang="en-US" sz="1100" dirty="0">
                          <a:solidFill>
                            <a:srgbClr val="1B2A4A"/>
                          </a:solidFill>
                        </a:rPr>
                        <a:t>ـَي</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1B2A4A"/>
                          </a:solidFill>
                        </a:rPr>
                        <a:t>ay / ei</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1B2A4A"/>
                          </a:solidFill>
                        </a:rPr>
                        <a:t>ay</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extLst>
                  <a:ext uri="{0D108BD9-81ED-4DB2-BD59-A6C34878D82A}">
                    <a16:rowId xmlns:a16="http://schemas.microsoft.com/office/drawing/2014/main" val="10001"/>
                  </a:ext>
                </a:extLst>
              </a:tr>
              <a:tr h="274320">
                <a:tc>
                  <a:txBody>
                    <a:bodyPr/>
                    <a:lstStyle/>
                    <a:p>
                      <a:pPr marL="0" indent="0" algn="ctr">
                        <a:buNone/>
                      </a:pPr>
                      <a:r>
                        <a:rPr lang="en-US" sz="1100" dirty="0">
                          <a:solidFill>
                            <a:srgbClr val="1B2A4A"/>
                          </a:solidFill>
                        </a:rPr>
                        <a:t>ـَو</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A4A"/>
                          </a:solidFill>
                        </a:rPr>
                        <a:t>aw / ou</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A4A"/>
                          </a:solidFill>
                        </a:rPr>
                        <a:t>aw</a:t>
                      </a:r>
                      <a:endParaRPr lang="en-US" sz="11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1" name="Shape 10"/>
          <p:cNvSpPr/>
          <p:nvPr/>
        </p:nvSpPr>
        <p:spPr>
          <a:xfrm>
            <a:off x="457200" y="3591560"/>
            <a:ext cx="8229600" cy="1005840"/>
          </a:xfrm>
          <a:prstGeom prst="rect">
            <a:avLst/>
          </a:prstGeom>
          <a:solidFill>
            <a:srgbClr val="FFFBF0"/>
          </a:solidFill>
          <a:ln w="12700">
            <a:solidFill>
              <a:srgbClr val="C9A84C"/>
            </a:solidFill>
            <a:prstDash val="solid"/>
          </a:ln>
        </p:spPr>
      </p:sp>
      <p:sp>
        <p:nvSpPr>
          <p:cNvPr id="16" name="Text 11"/>
          <p:cNvSpPr/>
          <p:nvPr/>
        </p:nvSpPr>
        <p:spPr>
          <a:xfrm>
            <a:off x="640080" y="3637280"/>
            <a:ext cx="7863840" cy="320040"/>
          </a:xfrm>
          <a:prstGeom prst="rect">
            <a:avLst/>
          </a:prstGeom>
          <a:noFill/>
          <a:ln/>
        </p:spPr>
        <p:txBody>
          <a:bodyPr wrap="square" rtlCol="0" anchor="ctr"/>
          <a:lstStyle/>
          <a:p>
            <a:pPr marL="0" indent="0">
              <a:buNone/>
            </a:pPr>
            <a:r>
              <a:rPr lang="en-US" sz="1200" b="1" dirty="0">
                <a:solidFill>
                  <a:srgbClr val="1B2A4A"/>
                </a:solidFill>
              </a:rPr>
              <a:t>📌  Short Vowel Rule</a:t>
            </a:r>
            <a:endParaRPr lang="en-US" sz="1200" dirty="0"/>
          </a:p>
        </p:txBody>
      </p:sp>
      <p:sp>
        <p:nvSpPr>
          <p:cNvPr id="17" name="Text 12"/>
          <p:cNvSpPr/>
          <p:nvPr/>
        </p:nvSpPr>
        <p:spPr>
          <a:xfrm>
            <a:off x="640080" y="3957320"/>
            <a:ext cx="7863840" cy="411480"/>
          </a:xfrm>
          <a:prstGeom prst="rect">
            <a:avLst/>
          </a:prstGeom>
          <a:noFill/>
          <a:ln/>
        </p:spPr>
        <p:txBody>
          <a:bodyPr wrap="square" rtlCol="0" anchor="ctr"/>
          <a:lstStyle/>
          <a:p>
            <a:pPr marL="0" indent="0">
              <a:buNone/>
            </a:pPr>
            <a:r>
              <a:rPr lang="en-US" sz="1100" i="1" dirty="0">
                <a:solidFill>
                  <a:srgbClr val="4A5568"/>
                </a:solidFill>
              </a:rPr>
              <a:t>Short vowels are optional in fluent writing but required in ambiguous contexts and all learning materials.</a:t>
            </a:r>
            <a:endParaRPr lang="en-US" sz="1100" dirty="0"/>
          </a:p>
        </p:txBody>
      </p:sp>
      <p:sp>
        <p:nvSpPr>
          <p:cNvPr id="18" name="Shape 13"/>
          <p:cNvSpPr/>
          <p:nvPr/>
        </p:nvSpPr>
        <p:spPr>
          <a:xfrm>
            <a:off x="0" y="4937760"/>
            <a:ext cx="9144000" cy="205740"/>
          </a:xfrm>
          <a:prstGeom prst="rect">
            <a:avLst/>
          </a:prstGeom>
          <a:solidFill>
            <a:srgbClr val="1B2A4A"/>
          </a:solidFill>
          <a:ln w="12700">
            <a:solidFill>
              <a:srgbClr val="1B2A4A"/>
            </a:solidFill>
            <a:prstDash val="solid"/>
          </a:ln>
        </p:spPr>
      </p:sp>
      <p:sp>
        <p:nvSpPr>
          <p:cNvPr id="19" name="Text 14"/>
          <p:cNvSpPr/>
          <p:nvPr/>
        </p:nvSpPr>
        <p:spPr>
          <a:xfrm>
            <a:off x="0" y="4937760"/>
            <a:ext cx="9144000" cy="205740"/>
          </a:xfrm>
          <a:prstGeom prst="rect">
            <a:avLst/>
          </a:prstGeom>
          <a:noFill/>
          <a:ln/>
        </p:spPr>
        <p:txBody>
          <a:bodyPr wrap="square" lIns="0" tIns="0" rIns="0" bIns="0" rtlCol="0" anchor="ctr"/>
          <a:lstStyle/>
          <a:p>
            <a:pPr marL="0" indent="0" algn="ctr">
              <a:buNone/>
            </a:pPr>
            <a:r>
              <a:rPr lang="en-US" sz="800" dirty="0" err="1">
                <a:solidFill>
                  <a:srgbClr val="C9A84C"/>
                </a:solidFill>
              </a:rPr>
              <a:t>Maṣri</a:t>
            </a:r>
            <a:r>
              <a:rPr lang="en-US" sz="800" dirty="0">
                <a:solidFill>
                  <a:srgbClr val="C9A84C"/>
                </a:solidFill>
              </a:rPr>
              <a:t> Writing System  ·  مصري  ·  Diaa Hassouna  ·  Cairo 2026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0F1F38"/>
        </a:solidFill>
        <a:effectLst/>
      </p:bgPr>
    </p:bg>
    <p:spTree>
      <p:nvGrpSpPr>
        <p:cNvPr id="1" name=""/>
        <p:cNvGrpSpPr/>
        <p:nvPr/>
      </p:nvGrpSpPr>
      <p:grpSpPr>
        <a:xfrm>
          <a:off x="0" y="0"/>
          <a:ext cx="0" cy="0"/>
          <a:chOff x="0" y="0"/>
          <a:chExt cx="0" cy="0"/>
        </a:xfrm>
      </p:grpSpPr>
      <p:sp>
        <p:nvSpPr>
          <p:cNvPr id="2" name="Shape 0"/>
          <p:cNvSpPr/>
          <p:nvPr/>
        </p:nvSpPr>
        <p:spPr>
          <a:xfrm>
            <a:off x="365760" y="228600"/>
            <a:ext cx="1828800" cy="347472"/>
          </a:xfrm>
          <a:prstGeom prst="roundRect">
            <a:avLst/>
          </a:prstGeom>
          <a:solidFill>
            <a:srgbClr val="C9A84C"/>
          </a:solidFill>
          <a:ln w="12700">
            <a:solidFill>
              <a:srgbClr val="C9A84C"/>
            </a:solidFill>
            <a:prstDash val="solid"/>
          </a:ln>
        </p:spPr>
      </p:sp>
      <p:sp>
        <p:nvSpPr>
          <p:cNvPr id="3" name="Text 1"/>
          <p:cNvSpPr/>
          <p:nvPr/>
        </p:nvSpPr>
        <p:spPr>
          <a:xfrm>
            <a:off x="365760" y="228600"/>
            <a:ext cx="1828800" cy="347472"/>
          </a:xfrm>
          <a:prstGeom prst="rect">
            <a:avLst/>
          </a:prstGeom>
          <a:noFill/>
          <a:ln/>
        </p:spPr>
        <p:txBody>
          <a:bodyPr wrap="square" lIns="0" tIns="0" rIns="0" bIns="0" rtlCol="0" anchor="ctr"/>
          <a:lstStyle/>
          <a:p>
            <a:pPr marL="0" indent="0" algn="ctr">
              <a:buNone/>
            </a:pPr>
            <a:r>
              <a:rPr lang="en-US" sz="900" b="1" dirty="0">
                <a:solidFill>
                  <a:srgbClr val="1B2A4A"/>
                </a:solidFill>
              </a:rPr>
              <a:t>06 · KEY RULE — ع</a:t>
            </a:r>
            <a:endParaRPr lang="en-US" sz="900" dirty="0"/>
          </a:p>
        </p:txBody>
      </p:sp>
      <p:sp>
        <p:nvSpPr>
          <p:cNvPr id="4" name="Text 2"/>
          <p:cNvSpPr/>
          <p:nvPr/>
        </p:nvSpPr>
        <p:spPr>
          <a:xfrm>
            <a:off x="457200" y="658368"/>
            <a:ext cx="8229600" cy="594360"/>
          </a:xfrm>
          <a:prstGeom prst="rect">
            <a:avLst/>
          </a:prstGeom>
          <a:noFill/>
          <a:ln/>
        </p:spPr>
        <p:txBody>
          <a:bodyPr wrap="square" rtlCol="0" anchor="ctr"/>
          <a:lstStyle/>
          <a:p>
            <a:pPr marL="0" indent="0" algn="l">
              <a:buNone/>
            </a:pPr>
            <a:r>
              <a:rPr lang="en-US" sz="2800" b="1" dirty="0">
                <a:solidFill>
                  <a:srgbClr val="FFFFFF"/>
                </a:solidFill>
                <a:latin typeface="Georgia" pitchFamily="34" charset="0"/>
                <a:ea typeface="Georgia" pitchFamily="34" charset="-122"/>
                <a:cs typeface="Georgia" pitchFamily="34" charset="-120"/>
              </a:rPr>
              <a:t>The </a:t>
            </a:r>
            <a:r>
              <a:rPr lang="en-US" sz="2800" b="1" dirty="0" err="1">
                <a:solidFill>
                  <a:srgbClr val="FFFFFF"/>
                </a:solidFill>
                <a:latin typeface="Georgia" pitchFamily="34" charset="0"/>
                <a:ea typeface="Georgia" pitchFamily="34" charset="-122"/>
                <a:cs typeface="Georgia" pitchFamily="34" charset="-120"/>
              </a:rPr>
              <a:t>عProblem</a:t>
            </a:r>
            <a:r>
              <a:rPr lang="en-US" sz="2800" b="1" dirty="0">
                <a:solidFill>
                  <a:srgbClr val="FFFFFF"/>
                </a:solidFill>
                <a:latin typeface="Georgia" pitchFamily="34" charset="0"/>
                <a:ea typeface="Georgia" pitchFamily="34" charset="-122"/>
                <a:cs typeface="Georgia" pitchFamily="34" charset="-120"/>
              </a:rPr>
              <a:t> — Most Critical Rule</a:t>
            </a:r>
            <a:endParaRPr lang="en-US" sz="2800" dirty="0"/>
          </a:p>
        </p:txBody>
      </p:sp>
      <p:sp>
        <p:nvSpPr>
          <p:cNvPr id="5" name="Shape 3"/>
          <p:cNvSpPr/>
          <p:nvPr/>
        </p:nvSpPr>
        <p:spPr>
          <a:xfrm>
            <a:off x="457200" y="1325880"/>
            <a:ext cx="457200" cy="50292"/>
          </a:xfrm>
          <a:prstGeom prst="rect">
            <a:avLst/>
          </a:prstGeom>
          <a:solidFill>
            <a:srgbClr val="C9A84C"/>
          </a:solidFill>
          <a:ln w="12700">
            <a:solidFill>
              <a:srgbClr val="C9A84C"/>
            </a:solidFill>
            <a:prstDash val="solid"/>
          </a:ln>
        </p:spPr>
      </p:sp>
      <p:sp>
        <p:nvSpPr>
          <p:cNvPr id="6" name="Shape 4"/>
          <p:cNvSpPr/>
          <p:nvPr/>
        </p:nvSpPr>
        <p:spPr>
          <a:xfrm>
            <a:off x="365760" y="1417320"/>
            <a:ext cx="2651760" cy="3291840"/>
          </a:xfrm>
          <a:prstGeom prst="rect">
            <a:avLst/>
          </a:prstGeom>
          <a:solidFill>
            <a:srgbClr val="FFFFFF">
              <a:alpha val="12000"/>
            </a:srgbClr>
          </a:solidFill>
          <a:ln w="12700">
            <a:solidFill>
              <a:srgbClr val="C9A84C"/>
            </a:solidFill>
            <a:prstDash val="solid"/>
          </a:ln>
        </p:spPr>
      </p:sp>
      <p:sp>
        <p:nvSpPr>
          <p:cNvPr id="7" name="Shape 5"/>
          <p:cNvSpPr/>
          <p:nvPr/>
        </p:nvSpPr>
        <p:spPr>
          <a:xfrm>
            <a:off x="365760" y="4251960"/>
            <a:ext cx="2651760" cy="457200"/>
          </a:xfrm>
          <a:prstGeom prst="rect">
            <a:avLst/>
          </a:prstGeom>
          <a:solidFill>
            <a:srgbClr val="C9A84C"/>
          </a:solidFill>
          <a:ln w="12700">
            <a:solidFill>
              <a:srgbClr val="C9A84C"/>
            </a:solidFill>
            <a:prstDash val="solid"/>
          </a:ln>
        </p:spPr>
      </p:sp>
      <p:sp>
        <p:nvSpPr>
          <p:cNvPr id="8" name="Text 6"/>
          <p:cNvSpPr/>
          <p:nvPr/>
        </p:nvSpPr>
        <p:spPr>
          <a:xfrm>
            <a:off x="365760" y="4251960"/>
            <a:ext cx="2651760" cy="457200"/>
          </a:xfrm>
          <a:prstGeom prst="rect">
            <a:avLst/>
          </a:prstGeom>
          <a:noFill/>
          <a:ln/>
        </p:spPr>
        <p:txBody>
          <a:bodyPr wrap="square" lIns="0" tIns="0" rIns="0" bIns="0" rtlCol="0" anchor="ctr"/>
          <a:lstStyle/>
          <a:p>
            <a:pPr marL="0" indent="0" algn="ctr">
              <a:buNone/>
            </a:pPr>
            <a:r>
              <a:rPr lang="en-US" sz="1000" b="1" dirty="0">
                <a:solidFill>
                  <a:srgbClr val="1B2A4A"/>
                </a:solidFill>
              </a:rPr>
              <a:t>TIER 1  ·  EVERYDAY</a:t>
            </a:r>
            <a:endParaRPr lang="en-US" sz="1000" dirty="0"/>
          </a:p>
        </p:txBody>
      </p:sp>
      <p:sp>
        <p:nvSpPr>
          <p:cNvPr id="9" name="Text 7"/>
          <p:cNvSpPr/>
          <p:nvPr/>
        </p:nvSpPr>
        <p:spPr>
          <a:xfrm>
            <a:off x="365760" y="1554480"/>
            <a:ext cx="2651760" cy="1828800"/>
          </a:xfrm>
          <a:prstGeom prst="rect">
            <a:avLst/>
          </a:prstGeom>
          <a:noFill/>
          <a:ln/>
        </p:spPr>
        <p:txBody>
          <a:bodyPr wrap="square" rtlCol="0" anchor="ctr"/>
          <a:lstStyle/>
          <a:p>
            <a:pPr marL="0" indent="0" algn="ctr">
              <a:buNone/>
            </a:pPr>
            <a:r>
              <a:rPr lang="en-US" sz="13000" b="1" dirty="0">
                <a:solidFill>
                  <a:srgbClr val="C9A84C"/>
                </a:solidFill>
                <a:latin typeface="Courier New" pitchFamily="34" charset="0"/>
                <a:ea typeface="Courier New" pitchFamily="34" charset="-122"/>
                <a:cs typeface="Courier New" pitchFamily="34" charset="-120"/>
              </a:rPr>
              <a:t>`</a:t>
            </a:r>
            <a:endParaRPr lang="en-US" sz="13000" dirty="0"/>
          </a:p>
        </p:txBody>
      </p:sp>
      <p:sp>
        <p:nvSpPr>
          <p:cNvPr id="10" name="Text 8"/>
          <p:cNvSpPr/>
          <p:nvPr/>
        </p:nvSpPr>
        <p:spPr>
          <a:xfrm>
            <a:off x="365760" y="3383280"/>
            <a:ext cx="2651760" cy="841248"/>
          </a:xfrm>
          <a:prstGeom prst="rect">
            <a:avLst/>
          </a:prstGeom>
          <a:noFill/>
          <a:ln/>
        </p:spPr>
        <p:txBody>
          <a:bodyPr wrap="square" rtlCol="0" anchor="ctr"/>
          <a:lstStyle/>
          <a:p>
            <a:pPr marL="0" indent="0" algn="ctr">
              <a:buNone/>
            </a:pPr>
            <a:r>
              <a:rPr lang="en-US" sz="1100" dirty="0">
                <a:solidFill>
                  <a:srgbClr val="FFFFFF"/>
                </a:solidFill>
              </a:rPr>
              <a:t>The backtick key</a:t>
            </a:r>
            <a:endParaRPr lang="en-US" sz="1100" dirty="0"/>
          </a:p>
          <a:p>
            <a:pPr marL="0" indent="0" algn="ctr">
              <a:buNone/>
            </a:pPr>
            <a:r>
              <a:rPr lang="en-US" sz="1100" dirty="0">
                <a:solidFill>
                  <a:srgbClr val="FFFFFF"/>
                </a:solidFill>
              </a:rPr>
              <a:t>(top-left on keyboard)</a:t>
            </a:r>
            <a:endParaRPr lang="en-US" sz="1100" dirty="0"/>
          </a:p>
          <a:p>
            <a:pPr marL="0" indent="0" algn="ctr">
              <a:buNone/>
            </a:pPr>
            <a:r>
              <a:rPr lang="en-US" sz="1100" dirty="0">
                <a:solidFill>
                  <a:srgbClr val="FFFFFF"/>
                </a:solidFill>
              </a:rPr>
              <a:t>represents ع</a:t>
            </a:r>
            <a:endParaRPr lang="en-US" sz="1100" dirty="0"/>
          </a:p>
        </p:txBody>
      </p:sp>
      <p:sp>
        <p:nvSpPr>
          <p:cNvPr id="11" name="Shape 9"/>
          <p:cNvSpPr/>
          <p:nvPr/>
        </p:nvSpPr>
        <p:spPr>
          <a:xfrm>
            <a:off x="3200400" y="1417320"/>
            <a:ext cx="2651760" cy="3291840"/>
          </a:xfrm>
          <a:prstGeom prst="rect">
            <a:avLst/>
          </a:prstGeom>
          <a:solidFill>
            <a:srgbClr val="FFFFFF">
              <a:alpha val="12000"/>
            </a:srgbClr>
          </a:solidFill>
          <a:ln w="12700">
            <a:solidFill>
              <a:srgbClr val="C9A84C"/>
            </a:solidFill>
            <a:prstDash val="solid"/>
          </a:ln>
        </p:spPr>
      </p:sp>
      <p:sp>
        <p:nvSpPr>
          <p:cNvPr id="12" name="Shape 10"/>
          <p:cNvSpPr/>
          <p:nvPr/>
        </p:nvSpPr>
        <p:spPr>
          <a:xfrm>
            <a:off x="3200400" y="4251960"/>
            <a:ext cx="2651760" cy="457200"/>
          </a:xfrm>
          <a:prstGeom prst="rect">
            <a:avLst/>
          </a:prstGeom>
          <a:solidFill>
            <a:srgbClr val="1B2A4A"/>
          </a:solidFill>
          <a:ln w="12700">
            <a:solidFill>
              <a:srgbClr val="1B2A4A"/>
            </a:solidFill>
            <a:prstDash val="solid"/>
          </a:ln>
        </p:spPr>
      </p:sp>
      <p:sp>
        <p:nvSpPr>
          <p:cNvPr id="13" name="Text 11"/>
          <p:cNvSpPr/>
          <p:nvPr/>
        </p:nvSpPr>
        <p:spPr>
          <a:xfrm>
            <a:off x="3200400" y="4251960"/>
            <a:ext cx="2651760" cy="457200"/>
          </a:xfrm>
          <a:prstGeom prst="rect">
            <a:avLst/>
          </a:prstGeom>
          <a:noFill/>
          <a:ln/>
        </p:spPr>
        <p:txBody>
          <a:bodyPr wrap="square" lIns="0" tIns="0" rIns="0" bIns="0" rtlCol="0" anchor="ctr"/>
          <a:lstStyle/>
          <a:p>
            <a:pPr marL="0" indent="0" algn="ctr">
              <a:buNone/>
            </a:pPr>
            <a:r>
              <a:rPr lang="en-US" sz="1000" b="1" dirty="0">
                <a:solidFill>
                  <a:srgbClr val="C9A84C"/>
                </a:solidFill>
              </a:rPr>
              <a:t>TIER 2  ·  ACADEMIC</a:t>
            </a:r>
            <a:endParaRPr lang="en-US" sz="1000" dirty="0"/>
          </a:p>
        </p:txBody>
      </p:sp>
      <p:sp>
        <p:nvSpPr>
          <p:cNvPr id="14" name="Text 12"/>
          <p:cNvSpPr/>
          <p:nvPr/>
        </p:nvSpPr>
        <p:spPr>
          <a:xfrm>
            <a:off x="3200400" y="1554480"/>
            <a:ext cx="2651760" cy="1828800"/>
          </a:xfrm>
          <a:prstGeom prst="rect">
            <a:avLst/>
          </a:prstGeom>
          <a:noFill/>
          <a:ln/>
        </p:spPr>
        <p:txBody>
          <a:bodyPr wrap="square" rtlCol="0" anchor="ctr"/>
          <a:lstStyle/>
          <a:p>
            <a:pPr marL="0" indent="0" algn="ctr">
              <a:buNone/>
            </a:pPr>
            <a:r>
              <a:rPr lang="en-US" sz="11000" b="1" dirty="0">
                <a:solidFill>
                  <a:srgbClr val="E8C96A"/>
                </a:solidFill>
              </a:rPr>
              <a:t>Ⲵ</a:t>
            </a:r>
            <a:endParaRPr lang="en-US" sz="11000" dirty="0"/>
          </a:p>
        </p:txBody>
      </p:sp>
      <p:sp>
        <p:nvSpPr>
          <p:cNvPr id="15" name="Text 13"/>
          <p:cNvSpPr/>
          <p:nvPr/>
        </p:nvSpPr>
        <p:spPr>
          <a:xfrm>
            <a:off x="3200400" y="3383280"/>
            <a:ext cx="2651760" cy="841248"/>
          </a:xfrm>
          <a:prstGeom prst="rect">
            <a:avLst/>
          </a:prstGeom>
          <a:noFill/>
          <a:ln/>
        </p:spPr>
        <p:txBody>
          <a:bodyPr wrap="square" rtlCol="0" anchor="ctr"/>
          <a:lstStyle/>
          <a:p>
            <a:pPr marL="0" indent="0" algn="ctr">
              <a:buNone/>
            </a:pPr>
            <a:r>
              <a:rPr lang="en-US" sz="1100" dirty="0">
                <a:solidFill>
                  <a:srgbClr val="FFFFFF"/>
                </a:solidFill>
              </a:rPr>
              <a:t>Old Coptic Ain</a:t>
            </a:r>
            <a:endParaRPr lang="en-US" sz="1100" dirty="0"/>
          </a:p>
          <a:p>
            <a:pPr marL="0" indent="0" algn="ctr">
              <a:buNone/>
            </a:pPr>
            <a:r>
              <a:rPr lang="en-US" sz="1100" dirty="0">
                <a:solidFill>
                  <a:srgbClr val="FFFFFF"/>
                </a:solidFill>
              </a:rPr>
              <a:t>U+2CB4</a:t>
            </a:r>
            <a:endParaRPr lang="en-US" sz="1100" dirty="0"/>
          </a:p>
          <a:p>
            <a:pPr marL="0" indent="0" algn="ctr">
              <a:buNone/>
            </a:pPr>
            <a:r>
              <a:rPr lang="en-US" sz="1100" dirty="0">
                <a:solidFill>
                  <a:srgbClr val="FFFFFF"/>
                </a:solidFill>
              </a:rPr>
              <a:t>represents ع</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989320" y="1417320"/>
          <a:ext cx="2880360" cy="2820012"/>
        </p:xfrm>
        <a:graphic>
          <a:graphicData uri="http://schemas.openxmlformats.org/drawingml/2006/table">
            <a:tbl>
              <a:tblPr/>
              <a:tblGrid>
                <a:gridCol w="105156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658368">
                  <a:extLst>
                    <a:ext uri="{9D8B030D-6E8A-4147-A177-3AD203B41FA5}">
                      <a16:colId xmlns:a16="http://schemas.microsoft.com/office/drawing/2014/main" val="20002"/>
                    </a:ext>
                  </a:extLst>
                </a:gridCol>
                <a:gridCol w="621792">
                  <a:extLst>
                    <a:ext uri="{9D8B030D-6E8A-4147-A177-3AD203B41FA5}">
                      <a16:colId xmlns:a16="http://schemas.microsoft.com/office/drawing/2014/main" val="20003"/>
                    </a:ext>
                  </a:extLst>
                </a:gridCol>
              </a:tblGrid>
              <a:tr h="470002">
                <a:tc>
                  <a:txBody>
                    <a:bodyPr/>
                    <a:lstStyle/>
                    <a:p>
                      <a:pPr marL="0" indent="0" algn="l">
                        <a:buNone/>
                      </a:pPr>
                      <a:r>
                        <a:rPr lang="en-US" sz="1000" b="1" dirty="0">
                          <a:solidFill>
                            <a:srgbClr val="1B2A4A"/>
                          </a:solidFill>
                        </a:rPr>
                        <a:t>Arabic</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C9A84C"/>
                    </a:solidFill>
                  </a:tcPr>
                </a:tc>
                <a:tc>
                  <a:txBody>
                    <a:bodyPr/>
                    <a:lstStyle/>
                    <a:p>
                      <a:pPr marL="0" indent="0" algn="ctr">
                        <a:buNone/>
                      </a:pPr>
                      <a:r>
                        <a:rPr lang="en-US" sz="1000" b="1" dirty="0">
                          <a:solidFill>
                            <a:srgbClr val="1B2A4A"/>
                          </a:solidFill>
                        </a:rPr>
                        <a:t>Wrong ✗</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C9A84C"/>
                    </a:solidFill>
                  </a:tcPr>
                </a:tc>
                <a:tc>
                  <a:txBody>
                    <a:bodyPr/>
                    <a:lstStyle/>
                    <a:p>
                      <a:pPr marL="0" indent="0" algn="ctr">
                        <a:buNone/>
                      </a:pPr>
                      <a:r>
                        <a:rPr lang="en-US" sz="1000" b="1" dirty="0">
                          <a:solidFill>
                            <a:srgbClr val="1B2A4A"/>
                          </a:solidFill>
                        </a:rPr>
                        <a:t>Tier 1 `</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C9A84C"/>
                    </a:solidFill>
                  </a:tcPr>
                </a:tc>
                <a:tc>
                  <a:txBody>
                    <a:bodyPr/>
                    <a:lstStyle/>
                    <a:p>
                      <a:pPr marL="0" indent="0" algn="ctr">
                        <a:buNone/>
                      </a:pPr>
                      <a:r>
                        <a:rPr lang="en-US" sz="1000" b="1" dirty="0">
                          <a:solidFill>
                            <a:srgbClr val="1B2A4A"/>
                          </a:solidFill>
                        </a:rPr>
                        <a:t>Tier 2 Ⲵ</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C9A84C"/>
                    </a:solidFill>
                  </a:tcPr>
                </a:tc>
                <a:extLst>
                  <a:ext uri="{0D108BD9-81ED-4DB2-BD59-A6C34878D82A}">
                    <a16:rowId xmlns:a16="http://schemas.microsoft.com/office/drawing/2014/main" val="10000"/>
                  </a:ext>
                </a:extLst>
              </a:tr>
              <a:tr h="470002">
                <a:tc>
                  <a:txBody>
                    <a:bodyPr/>
                    <a:lstStyle/>
                    <a:p>
                      <a:pPr marL="0" indent="0" algn="l">
                        <a:buNone/>
                      </a:pPr>
                      <a:r>
                        <a:rPr lang="en-US" sz="1000" dirty="0">
                          <a:solidFill>
                            <a:srgbClr val="FFFFFF"/>
                          </a:solidFill>
                        </a:rPr>
                        <a:t>عارف  knowing</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52840"/>
                    </a:solidFill>
                  </a:tcPr>
                </a:tc>
                <a:tc>
                  <a:txBody>
                    <a:bodyPr/>
                    <a:lstStyle/>
                    <a:p>
                      <a:pPr marL="0" indent="0" algn="ctr">
                        <a:buNone/>
                      </a:pPr>
                      <a:r>
                        <a:rPr lang="en-US" sz="1000" dirty="0">
                          <a:solidFill>
                            <a:srgbClr val="FF6666"/>
                          </a:solidFill>
                        </a:rPr>
                        <a:t>aref</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52840"/>
                    </a:solidFill>
                  </a:tcPr>
                </a:tc>
                <a:tc>
                  <a:txBody>
                    <a:bodyPr/>
                    <a:lstStyle/>
                    <a:p>
                      <a:pPr marL="0" indent="0" algn="ctr">
                        <a:buNone/>
                      </a:pPr>
                      <a:r>
                        <a:rPr lang="en-US" sz="1000" dirty="0">
                          <a:solidFill>
                            <a:srgbClr val="E8C96A"/>
                          </a:solidFill>
                        </a:rPr>
                        <a:t>`aref</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52840"/>
                    </a:solidFill>
                  </a:tcPr>
                </a:tc>
                <a:tc>
                  <a:txBody>
                    <a:bodyPr/>
                    <a:lstStyle/>
                    <a:p>
                      <a:pPr marL="0" indent="0" algn="ctr">
                        <a:buNone/>
                      </a:pPr>
                      <a:r>
                        <a:rPr lang="en-US" sz="1000" dirty="0">
                          <a:solidFill>
                            <a:srgbClr val="C9A84C"/>
                          </a:solidFill>
                        </a:rPr>
                        <a:t>Ⲵaref</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52840"/>
                    </a:solidFill>
                  </a:tcPr>
                </a:tc>
                <a:extLst>
                  <a:ext uri="{0D108BD9-81ED-4DB2-BD59-A6C34878D82A}">
                    <a16:rowId xmlns:a16="http://schemas.microsoft.com/office/drawing/2014/main" val="10001"/>
                  </a:ext>
                </a:extLst>
              </a:tr>
              <a:tr h="470002">
                <a:tc>
                  <a:txBody>
                    <a:bodyPr/>
                    <a:lstStyle/>
                    <a:p>
                      <a:pPr marL="0" indent="0" algn="l">
                        <a:buNone/>
                      </a:pPr>
                      <a:r>
                        <a:rPr lang="en-US" sz="1000" dirty="0">
                          <a:solidFill>
                            <a:srgbClr val="FFFFFF"/>
                          </a:solidFill>
                        </a:rPr>
                        <a:t>بعدين  after</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A3050"/>
                    </a:solidFill>
                  </a:tcPr>
                </a:tc>
                <a:tc>
                  <a:txBody>
                    <a:bodyPr/>
                    <a:lstStyle/>
                    <a:p>
                      <a:pPr marL="0" indent="0" algn="ctr">
                        <a:buNone/>
                      </a:pPr>
                      <a:r>
                        <a:rPr lang="en-US" sz="1000" dirty="0">
                          <a:solidFill>
                            <a:srgbClr val="FF6666"/>
                          </a:solidFill>
                        </a:rPr>
                        <a:t>badeen</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A3050"/>
                    </a:solidFill>
                  </a:tcPr>
                </a:tc>
                <a:tc>
                  <a:txBody>
                    <a:bodyPr/>
                    <a:lstStyle/>
                    <a:p>
                      <a:pPr marL="0" indent="0" algn="ctr">
                        <a:buNone/>
                      </a:pPr>
                      <a:r>
                        <a:rPr lang="en-US" sz="1000" dirty="0">
                          <a:solidFill>
                            <a:srgbClr val="E8C96A"/>
                          </a:solidFill>
                        </a:rPr>
                        <a:t>ba`deen</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A3050"/>
                    </a:solidFill>
                  </a:tcPr>
                </a:tc>
                <a:tc>
                  <a:txBody>
                    <a:bodyPr/>
                    <a:lstStyle/>
                    <a:p>
                      <a:pPr marL="0" indent="0" algn="ctr">
                        <a:buNone/>
                      </a:pPr>
                      <a:r>
                        <a:rPr lang="en-US" sz="1000" dirty="0">
                          <a:solidFill>
                            <a:srgbClr val="C9A84C"/>
                          </a:solidFill>
                        </a:rPr>
                        <a:t>baⲴdeen</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A3050"/>
                    </a:solidFill>
                  </a:tcPr>
                </a:tc>
                <a:extLst>
                  <a:ext uri="{0D108BD9-81ED-4DB2-BD59-A6C34878D82A}">
                    <a16:rowId xmlns:a16="http://schemas.microsoft.com/office/drawing/2014/main" val="10002"/>
                  </a:ext>
                </a:extLst>
              </a:tr>
              <a:tr h="470002">
                <a:tc>
                  <a:txBody>
                    <a:bodyPr/>
                    <a:lstStyle/>
                    <a:p>
                      <a:pPr marL="0" indent="0" algn="l">
                        <a:buNone/>
                      </a:pPr>
                      <a:r>
                        <a:rPr lang="en-US" sz="1000" dirty="0">
                          <a:solidFill>
                            <a:srgbClr val="FFFFFF"/>
                          </a:solidFill>
                        </a:rPr>
                        <a:t>عشان  because</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52840"/>
                    </a:solidFill>
                  </a:tcPr>
                </a:tc>
                <a:tc>
                  <a:txBody>
                    <a:bodyPr/>
                    <a:lstStyle/>
                    <a:p>
                      <a:pPr marL="0" indent="0" algn="ctr">
                        <a:buNone/>
                      </a:pPr>
                      <a:r>
                        <a:rPr lang="en-US" sz="1000" dirty="0">
                          <a:solidFill>
                            <a:srgbClr val="FF6666"/>
                          </a:solidFill>
                        </a:rPr>
                        <a:t>ashan</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52840"/>
                    </a:solidFill>
                  </a:tcPr>
                </a:tc>
                <a:tc>
                  <a:txBody>
                    <a:bodyPr/>
                    <a:lstStyle/>
                    <a:p>
                      <a:pPr marL="0" indent="0" algn="ctr">
                        <a:buNone/>
                      </a:pPr>
                      <a:r>
                        <a:rPr lang="en-US" sz="1000" dirty="0">
                          <a:solidFill>
                            <a:srgbClr val="E8C96A"/>
                          </a:solidFill>
                        </a:rPr>
                        <a:t>`ashan</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52840"/>
                    </a:solidFill>
                  </a:tcPr>
                </a:tc>
                <a:tc>
                  <a:txBody>
                    <a:bodyPr/>
                    <a:lstStyle/>
                    <a:p>
                      <a:pPr marL="0" indent="0" algn="ctr">
                        <a:buNone/>
                      </a:pPr>
                      <a:r>
                        <a:rPr lang="en-US" sz="1000" dirty="0">
                          <a:solidFill>
                            <a:srgbClr val="C9A84C"/>
                          </a:solidFill>
                        </a:rPr>
                        <a:t>Ⲵaϣan</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52840"/>
                    </a:solidFill>
                  </a:tcPr>
                </a:tc>
                <a:extLst>
                  <a:ext uri="{0D108BD9-81ED-4DB2-BD59-A6C34878D82A}">
                    <a16:rowId xmlns:a16="http://schemas.microsoft.com/office/drawing/2014/main" val="10003"/>
                  </a:ext>
                </a:extLst>
              </a:tr>
              <a:tr h="470002">
                <a:tc>
                  <a:txBody>
                    <a:bodyPr/>
                    <a:lstStyle/>
                    <a:p>
                      <a:pPr marL="0" indent="0" algn="l">
                        <a:buNone/>
                      </a:pPr>
                      <a:r>
                        <a:rPr lang="en-US" sz="1000" dirty="0">
                          <a:solidFill>
                            <a:srgbClr val="FFFFFF"/>
                          </a:solidFill>
                        </a:rPr>
                        <a:t>على  on</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A3050"/>
                    </a:solidFill>
                  </a:tcPr>
                </a:tc>
                <a:tc>
                  <a:txBody>
                    <a:bodyPr/>
                    <a:lstStyle/>
                    <a:p>
                      <a:pPr marL="0" indent="0" algn="ctr">
                        <a:buNone/>
                      </a:pPr>
                      <a:r>
                        <a:rPr lang="en-US" sz="1000" dirty="0">
                          <a:solidFill>
                            <a:srgbClr val="FF6666"/>
                          </a:solidFill>
                        </a:rPr>
                        <a:t>ala</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A3050"/>
                    </a:solidFill>
                  </a:tcPr>
                </a:tc>
                <a:tc>
                  <a:txBody>
                    <a:bodyPr/>
                    <a:lstStyle/>
                    <a:p>
                      <a:pPr marL="0" indent="0" algn="ctr">
                        <a:buNone/>
                      </a:pPr>
                      <a:r>
                        <a:rPr lang="en-US" sz="1000" dirty="0">
                          <a:solidFill>
                            <a:srgbClr val="E8C96A"/>
                          </a:solidFill>
                        </a:rPr>
                        <a:t>`ala</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A3050"/>
                    </a:solidFill>
                  </a:tcPr>
                </a:tc>
                <a:tc>
                  <a:txBody>
                    <a:bodyPr/>
                    <a:lstStyle/>
                    <a:p>
                      <a:pPr marL="0" indent="0" algn="ctr">
                        <a:buNone/>
                      </a:pPr>
                      <a:r>
                        <a:rPr lang="en-US" sz="1000" dirty="0">
                          <a:solidFill>
                            <a:srgbClr val="C9A84C"/>
                          </a:solidFill>
                        </a:rPr>
                        <a:t>Ⲵala</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A3050"/>
                    </a:solidFill>
                  </a:tcPr>
                </a:tc>
                <a:extLst>
                  <a:ext uri="{0D108BD9-81ED-4DB2-BD59-A6C34878D82A}">
                    <a16:rowId xmlns:a16="http://schemas.microsoft.com/office/drawing/2014/main" val="10004"/>
                  </a:ext>
                </a:extLst>
              </a:tr>
              <a:tr h="470002">
                <a:tc>
                  <a:txBody>
                    <a:bodyPr/>
                    <a:lstStyle/>
                    <a:p>
                      <a:pPr marL="0" indent="0" algn="l">
                        <a:buNone/>
                      </a:pPr>
                      <a:r>
                        <a:rPr lang="en-US" sz="1000" dirty="0">
                          <a:solidFill>
                            <a:srgbClr val="FFFFFF"/>
                          </a:solidFill>
                        </a:rPr>
                        <a:t>معاك  with you</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52840"/>
                    </a:solidFill>
                  </a:tcPr>
                </a:tc>
                <a:tc>
                  <a:txBody>
                    <a:bodyPr/>
                    <a:lstStyle/>
                    <a:p>
                      <a:pPr marL="0" indent="0" algn="ctr">
                        <a:buNone/>
                      </a:pPr>
                      <a:r>
                        <a:rPr lang="en-US" sz="1000" dirty="0">
                          <a:solidFill>
                            <a:srgbClr val="FF6666"/>
                          </a:solidFill>
                        </a:rPr>
                        <a:t>maak</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52840"/>
                    </a:solidFill>
                  </a:tcPr>
                </a:tc>
                <a:tc>
                  <a:txBody>
                    <a:bodyPr/>
                    <a:lstStyle/>
                    <a:p>
                      <a:pPr marL="0" indent="0" algn="ctr">
                        <a:buNone/>
                      </a:pPr>
                      <a:r>
                        <a:rPr lang="en-US" sz="1000" dirty="0">
                          <a:solidFill>
                            <a:srgbClr val="E8C96A"/>
                          </a:solidFill>
                        </a:rPr>
                        <a:t>ma`ak</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52840"/>
                    </a:solidFill>
                  </a:tcPr>
                </a:tc>
                <a:tc>
                  <a:txBody>
                    <a:bodyPr/>
                    <a:lstStyle/>
                    <a:p>
                      <a:pPr marL="0" indent="0" algn="ctr">
                        <a:buNone/>
                      </a:pPr>
                      <a:r>
                        <a:rPr lang="en-US" sz="1000" dirty="0">
                          <a:solidFill>
                            <a:srgbClr val="C9A84C"/>
                          </a:solidFill>
                        </a:rPr>
                        <a:t>maⲴak</a:t>
                      </a:r>
                      <a:endParaRPr lang="en-US" sz="1000" dirty="0"/>
                    </a:p>
                  </a:txBody>
                  <a:tcPr anchor="ctr">
                    <a:lnL w="3810" cap="flat" cmpd="sng" algn="ctr">
                      <a:solidFill>
                        <a:srgbClr val="3A5070"/>
                      </a:solidFill>
                      <a:prstDash val="solid"/>
                      <a:round/>
                      <a:headEnd type="none" w="med" len="med"/>
                      <a:tailEnd type="none" w="med" len="med"/>
                    </a:lnL>
                    <a:lnR w="3810" cap="flat" cmpd="sng" algn="ctr">
                      <a:solidFill>
                        <a:srgbClr val="3A5070"/>
                      </a:solidFill>
                      <a:prstDash val="solid"/>
                      <a:round/>
                      <a:headEnd type="none" w="med" len="med"/>
                      <a:tailEnd type="none" w="med" len="med"/>
                    </a:lnR>
                    <a:lnT w="3810" cap="flat" cmpd="sng" algn="ctr">
                      <a:solidFill>
                        <a:srgbClr val="3A5070"/>
                      </a:solidFill>
                      <a:prstDash val="solid"/>
                      <a:round/>
                      <a:headEnd type="none" w="med" len="med"/>
                      <a:tailEnd type="none" w="med" len="med"/>
                    </a:lnT>
                    <a:lnB w="3810" cap="flat" cmpd="sng" algn="ctr">
                      <a:solidFill>
                        <a:srgbClr val="3A5070"/>
                      </a:solidFill>
                      <a:prstDash val="solid"/>
                      <a:round/>
                      <a:headEnd type="none" w="med" len="med"/>
                      <a:tailEnd type="none" w="med" len="med"/>
                    </a:lnB>
                    <a:solidFill>
                      <a:srgbClr val="152840"/>
                    </a:solidFill>
                  </a:tcPr>
                </a:tc>
                <a:extLst>
                  <a:ext uri="{0D108BD9-81ED-4DB2-BD59-A6C34878D82A}">
                    <a16:rowId xmlns:a16="http://schemas.microsoft.com/office/drawing/2014/main" val="10005"/>
                  </a:ext>
                </a:extLst>
              </a:tr>
            </a:tbl>
          </a:graphicData>
        </a:graphic>
      </p:graphicFrame>
      <p:sp>
        <p:nvSpPr>
          <p:cNvPr id="17" name="Shape 14"/>
          <p:cNvSpPr/>
          <p:nvPr/>
        </p:nvSpPr>
        <p:spPr>
          <a:xfrm>
            <a:off x="0" y="4937760"/>
            <a:ext cx="9144000" cy="205740"/>
          </a:xfrm>
          <a:prstGeom prst="rect">
            <a:avLst/>
          </a:prstGeom>
          <a:solidFill>
            <a:srgbClr val="1B2A4A"/>
          </a:solidFill>
          <a:ln w="12700">
            <a:solidFill>
              <a:srgbClr val="1B2A4A"/>
            </a:solidFill>
            <a:prstDash val="solid"/>
          </a:ln>
        </p:spPr>
      </p:sp>
      <p:sp>
        <p:nvSpPr>
          <p:cNvPr id="18" name="Text 15"/>
          <p:cNvSpPr/>
          <p:nvPr/>
        </p:nvSpPr>
        <p:spPr>
          <a:xfrm>
            <a:off x="0" y="4937760"/>
            <a:ext cx="9144000" cy="205740"/>
          </a:xfrm>
          <a:prstGeom prst="rect">
            <a:avLst/>
          </a:prstGeom>
          <a:noFill/>
          <a:ln/>
        </p:spPr>
        <p:txBody>
          <a:bodyPr wrap="square" lIns="0" tIns="0" rIns="0" bIns="0" rtlCol="0" anchor="ctr"/>
          <a:lstStyle/>
          <a:p>
            <a:pPr marL="0" indent="0" algn="ctr">
              <a:buNone/>
            </a:pPr>
            <a:r>
              <a:rPr lang="en-US" sz="800" dirty="0" err="1">
                <a:solidFill>
                  <a:srgbClr val="C9A84C"/>
                </a:solidFill>
              </a:rPr>
              <a:t>Maṣri</a:t>
            </a:r>
            <a:r>
              <a:rPr lang="en-US" sz="800" dirty="0">
                <a:solidFill>
                  <a:srgbClr val="C9A84C"/>
                </a:solidFill>
              </a:rPr>
              <a:t> Writing System  ·  مصري  ·  Diaa Hassouna  ·  Cairo 2026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365760" y="228600"/>
            <a:ext cx="1828800" cy="347472"/>
          </a:xfrm>
          <a:prstGeom prst="roundRect">
            <a:avLst/>
          </a:prstGeom>
          <a:solidFill>
            <a:srgbClr val="C9A84C"/>
          </a:solidFill>
          <a:ln w="12700">
            <a:solidFill>
              <a:srgbClr val="C9A84C"/>
            </a:solidFill>
            <a:prstDash val="solid"/>
          </a:ln>
        </p:spPr>
      </p:sp>
      <p:sp>
        <p:nvSpPr>
          <p:cNvPr id="3" name="Text 1"/>
          <p:cNvSpPr/>
          <p:nvPr/>
        </p:nvSpPr>
        <p:spPr>
          <a:xfrm>
            <a:off x="365760" y="228600"/>
            <a:ext cx="1828800" cy="347472"/>
          </a:xfrm>
          <a:prstGeom prst="rect">
            <a:avLst/>
          </a:prstGeom>
          <a:noFill/>
          <a:ln/>
        </p:spPr>
        <p:txBody>
          <a:bodyPr wrap="square" lIns="0" tIns="0" rIns="0" bIns="0" rtlCol="0" anchor="ctr"/>
          <a:lstStyle/>
          <a:p>
            <a:pPr marL="0" indent="0" algn="ctr">
              <a:buNone/>
            </a:pPr>
            <a:r>
              <a:rPr lang="en-US" sz="900" b="1" dirty="0">
                <a:solidFill>
                  <a:srgbClr val="1B2A4A"/>
                </a:solidFill>
              </a:rPr>
              <a:t>06 · SPELLING RULES</a:t>
            </a:r>
            <a:endParaRPr lang="en-US" sz="900" dirty="0"/>
          </a:p>
        </p:txBody>
      </p:sp>
      <p:sp>
        <p:nvSpPr>
          <p:cNvPr id="4" name="Text 2"/>
          <p:cNvSpPr/>
          <p:nvPr/>
        </p:nvSpPr>
        <p:spPr>
          <a:xfrm>
            <a:off x="457200" y="658368"/>
            <a:ext cx="8229600" cy="594360"/>
          </a:xfrm>
          <a:prstGeom prst="rect">
            <a:avLst/>
          </a:prstGeom>
          <a:noFill/>
          <a:ln/>
        </p:spPr>
        <p:txBody>
          <a:bodyPr wrap="square" rtlCol="0" anchor="ctr"/>
          <a:lstStyle/>
          <a:p>
            <a:pPr marL="0" indent="0" algn="l">
              <a:buNone/>
            </a:pPr>
            <a:r>
              <a:rPr lang="en-US" sz="2800" b="1" dirty="0">
                <a:solidFill>
                  <a:srgbClr val="1B2A4A"/>
                </a:solidFill>
                <a:latin typeface="Georgia" pitchFamily="34" charset="0"/>
                <a:ea typeface="Georgia" pitchFamily="34" charset="-122"/>
                <a:cs typeface="Georgia" pitchFamily="34" charset="-120"/>
              </a:rPr>
              <a:t>Six Core Spelling Rules</a:t>
            </a:r>
            <a:endParaRPr lang="en-US" sz="2800" dirty="0"/>
          </a:p>
        </p:txBody>
      </p:sp>
      <p:sp>
        <p:nvSpPr>
          <p:cNvPr id="5" name="Shape 3"/>
          <p:cNvSpPr/>
          <p:nvPr/>
        </p:nvSpPr>
        <p:spPr>
          <a:xfrm>
            <a:off x="457200" y="1325880"/>
            <a:ext cx="457200" cy="50292"/>
          </a:xfrm>
          <a:prstGeom prst="rect">
            <a:avLst/>
          </a:prstGeom>
          <a:solidFill>
            <a:srgbClr val="C9A84C"/>
          </a:solidFill>
          <a:ln w="12700">
            <a:solidFill>
              <a:srgbClr val="C9A84C"/>
            </a:solidFill>
            <a:prstDash val="solid"/>
          </a:ln>
        </p:spPr>
      </p:sp>
      <p:sp>
        <p:nvSpPr>
          <p:cNvPr id="6" name="Shape 4"/>
          <p:cNvSpPr/>
          <p:nvPr/>
        </p:nvSpPr>
        <p:spPr>
          <a:xfrm>
            <a:off x="457200" y="1508760"/>
            <a:ext cx="2560320" cy="1463040"/>
          </a:xfrm>
          <a:prstGeom prst="rect">
            <a:avLst/>
          </a:prstGeom>
          <a:solidFill>
            <a:srgbClr val="FFFFFF"/>
          </a:solidFill>
          <a:ln w="12700">
            <a:solidFill>
              <a:srgbClr val="D6E4F7"/>
            </a:solidFill>
            <a:prstDash val="solid"/>
          </a:ln>
          <a:effectLst>
            <a:outerShdw blurRad="63500" dist="25400" dir="8100000" algn="bl" rotWithShape="0">
              <a:srgbClr val="AAAAAA">
                <a:alpha val="15000"/>
              </a:srgbClr>
            </a:outerShdw>
          </a:effectLst>
        </p:spPr>
      </p:sp>
      <p:sp>
        <p:nvSpPr>
          <p:cNvPr id="7" name="Shape 5"/>
          <p:cNvSpPr/>
          <p:nvPr/>
        </p:nvSpPr>
        <p:spPr>
          <a:xfrm>
            <a:off x="457200" y="1508760"/>
            <a:ext cx="475488" cy="1463040"/>
          </a:xfrm>
          <a:prstGeom prst="rect">
            <a:avLst/>
          </a:prstGeom>
          <a:solidFill>
            <a:srgbClr val="1B2A4A"/>
          </a:solidFill>
          <a:ln w="12700">
            <a:solidFill>
              <a:srgbClr val="1B2A4A"/>
            </a:solidFill>
            <a:prstDash val="solid"/>
          </a:ln>
        </p:spPr>
      </p:sp>
      <p:sp>
        <p:nvSpPr>
          <p:cNvPr id="8" name="Text 6"/>
          <p:cNvSpPr/>
          <p:nvPr/>
        </p:nvSpPr>
        <p:spPr>
          <a:xfrm>
            <a:off x="457200" y="1508760"/>
            <a:ext cx="475488" cy="1463040"/>
          </a:xfrm>
          <a:prstGeom prst="rect">
            <a:avLst/>
          </a:prstGeom>
          <a:noFill/>
          <a:ln/>
        </p:spPr>
        <p:txBody>
          <a:bodyPr wrap="square" lIns="0" tIns="0" rIns="0" bIns="0" rtlCol="0" anchor="ctr"/>
          <a:lstStyle/>
          <a:p>
            <a:pPr marL="0" indent="0" algn="ctr">
              <a:buNone/>
            </a:pPr>
            <a:r>
              <a:rPr lang="en-US" sz="1300" b="1" dirty="0">
                <a:solidFill>
                  <a:srgbClr val="C9A84C"/>
                </a:solidFill>
              </a:rPr>
              <a:t>R1</a:t>
            </a:r>
            <a:endParaRPr lang="en-US" sz="1300" dirty="0"/>
          </a:p>
        </p:txBody>
      </p:sp>
      <p:sp>
        <p:nvSpPr>
          <p:cNvPr id="9" name="Text 7"/>
          <p:cNvSpPr/>
          <p:nvPr/>
        </p:nvSpPr>
        <p:spPr>
          <a:xfrm>
            <a:off x="1005840" y="1554480"/>
            <a:ext cx="1920240" cy="347472"/>
          </a:xfrm>
          <a:prstGeom prst="rect">
            <a:avLst/>
          </a:prstGeom>
          <a:noFill/>
          <a:ln/>
        </p:spPr>
        <p:txBody>
          <a:bodyPr wrap="square" rtlCol="0" anchor="ctr"/>
          <a:lstStyle/>
          <a:p>
            <a:pPr marL="0" indent="0">
              <a:buNone/>
            </a:pPr>
            <a:r>
              <a:rPr lang="en-US" sz="1200" b="1" dirty="0">
                <a:solidFill>
                  <a:srgbClr val="1B2A4A"/>
                </a:solidFill>
              </a:rPr>
              <a:t>Gemination</a:t>
            </a:r>
            <a:endParaRPr lang="en-US" sz="1200" dirty="0"/>
          </a:p>
        </p:txBody>
      </p:sp>
      <p:sp>
        <p:nvSpPr>
          <p:cNvPr id="10" name="Text 8"/>
          <p:cNvSpPr/>
          <p:nvPr/>
        </p:nvSpPr>
        <p:spPr>
          <a:xfrm>
            <a:off x="1005840" y="1892808"/>
            <a:ext cx="1938528" cy="1005840"/>
          </a:xfrm>
          <a:prstGeom prst="rect">
            <a:avLst/>
          </a:prstGeom>
          <a:noFill/>
          <a:ln/>
        </p:spPr>
        <p:txBody>
          <a:bodyPr wrap="square" rtlCol="0" anchor="t"/>
          <a:lstStyle/>
          <a:p>
            <a:pPr marL="0" indent="0">
              <a:buNone/>
            </a:pPr>
            <a:r>
              <a:rPr lang="en-US" sz="1000" dirty="0">
                <a:solidFill>
                  <a:srgbClr val="4A5568"/>
                </a:solidFill>
              </a:rPr>
              <a:t>Doubled consonants written doubled.</a:t>
            </a:r>
            <a:endParaRPr lang="en-US" sz="1000" dirty="0"/>
          </a:p>
          <a:p>
            <a:pPr marL="0" indent="0">
              <a:buNone/>
            </a:pPr>
            <a:r>
              <a:rPr lang="en-US" sz="1000" dirty="0">
                <a:solidFill>
                  <a:srgbClr val="4A5568"/>
                </a:solidFill>
              </a:rPr>
              <a:t>حب → hobb   ·   جدا → geddan</a:t>
            </a:r>
            <a:endParaRPr lang="en-US" sz="1000" dirty="0"/>
          </a:p>
        </p:txBody>
      </p:sp>
      <p:sp>
        <p:nvSpPr>
          <p:cNvPr id="11" name="Shape 9"/>
          <p:cNvSpPr/>
          <p:nvPr/>
        </p:nvSpPr>
        <p:spPr>
          <a:xfrm>
            <a:off x="3291840" y="1508760"/>
            <a:ext cx="2560320" cy="1463040"/>
          </a:xfrm>
          <a:prstGeom prst="rect">
            <a:avLst/>
          </a:prstGeom>
          <a:solidFill>
            <a:srgbClr val="FFFFFF"/>
          </a:solidFill>
          <a:ln w="12700">
            <a:solidFill>
              <a:srgbClr val="D6E4F7"/>
            </a:solidFill>
            <a:prstDash val="solid"/>
          </a:ln>
          <a:effectLst>
            <a:outerShdw blurRad="63500" dist="25400" dir="8100000" algn="bl" rotWithShape="0">
              <a:srgbClr val="AAAAAA">
                <a:alpha val="15000"/>
              </a:srgbClr>
            </a:outerShdw>
          </a:effectLst>
        </p:spPr>
      </p:sp>
      <p:sp>
        <p:nvSpPr>
          <p:cNvPr id="12" name="Shape 10"/>
          <p:cNvSpPr/>
          <p:nvPr/>
        </p:nvSpPr>
        <p:spPr>
          <a:xfrm>
            <a:off x="3291840" y="1508760"/>
            <a:ext cx="475488" cy="1463040"/>
          </a:xfrm>
          <a:prstGeom prst="rect">
            <a:avLst/>
          </a:prstGeom>
          <a:solidFill>
            <a:srgbClr val="1B2A4A"/>
          </a:solidFill>
          <a:ln w="12700">
            <a:solidFill>
              <a:srgbClr val="1B2A4A"/>
            </a:solidFill>
            <a:prstDash val="solid"/>
          </a:ln>
        </p:spPr>
      </p:sp>
      <p:sp>
        <p:nvSpPr>
          <p:cNvPr id="13" name="Text 11"/>
          <p:cNvSpPr/>
          <p:nvPr/>
        </p:nvSpPr>
        <p:spPr>
          <a:xfrm>
            <a:off x="3291840" y="1508760"/>
            <a:ext cx="475488" cy="1463040"/>
          </a:xfrm>
          <a:prstGeom prst="rect">
            <a:avLst/>
          </a:prstGeom>
          <a:noFill/>
          <a:ln/>
        </p:spPr>
        <p:txBody>
          <a:bodyPr wrap="square" lIns="0" tIns="0" rIns="0" bIns="0" rtlCol="0" anchor="ctr"/>
          <a:lstStyle/>
          <a:p>
            <a:pPr marL="0" indent="0" algn="ctr">
              <a:buNone/>
            </a:pPr>
            <a:r>
              <a:rPr lang="en-US" sz="1300" b="1" dirty="0">
                <a:solidFill>
                  <a:srgbClr val="C9A84C"/>
                </a:solidFill>
              </a:rPr>
              <a:t>R2</a:t>
            </a:r>
            <a:endParaRPr lang="en-US" sz="1300" dirty="0"/>
          </a:p>
        </p:txBody>
      </p:sp>
      <p:sp>
        <p:nvSpPr>
          <p:cNvPr id="14" name="Text 12"/>
          <p:cNvSpPr/>
          <p:nvPr/>
        </p:nvSpPr>
        <p:spPr>
          <a:xfrm>
            <a:off x="3840480" y="1554480"/>
            <a:ext cx="1920240" cy="347472"/>
          </a:xfrm>
          <a:prstGeom prst="rect">
            <a:avLst/>
          </a:prstGeom>
          <a:noFill/>
          <a:ln/>
        </p:spPr>
        <p:txBody>
          <a:bodyPr wrap="square" rtlCol="0" anchor="ctr"/>
          <a:lstStyle/>
          <a:p>
            <a:pPr marL="0" indent="0">
              <a:buNone/>
            </a:pPr>
            <a:r>
              <a:rPr lang="en-US" sz="1200" b="1" dirty="0">
                <a:solidFill>
                  <a:srgbClr val="1B2A4A"/>
                </a:solidFill>
              </a:rPr>
              <a:t>Definite Article</a:t>
            </a:r>
            <a:endParaRPr lang="en-US" sz="1200" dirty="0"/>
          </a:p>
        </p:txBody>
      </p:sp>
      <p:sp>
        <p:nvSpPr>
          <p:cNvPr id="15" name="Text 13"/>
          <p:cNvSpPr/>
          <p:nvPr/>
        </p:nvSpPr>
        <p:spPr>
          <a:xfrm>
            <a:off x="3840480" y="1892808"/>
            <a:ext cx="1938528" cy="1005840"/>
          </a:xfrm>
          <a:prstGeom prst="rect">
            <a:avLst/>
          </a:prstGeom>
          <a:noFill/>
          <a:ln/>
        </p:spPr>
        <p:txBody>
          <a:bodyPr wrap="square" rtlCol="0" anchor="t"/>
          <a:lstStyle/>
          <a:p>
            <a:pPr marL="0" indent="0">
              <a:buNone/>
            </a:pPr>
            <a:r>
              <a:rPr lang="en-US" sz="1000" dirty="0">
                <a:solidFill>
                  <a:srgbClr val="4A5568"/>
                </a:solidFill>
              </a:rPr>
              <a:t>Always el — regardless of sun/moon.</a:t>
            </a:r>
            <a:endParaRPr lang="en-US" sz="1000" dirty="0"/>
          </a:p>
          <a:p>
            <a:pPr marL="0" indent="0">
              <a:buNone/>
            </a:pPr>
            <a:r>
              <a:rPr lang="en-US" sz="1000" dirty="0">
                <a:solidFill>
                  <a:srgbClr val="4A5568"/>
                </a:solidFill>
              </a:rPr>
              <a:t>البيت → </a:t>
            </a:r>
            <a:r>
              <a:rPr lang="en-US" sz="1000" dirty="0" err="1">
                <a:solidFill>
                  <a:srgbClr val="4A5568"/>
                </a:solidFill>
              </a:rPr>
              <a:t>el</a:t>
            </a:r>
            <a:r>
              <a:rPr lang="en-US" sz="1000" dirty="0">
                <a:solidFill>
                  <a:srgbClr val="4A5568"/>
                </a:solidFill>
              </a:rPr>
              <a:t> </a:t>
            </a:r>
            <a:r>
              <a:rPr lang="en-US" sz="1000" dirty="0" err="1">
                <a:solidFill>
                  <a:srgbClr val="4A5568"/>
                </a:solidFill>
              </a:rPr>
              <a:t>béét</a:t>
            </a:r>
            <a:r>
              <a:rPr lang="en-US" sz="1000" dirty="0">
                <a:solidFill>
                  <a:srgbClr val="4A5568"/>
                </a:solidFill>
              </a:rPr>
              <a:t>   ·   الشارع → el shaare`</a:t>
            </a:r>
            <a:endParaRPr lang="en-US" sz="1000" dirty="0"/>
          </a:p>
        </p:txBody>
      </p:sp>
      <p:sp>
        <p:nvSpPr>
          <p:cNvPr id="16" name="Shape 14"/>
          <p:cNvSpPr/>
          <p:nvPr/>
        </p:nvSpPr>
        <p:spPr>
          <a:xfrm>
            <a:off x="6126480" y="1508760"/>
            <a:ext cx="2560320" cy="1463040"/>
          </a:xfrm>
          <a:prstGeom prst="rect">
            <a:avLst/>
          </a:prstGeom>
          <a:solidFill>
            <a:srgbClr val="FFFFFF"/>
          </a:solidFill>
          <a:ln w="12700">
            <a:solidFill>
              <a:srgbClr val="D6E4F7"/>
            </a:solidFill>
            <a:prstDash val="solid"/>
          </a:ln>
          <a:effectLst>
            <a:outerShdw blurRad="63500" dist="25400" dir="8100000" algn="bl" rotWithShape="0">
              <a:srgbClr val="AAAAAA">
                <a:alpha val="15000"/>
              </a:srgbClr>
            </a:outerShdw>
          </a:effectLst>
        </p:spPr>
      </p:sp>
      <p:sp>
        <p:nvSpPr>
          <p:cNvPr id="17" name="Shape 15"/>
          <p:cNvSpPr/>
          <p:nvPr/>
        </p:nvSpPr>
        <p:spPr>
          <a:xfrm>
            <a:off x="6126480" y="1508760"/>
            <a:ext cx="475488" cy="1463040"/>
          </a:xfrm>
          <a:prstGeom prst="rect">
            <a:avLst/>
          </a:prstGeom>
          <a:solidFill>
            <a:srgbClr val="1B2A4A"/>
          </a:solidFill>
          <a:ln w="12700">
            <a:solidFill>
              <a:srgbClr val="1B2A4A"/>
            </a:solidFill>
            <a:prstDash val="solid"/>
          </a:ln>
        </p:spPr>
      </p:sp>
      <p:sp>
        <p:nvSpPr>
          <p:cNvPr id="18" name="Text 16"/>
          <p:cNvSpPr/>
          <p:nvPr/>
        </p:nvSpPr>
        <p:spPr>
          <a:xfrm>
            <a:off x="6126480" y="1508760"/>
            <a:ext cx="475488" cy="1463040"/>
          </a:xfrm>
          <a:prstGeom prst="rect">
            <a:avLst/>
          </a:prstGeom>
          <a:noFill/>
          <a:ln/>
        </p:spPr>
        <p:txBody>
          <a:bodyPr wrap="square" lIns="0" tIns="0" rIns="0" bIns="0" rtlCol="0" anchor="ctr"/>
          <a:lstStyle/>
          <a:p>
            <a:pPr marL="0" indent="0" algn="ctr">
              <a:buNone/>
            </a:pPr>
            <a:r>
              <a:rPr lang="en-US" sz="1300" b="1" dirty="0">
                <a:solidFill>
                  <a:srgbClr val="C9A84C"/>
                </a:solidFill>
              </a:rPr>
              <a:t>R3</a:t>
            </a:r>
            <a:endParaRPr lang="en-US" sz="1300" dirty="0"/>
          </a:p>
        </p:txBody>
      </p:sp>
      <p:sp>
        <p:nvSpPr>
          <p:cNvPr id="19" name="Text 17"/>
          <p:cNvSpPr/>
          <p:nvPr/>
        </p:nvSpPr>
        <p:spPr>
          <a:xfrm>
            <a:off x="6675120" y="1554480"/>
            <a:ext cx="1920240" cy="347472"/>
          </a:xfrm>
          <a:prstGeom prst="rect">
            <a:avLst/>
          </a:prstGeom>
          <a:noFill/>
          <a:ln/>
        </p:spPr>
        <p:txBody>
          <a:bodyPr wrap="square" rtlCol="0" anchor="ctr"/>
          <a:lstStyle/>
          <a:p>
            <a:pPr marL="0" indent="0">
              <a:buNone/>
            </a:pPr>
            <a:r>
              <a:rPr lang="en-US" sz="1200" b="1" dirty="0">
                <a:solidFill>
                  <a:srgbClr val="1B2A4A"/>
                </a:solidFill>
              </a:rPr>
              <a:t>Glottal Stop</a:t>
            </a:r>
            <a:endParaRPr lang="en-US" sz="1200" dirty="0"/>
          </a:p>
        </p:txBody>
      </p:sp>
      <p:sp>
        <p:nvSpPr>
          <p:cNvPr id="20" name="Text 18"/>
          <p:cNvSpPr/>
          <p:nvPr/>
        </p:nvSpPr>
        <p:spPr>
          <a:xfrm>
            <a:off x="6675120" y="1892808"/>
            <a:ext cx="1938528" cy="1005840"/>
          </a:xfrm>
          <a:prstGeom prst="rect">
            <a:avLst/>
          </a:prstGeom>
          <a:noFill/>
          <a:ln/>
        </p:spPr>
        <p:txBody>
          <a:bodyPr wrap="square" rtlCol="0" anchor="t"/>
          <a:lstStyle/>
          <a:p>
            <a:pPr marL="0" indent="0">
              <a:buNone/>
            </a:pPr>
            <a:r>
              <a:rPr lang="en-US" sz="1000" dirty="0">
                <a:solidFill>
                  <a:srgbClr val="4A5568"/>
                </a:solidFill>
              </a:rPr>
              <a:t>Silent word-initial. Written ' mid/end.</a:t>
            </a:r>
            <a:endParaRPr lang="en-US" sz="1000" dirty="0"/>
          </a:p>
          <a:p>
            <a:pPr marL="0" indent="0">
              <a:buNone/>
            </a:pPr>
            <a:r>
              <a:rPr lang="en-US" sz="1000" dirty="0">
                <a:solidFill>
                  <a:srgbClr val="4A5568"/>
                </a:solidFill>
              </a:rPr>
              <a:t>أنا → ana (not 'ana)</a:t>
            </a:r>
            <a:endParaRPr lang="en-US" sz="1000" dirty="0"/>
          </a:p>
          <a:p>
            <a:pPr marL="0" indent="0">
              <a:buNone/>
            </a:pPr>
            <a:r>
              <a:rPr lang="ar-EG" sz="1000" dirty="0">
                <a:solidFill>
                  <a:srgbClr val="4A5568"/>
                </a:solidFill>
              </a:rPr>
              <a:t>ولاء</a:t>
            </a:r>
            <a:r>
              <a:rPr lang="en-US" sz="1000" dirty="0">
                <a:solidFill>
                  <a:srgbClr val="4A5568"/>
                </a:solidFill>
              </a:rPr>
              <a:t> → </a:t>
            </a:r>
            <a:r>
              <a:rPr lang="en-US" sz="1000" dirty="0" err="1">
                <a:solidFill>
                  <a:srgbClr val="4A5568"/>
                </a:solidFill>
              </a:rPr>
              <a:t>Walaa</a:t>
            </a:r>
            <a:r>
              <a:rPr lang="en-US" sz="1000" dirty="0">
                <a:solidFill>
                  <a:srgbClr val="4A5568"/>
                </a:solidFill>
              </a:rPr>
              <a:t>'</a:t>
            </a:r>
            <a:endParaRPr lang="en-US" sz="1000" dirty="0"/>
          </a:p>
        </p:txBody>
      </p:sp>
      <p:sp>
        <p:nvSpPr>
          <p:cNvPr id="21" name="Shape 19"/>
          <p:cNvSpPr/>
          <p:nvPr/>
        </p:nvSpPr>
        <p:spPr>
          <a:xfrm>
            <a:off x="457200" y="3200400"/>
            <a:ext cx="2560320" cy="1463040"/>
          </a:xfrm>
          <a:prstGeom prst="rect">
            <a:avLst/>
          </a:prstGeom>
          <a:solidFill>
            <a:srgbClr val="FFFFFF"/>
          </a:solidFill>
          <a:ln w="12700">
            <a:solidFill>
              <a:srgbClr val="D6E4F7"/>
            </a:solidFill>
            <a:prstDash val="solid"/>
          </a:ln>
          <a:effectLst>
            <a:outerShdw blurRad="63500" dist="25400" dir="8100000" algn="bl" rotWithShape="0">
              <a:srgbClr val="AAAAAA">
                <a:alpha val="15000"/>
              </a:srgbClr>
            </a:outerShdw>
          </a:effectLst>
        </p:spPr>
      </p:sp>
      <p:sp>
        <p:nvSpPr>
          <p:cNvPr id="22" name="Shape 20"/>
          <p:cNvSpPr/>
          <p:nvPr/>
        </p:nvSpPr>
        <p:spPr>
          <a:xfrm>
            <a:off x="457200" y="3200400"/>
            <a:ext cx="475488" cy="1463040"/>
          </a:xfrm>
          <a:prstGeom prst="rect">
            <a:avLst/>
          </a:prstGeom>
          <a:solidFill>
            <a:srgbClr val="1B2A4A"/>
          </a:solidFill>
          <a:ln w="12700">
            <a:solidFill>
              <a:srgbClr val="1B2A4A"/>
            </a:solidFill>
            <a:prstDash val="solid"/>
          </a:ln>
        </p:spPr>
      </p:sp>
      <p:sp>
        <p:nvSpPr>
          <p:cNvPr id="23" name="Text 21"/>
          <p:cNvSpPr/>
          <p:nvPr/>
        </p:nvSpPr>
        <p:spPr>
          <a:xfrm>
            <a:off x="457200" y="3200400"/>
            <a:ext cx="475488" cy="1463040"/>
          </a:xfrm>
          <a:prstGeom prst="rect">
            <a:avLst/>
          </a:prstGeom>
          <a:noFill/>
          <a:ln/>
        </p:spPr>
        <p:txBody>
          <a:bodyPr wrap="square" lIns="0" tIns="0" rIns="0" bIns="0" rtlCol="0" anchor="ctr"/>
          <a:lstStyle/>
          <a:p>
            <a:pPr marL="0" indent="0" algn="ctr">
              <a:buNone/>
            </a:pPr>
            <a:r>
              <a:rPr lang="en-US" sz="1300" b="1" dirty="0">
                <a:solidFill>
                  <a:srgbClr val="C9A84C"/>
                </a:solidFill>
              </a:rPr>
              <a:t>R4</a:t>
            </a:r>
            <a:endParaRPr lang="en-US" sz="1300" dirty="0"/>
          </a:p>
        </p:txBody>
      </p:sp>
      <p:sp>
        <p:nvSpPr>
          <p:cNvPr id="24" name="Text 22"/>
          <p:cNvSpPr/>
          <p:nvPr/>
        </p:nvSpPr>
        <p:spPr>
          <a:xfrm>
            <a:off x="1005840" y="3246120"/>
            <a:ext cx="1920240" cy="347472"/>
          </a:xfrm>
          <a:prstGeom prst="rect">
            <a:avLst/>
          </a:prstGeom>
          <a:noFill/>
          <a:ln/>
        </p:spPr>
        <p:txBody>
          <a:bodyPr wrap="square" rtlCol="0" anchor="ctr"/>
          <a:lstStyle/>
          <a:p>
            <a:pPr marL="0" indent="0">
              <a:buNone/>
            </a:pPr>
            <a:r>
              <a:rPr lang="en-US" sz="1200" b="1" dirty="0">
                <a:solidFill>
                  <a:srgbClr val="1B2A4A"/>
                </a:solidFill>
              </a:rPr>
              <a:t>Digraph Integrity</a:t>
            </a:r>
            <a:endParaRPr lang="en-US" sz="1200" dirty="0"/>
          </a:p>
        </p:txBody>
      </p:sp>
      <p:sp>
        <p:nvSpPr>
          <p:cNvPr id="25" name="Text 23"/>
          <p:cNvSpPr/>
          <p:nvPr/>
        </p:nvSpPr>
        <p:spPr>
          <a:xfrm>
            <a:off x="1005840" y="3584448"/>
            <a:ext cx="1938528" cy="1005840"/>
          </a:xfrm>
          <a:prstGeom prst="rect">
            <a:avLst/>
          </a:prstGeom>
          <a:noFill/>
          <a:ln/>
        </p:spPr>
        <p:txBody>
          <a:bodyPr wrap="square" rtlCol="0" anchor="t"/>
          <a:lstStyle/>
          <a:p>
            <a:pPr marL="0" indent="0">
              <a:buNone/>
            </a:pPr>
            <a:r>
              <a:rPr lang="en-US" sz="1000" dirty="0">
                <a:solidFill>
                  <a:srgbClr val="4A5568"/>
                </a:solidFill>
              </a:rPr>
              <a:t>sh / kh / gh are unbreakable units.</a:t>
            </a:r>
            <a:endParaRPr lang="en-US" sz="1000" dirty="0"/>
          </a:p>
          <a:p>
            <a:pPr marL="0" indent="0">
              <a:buNone/>
            </a:pPr>
            <a:r>
              <a:rPr lang="en-US" sz="1000" dirty="0">
                <a:solidFill>
                  <a:srgbClr val="4A5568"/>
                </a:solidFill>
              </a:rPr>
              <a:t>مشكلة → moshkela</a:t>
            </a:r>
            <a:endParaRPr lang="en-US" sz="1000" dirty="0"/>
          </a:p>
        </p:txBody>
      </p:sp>
      <p:sp>
        <p:nvSpPr>
          <p:cNvPr id="26" name="Shape 24"/>
          <p:cNvSpPr/>
          <p:nvPr/>
        </p:nvSpPr>
        <p:spPr>
          <a:xfrm>
            <a:off x="3291840" y="3200400"/>
            <a:ext cx="2560320" cy="1463040"/>
          </a:xfrm>
          <a:prstGeom prst="rect">
            <a:avLst/>
          </a:prstGeom>
          <a:solidFill>
            <a:srgbClr val="FFFFFF"/>
          </a:solidFill>
          <a:ln w="12700">
            <a:solidFill>
              <a:srgbClr val="D6E4F7"/>
            </a:solidFill>
            <a:prstDash val="solid"/>
          </a:ln>
          <a:effectLst>
            <a:outerShdw blurRad="63500" dist="25400" dir="8100000" algn="bl" rotWithShape="0">
              <a:srgbClr val="AAAAAA">
                <a:alpha val="15000"/>
              </a:srgbClr>
            </a:outerShdw>
          </a:effectLst>
        </p:spPr>
      </p:sp>
      <p:sp>
        <p:nvSpPr>
          <p:cNvPr id="27" name="Shape 25"/>
          <p:cNvSpPr/>
          <p:nvPr/>
        </p:nvSpPr>
        <p:spPr>
          <a:xfrm>
            <a:off x="3291840" y="3200400"/>
            <a:ext cx="475488" cy="1463040"/>
          </a:xfrm>
          <a:prstGeom prst="rect">
            <a:avLst/>
          </a:prstGeom>
          <a:solidFill>
            <a:srgbClr val="1B2A4A"/>
          </a:solidFill>
          <a:ln w="12700">
            <a:solidFill>
              <a:srgbClr val="1B2A4A"/>
            </a:solidFill>
            <a:prstDash val="solid"/>
          </a:ln>
        </p:spPr>
      </p:sp>
      <p:sp>
        <p:nvSpPr>
          <p:cNvPr id="28" name="Text 26"/>
          <p:cNvSpPr/>
          <p:nvPr/>
        </p:nvSpPr>
        <p:spPr>
          <a:xfrm>
            <a:off x="3291840" y="3200400"/>
            <a:ext cx="475488" cy="1463040"/>
          </a:xfrm>
          <a:prstGeom prst="rect">
            <a:avLst/>
          </a:prstGeom>
          <a:noFill/>
          <a:ln/>
        </p:spPr>
        <p:txBody>
          <a:bodyPr wrap="square" lIns="0" tIns="0" rIns="0" bIns="0" rtlCol="0" anchor="ctr"/>
          <a:lstStyle/>
          <a:p>
            <a:pPr marL="0" indent="0" algn="ctr">
              <a:buNone/>
            </a:pPr>
            <a:r>
              <a:rPr lang="en-US" sz="1300" b="1" dirty="0">
                <a:solidFill>
                  <a:srgbClr val="C9A84C"/>
                </a:solidFill>
              </a:rPr>
              <a:t>R5</a:t>
            </a:r>
            <a:endParaRPr lang="en-US" sz="1300" dirty="0"/>
          </a:p>
        </p:txBody>
      </p:sp>
      <p:sp>
        <p:nvSpPr>
          <p:cNvPr id="29" name="Text 27"/>
          <p:cNvSpPr/>
          <p:nvPr/>
        </p:nvSpPr>
        <p:spPr>
          <a:xfrm>
            <a:off x="3840480" y="3246120"/>
            <a:ext cx="1920240" cy="347472"/>
          </a:xfrm>
          <a:prstGeom prst="rect">
            <a:avLst/>
          </a:prstGeom>
          <a:noFill/>
          <a:ln/>
        </p:spPr>
        <p:txBody>
          <a:bodyPr wrap="square" rtlCol="0" anchor="ctr"/>
          <a:lstStyle/>
          <a:p>
            <a:pPr marL="0" indent="0">
              <a:buNone/>
            </a:pPr>
            <a:r>
              <a:rPr lang="en-US" sz="1200" b="1" dirty="0">
                <a:solidFill>
                  <a:srgbClr val="1B2A4A"/>
                </a:solidFill>
              </a:rPr>
              <a:t>Cairene ق &amp; Hamza</a:t>
            </a:r>
            <a:endParaRPr lang="en-US" sz="1200" dirty="0"/>
          </a:p>
        </p:txBody>
      </p:sp>
      <p:sp>
        <p:nvSpPr>
          <p:cNvPr id="30" name="Text 28"/>
          <p:cNvSpPr/>
          <p:nvPr/>
        </p:nvSpPr>
        <p:spPr>
          <a:xfrm>
            <a:off x="3840480" y="3584448"/>
            <a:ext cx="1938528" cy="1005840"/>
          </a:xfrm>
          <a:prstGeom prst="rect">
            <a:avLst/>
          </a:prstGeom>
          <a:noFill/>
          <a:ln/>
        </p:spPr>
        <p:txBody>
          <a:bodyPr wrap="square" rtlCol="0" anchor="t"/>
          <a:lstStyle/>
          <a:p>
            <a:pPr marL="0" indent="0">
              <a:buNone/>
            </a:pPr>
            <a:r>
              <a:rPr lang="en-US" sz="1000" dirty="0">
                <a:solidFill>
                  <a:srgbClr val="4A5568"/>
                </a:solidFill>
              </a:rPr>
              <a:t>Apostrophe ' (Tier 1) or Ɐ (Tier 2).</a:t>
            </a:r>
            <a:endParaRPr lang="en-US" sz="1000" dirty="0"/>
          </a:p>
          <a:p>
            <a:pPr marL="0" indent="0">
              <a:buNone/>
            </a:pPr>
            <a:r>
              <a:rPr lang="en-US" sz="1000" dirty="0">
                <a:solidFill>
                  <a:srgbClr val="4A5568"/>
                </a:solidFill>
              </a:rPr>
              <a:t>قال → aal   ·   قرآن → Qur'an</a:t>
            </a:r>
            <a:endParaRPr lang="en-US" sz="1000" dirty="0"/>
          </a:p>
        </p:txBody>
      </p:sp>
      <p:sp>
        <p:nvSpPr>
          <p:cNvPr id="31" name="Shape 29"/>
          <p:cNvSpPr/>
          <p:nvPr/>
        </p:nvSpPr>
        <p:spPr>
          <a:xfrm>
            <a:off x="6126480" y="3200400"/>
            <a:ext cx="2560320" cy="1463040"/>
          </a:xfrm>
          <a:prstGeom prst="rect">
            <a:avLst/>
          </a:prstGeom>
          <a:solidFill>
            <a:srgbClr val="FFFFFF"/>
          </a:solidFill>
          <a:ln w="12700">
            <a:solidFill>
              <a:srgbClr val="D6E4F7"/>
            </a:solidFill>
            <a:prstDash val="solid"/>
          </a:ln>
          <a:effectLst>
            <a:outerShdw blurRad="63500" dist="25400" dir="8100000" algn="bl" rotWithShape="0">
              <a:srgbClr val="AAAAAA">
                <a:alpha val="15000"/>
              </a:srgbClr>
            </a:outerShdw>
          </a:effectLst>
        </p:spPr>
      </p:sp>
      <p:sp>
        <p:nvSpPr>
          <p:cNvPr id="32" name="Shape 30"/>
          <p:cNvSpPr/>
          <p:nvPr/>
        </p:nvSpPr>
        <p:spPr>
          <a:xfrm>
            <a:off x="6126480" y="3200400"/>
            <a:ext cx="475488" cy="1463040"/>
          </a:xfrm>
          <a:prstGeom prst="rect">
            <a:avLst/>
          </a:prstGeom>
          <a:solidFill>
            <a:srgbClr val="1B2A4A"/>
          </a:solidFill>
          <a:ln w="12700">
            <a:solidFill>
              <a:srgbClr val="1B2A4A"/>
            </a:solidFill>
            <a:prstDash val="solid"/>
          </a:ln>
        </p:spPr>
      </p:sp>
      <p:sp>
        <p:nvSpPr>
          <p:cNvPr id="33" name="Text 31"/>
          <p:cNvSpPr/>
          <p:nvPr/>
        </p:nvSpPr>
        <p:spPr>
          <a:xfrm>
            <a:off x="6126480" y="3200400"/>
            <a:ext cx="475488" cy="1463040"/>
          </a:xfrm>
          <a:prstGeom prst="rect">
            <a:avLst/>
          </a:prstGeom>
          <a:noFill/>
          <a:ln/>
        </p:spPr>
        <p:txBody>
          <a:bodyPr wrap="square" lIns="0" tIns="0" rIns="0" bIns="0" rtlCol="0" anchor="ctr"/>
          <a:lstStyle/>
          <a:p>
            <a:pPr marL="0" indent="0" algn="ctr">
              <a:buNone/>
            </a:pPr>
            <a:r>
              <a:rPr lang="en-US" sz="1300" b="1" dirty="0">
                <a:solidFill>
                  <a:srgbClr val="C9A84C"/>
                </a:solidFill>
              </a:rPr>
              <a:t>R6</a:t>
            </a:r>
            <a:endParaRPr lang="en-US" sz="1300" dirty="0"/>
          </a:p>
        </p:txBody>
      </p:sp>
      <p:sp>
        <p:nvSpPr>
          <p:cNvPr id="34" name="Text 32"/>
          <p:cNvSpPr/>
          <p:nvPr/>
        </p:nvSpPr>
        <p:spPr>
          <a:xfrm>
            <a:off x="6675120" y="3246120"/>
            <a:ext cx="1920240" cy="347472"/>
          </a:xfrm>
          <a:prstGeom prst="rect">
            <a:avLst/>
          </a:prstGeom>
          <a:noFill/>
          <a:ln/>
        </p:spPr>
        <p:txBody>
          <a:bodyPr wrap="square" rtlCol="0" anchor="ctr"/>
          <a:lstStyle/>
          <a:p>
            <a:pPr marL="0" indent="0">
              <a:buNone/>
            </a:pPr>
            <a:r>
              <a:rPr lang="en-US" sz="1200" b="1" dirty="0">
                <a:solidFill>
                  <a:srgbClr val="1B2A4A"/>
                </a:solidFill>
              </a:rPr>
              <a:t>P &amp; V Letters</a:t>
            </a:r>
            <a:endParaRPr lang="en-US" sz="1200" dirty="0"/>
          </a:p>
        </p:txBody>
      </p:sp>
      <p:sp>
        <p:nvSpPr>
          <p:cNvPr id="35" name="Text 33"/>
          <p:cNvSpPr/>
          <p:nvPr/>
        </p:nvSpPr>
        <p:spPr>
          <a:xfrm>
            <a:off x="6675120" y="3584448"/>
            <a:ext cx="1938528" cy="1005840"/>
          </a:xfrm>
          <a:prstGeom prst="rect">
            <a:avLst/>
          </a:prstGeom>
          <a:noFill/>
          <a:ln/>
        </p:spPr>
        <p:txBody>
          <a:bodyPr wrap="square" rtlCol="0" anchor="t"/>
          <a:lstStyle/>
          <a:p>
            <a:pPr marL="0" indent="0">
              <a:buNone/>
            </a:pPr>
            <a:r>
              <a:rPr lang="en-US" sz="1000" dirty="0">
                <a:solidFill>
                  <a:srgbClr val="4A5568"/>
                </a:solidFill>
              </a:rPr>
              <a:t>P ≠ B   ·   V ≠ F</a:t>
            </a:r>
            <a:endParaRPr lang="en-US" sz="1000" dirty="0"/>
          </a:p>
          <a:p>
            <a:pPr marL="0" indent="0">
              <a:buNone/>
            </a:pPr>
            <a:r>
              <a:rPr lang="en-US" sz="1000" dirty="0">
                <a:solidFill>
                  <a:srgbClr val="4A5568"/>
                </a:solidFill>
              </a:rPr>
              <a:t>Fully independent phonemes in Masri.</a:t>
            </a:r>
            <a:endParaRPr lang="en-US" sz="1000" dirty="0"/>
          </a:p>
        </p:txBody>
      </p:sp>
      <p:sp>
        <p:nvSpPr>
          <p:cNvPr id="36" name="Shape 34"/>
          <p:cNvSpPr/>
          <p:nvPr/>
        </p:nvSpPr>
        <p:spPr>
          <a:xfrm>
            <a:off x="0" y="4937760"/>
            <a:ext cx="9144000" cy="205740"/>
          </a:xfrm>
          <a:prstGeom prst="rect">
            <a:avLst/>
          </a:prstGeom>
          <a:solidFill>
            <a:srgbClr val="1B2A4A"/>
          </a:solidFill>
          <a:ln w="12700">
            <a:solidFill>
              <a:srgbClr val="1B2A4A"/>
            </a:solidFill>
            <a:prstDash val="solid"/>
          </a:ln>
        </p:spPr>
      </p:sp>
      <p:sp>
        <p:nvSpPr>
          <p:cNvPr id="37" name="Text 35"/>
          <p:cNvSpPr/>
          <p:nvPr/>
        </p:nvSpPr>
        <p:spPr>
          <a:xfrm>
            <a:off x="0" y="4937760"/>
            <a:ext cx="9144000" cy="205740"/>
          </a:xfrm>
          <a:prstGeom prst="rect">
            <a:avLst/>
          </a:prstGeom>
          <a:noFill/>
          <a:ln/>
        </p:spPr>
        <p:txBody>
          <a:bodyPr wrap="square" lIns="0" tIns="0" rIns="0" bIns="0" rtlCol="0" anchor="ctr"/>
          <a:lstStyle/>
          <a:p>
            <a:pPr marL="0" indent="0" algn="ctr">
              <a:buNone/>
            </a:pPr>
            <a:r>
              <a:rPr lang="en-US" sz="800" dirty="0" err="1">
                <a:solidFill>
                  <a:srgbClr val="C9A84C"/>
                </a:solidFill>
              </a:rPr>
              <a:t>Maṣri</a:t>
            </a:r>
            <a:r>
              <a:rPr lang="en-US" sz="800" dirty="0">
                <a:solidFill>
                  <a:srgbClr val="C9A84C"/>
                </a:solidFill>
              </a:rPr>
              <a:t> Writing System  ·  مصري  ·  Diaa Hassouna  ·  Cairo 2026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28600"/>
            <a:ext cx="1828800" cy="347472"/>
          </a:xfrm>
          <a:prstGeom prst="roundRect">
            <a:avLst/>
          </a:prstGeom>
          <a:solidFill>
            <a:srgbClr val="C9A84C"/>
          </a:solidFill>
          <a:ln w="12700">
            <a:solidFill>
              <a:srgbClr val="C9A84C"/>
            </a:solidFill>
            <a:prstDash val="solid"/>
          </a:ln>
        </p:spPr>
      </p:sp>
      <p:sp>
        <p:nvSpPr>
          <p:cNvPr id="3" name="Text 1"/>
          <p:cNvSpPr/>
          <p:nvPr/>
        </p:nvSpPr>
        <p:spPr>
          <a:xfrm>
            <a:off x="365760" y="228600"/>
            <a:ext cx="1828800" cy="347472"/>
          </a:xfrm>
          <a:prstGeom prst="rect">
            <a:avLst/>
          </a:prstGeom>
          <a:noFill/>
          <a:ln/>
        </p:spPr>
        <p:txBody>
          <a:bodyPr wrap="square" lIns="0" tIns="0" rIns="0" bIns="0" rtlCol="0" anchor="ctr"/>
          <a:lstStyle/>
          <a:p>
            <a:pPr marL="0" indent="0" algn="ctr">
              <a:buNone/>
            </a:pPr>
            <a:r>
              <a:rPr lang="en-US" sz="900" b="1" dirty="0">
                <a:solidFill>
                  <a:srgbClr val="1B2A4A"/>
                </a:solidFill>
              </a:rPr>
              <a:t>08 · LOANWORDS</a:t>
            </a:r>
            <a:endParaRPr lang="en-US" sz="900" dirty="0"/>
          </a:p>
        </p:txBody>
      </p:sp>
      <p:sp>
        <p:nvSpPr>
          <p:cNvPr id="4" name="Text 2"/>
          <p:cNvSpPr/>
          <p:nvPr/>
        </p:nvSpPr>
        <p:spPr>
          <a:xfrm>
            <a:off x="457200" y="658368"/>
            <a:ext cx="8229600" cy="594360"/>
          </a:xfrm>
          <a:prstGeom prst="rect">
            <a:avLst/>
          </a:prstGeom>
          <a:noFill/>
          <a:ln/>
        </p:spPr>
        <p:txBody>
          <a:bodyPr wrap="square" rtlCol="0" anchor="ctr"/>
          <a:lstStyle/>
          <a:p>
            <a:pPr marL="0" indent="0" algn="l">
              <a:buNone/>
            </a:pPr>
            <a:r>
              <a:rPr lang="en-US" sz="2800" b="1" dirty="0">
                <a:solidFill>
                  <a:srgbClr val="1B2A4A"/>
                </a:solidFill>
                <a:latin typeface="Georgia" pitchFamily="34" charset="0"/>
                <a:ea typeface="Georgia" pitchFamily="34" charset="-122"/>
                <a:cs typeface="Georgia" pitchFamily="34" charset="-120"/>
              </a:rPr>
              <a:t>Loanwords &amp; The P ≠ B Rule</a:t>
            </a:r>
            <a:endParaRPr lang="en-US" sz="2800" dirty="0"/>
          </a:p>
        </p:txBody>
      </p:sp>
      <p:sp>
        <p:nvSpPr>
          <p:cNvPr id="5" name="Shape 3"/>
          <p:cNvSpPr/>
          <p:nvPr/>
        </p:nvSpPr>
        <p:spPr>
          <a:xfrm>
            <a:off x="457200" y="1325880"/>
            <a:ext cx="457200" cy="50292"/>
          </a:xfrm>
          <a:prstGeom prst="rect">
            <a:avLst/>
          </a:prstGeom>
          <a:solidFill>
            <a:srgbClr val="C9A84C"/>
          </a:solidFill>
          <a:ln w="12700">
            <a:solidFill>
              <a:srgbClr val="C9A84C"/>
            </a:solidFill>
            <a:prstDash val="solid"/>
          </a:ln>
        </p:spPr>
      </p:sp>
      <p:sp>
        <p:nvSpPr>
          <p:cNvPr id="6" name="Shape 4"/>
          <p:cNvSpPr/>
          <p:nvPr/>
        </p:nvSpPr>
        <p:spPr>
          <a:xfrm>
            <a:off x="457200" y="1417320"/>
            <a:ext cx="4114800" cy="411480"/>
          </a:xfrm>
          <a:prstGeom prst="rect">
            <a:avLst/>
          </a:prstGeom>
          <a:solidFill>
            <a:srgbClr val="1B2A4A"/>
          </a:solidFill>
          <a:ln w="12700">
            <a:solidFill>
              <a:srgbClr val="1B2A4A"/>
            </a:solidFill>
            <a:prstDash val="solid"/>
          </a:ln>
        </p:spPr>
      </p:sp>
      <p:sp>
        <p:nvSpPr>
          <p:cNvPr id="7" name="Text 5"/>
          <p:cNvSpPr/>
          <p:nvPr/>
        </p:nvSpPr>
        <p:spPr>
          <a:xfrm>
            <a:off x="457200" y="1417320"/>
            <a:ext cx="4114800" cy="411480"/>
          </a:xfrm>
          <a:prstGeom prst="rect">
            <a:avLst/>
          </a:prstGeom>
          <a:noFill/>
          <a:ln/>
        </p:spPr>
        <p:txBody>
          <a:bodyPr wrap="square" lIns="0" tIns="0" rIns="0" bIns="0" rtlCol="0" anchor="ctr"/>
          <a:lstStyle/>
          <a:p>
            <a:pPr marL="0" indent="0" algn="ctr">
              <a:buNone/>
            </a:pPr>
            <a:r>
              <a:rPr lang="en-US" sz="1100" b="1" dirty="0">
                <a:solidFill>
                  <a:srgbClr val="C9A84C"/>
                </a:solidFill>
              </a:rPr>
              <a:t>MASRIFIED LOANWORDS</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4114800" cy="1563624"/>
        </p:xfrm>
        <a:graphic>
          <a:graphicData uri="http://schemas.openxmlformats.org/drawingml/2006/table">
            <a:tbl>
              <a:tblPr/>
              <a:tblGrid>
                <a:gridCol w="11887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60604">
                <a:tc>
                  <a:txBody>
                    <a:bodyPr/>
                    <a:lstStyle/>
                    <a:p>
                      <a:pPr marL="0" indent="0" algn="ctr">
                        <a:buNone/>
                      </a:pPr>
                      <a:r>
                        <a:rPr lang="en-US" sz="1050" b="1" dirty="0">
                          <a:solidFill>
                            <a:srgbClr val="FFFFFF"/>
                          </a:solidFill>
                        </a:rPr>
                        <a:t>Arabic</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2B6CB0"/>
                    </a:solidFill>
                  </a:tcPr>
                </a:tc>
                <a:tc>
                  <a:txBody>
                    <a:bodyPr/>
                    <a:lstStyle/>
                    <a:p>
                      <a:pPr marL="0" indent="0" algn="ctr">
                        <a:buNone/>
                      </a:pPr>
                      <a:r>
                        <a:rPr lang="en-US" sz="1050" b="1" dirty="0">
                          <a:solidFill>
                            <a:srgbClr val="FFFFFF"/>
                          </a:solidFill>
                        </a:rPr>
                        <a:t>Masri Everyday</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2B6CB0"/>
                    </a:solidFill>
                  </a:tcPr>
                </a:tc>
                <a:tc>
                  <a:txBody>
                    <a:bodyPr/>
                    <a:lstStyle/>
                    <a:p>
                      <a:pPr marL="0" indent="0" algn="ctr">
                        <a:buNone/>
                      </a:pPr>
                      <a:r>
                        <a:rPr lang="en-US" sz="1050" b="1" dirty="0">
                          <a:solidFill>
                            <a:srgbClr val="FFFFFF"/>
                          </a:solidFill>
                        </a:rPr>
                        <a:t>Source</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2B6CB0"/>
                    </a:solidFill>
                  </a:tcPr>
                </a:tc>
                <a:extLst>
                  <a:ext uri="{0D108BD9-81ED-4DB2-BD59-A6C34878D82A}">
                    <a16:rowId xmlns:a16="http://schemas.microsoft.com/office/drawing/2014/main" val="10000"/>
                  </a:ext>
                </a:extLst>
              </a:tr>
              <a:tr h="260604">
                <a:tc>
                  <a:txBody>
                    <a:bodyPr/>
                    <a:lstStyle/>
                    <a:p>
                      <a:pPr marL="0" indent="0" algn="l">
                        <a:buNone/>
                      </a:pPr>
                      <a:r>
                        <a:rPr lang="en-US" sz="1050" dirty="0">
                          <a:solidFill>
                            <a:srgbClr val="1B2A4A"/>
                          </a:solidFill>
                        </a:rPr>
                        <a:t>تليفزيون</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l">
                        <a:buNone/>
                      </a:pPr>
                      <a:r>
                        <a:rPr lang="en-US" sz="1050" dirty="0">
                          <a:solidFill>
                            <a:srgbClr val="1B2A4A"/>
                          </a:solidFill>
                        </a:rPr>
                        <a:t>televezyon</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l">
                        <a:buNone/>
                      </a:pPr>
                      <a:r>
                        <a:rPr lang="en-US" sz="1050" dirty="0">
                          <a:solidFill>
                            <a:srgbClr val="1B2A4A"/>
                          </a:solidFill>
                        </a:rPr>
                        <a:t>English: television</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extLst>
                  <a:ext uri="{0D108BD9-81ED-4DB2-BD59-A6C34878D82A}">
                    <a16:rowId xmlns:a16="http://schemas.microsoft.com/office/drawing/2014/main" val="10001"/>
                  </a:ext>
                </a:extLst>
              </a:tr>
              <a:tr h="260604">
                <a:tc>
                  <a:txBody>
                    <a:bodyPr/>
                    <a:lstStyle/>
                    <a:p>
                      <a:pPr marL="0" indent="0" algn="l">
                        <a:buNone/>
                      </a:pPr>
                      <a:r>
                        <a:rPr lang="en-US" sz="1050" dirty="0">
                          <a:solidFill>
                            <a:srgbClr val="1B2A4A"/>
                          </a:solidFill>
                        </a:rPr>
                        <a:t>كمبيوتر</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2A4A"/>
                          </a:solidFill>
                        </a:rPr>
                        <a:t>kombyoter</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2A4A"/>
                          </a:solidFill>
                        </a:rPr>
                        <a:t>English: computer</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0604">
                <a:tc>
                  <a:txBody>
                    <a:bodyPr/>
                    <a:lstStyle/>
                    <a:p>
                      <a:pPr marL="0" indent="0" algn="l">
                        <a:buNone/>
                      </a:pPr>
                      <a:r>
                        <a:rPr lang="en-US" sz="1050" dirty="0">
                          <a:solidFill>
                            <a:srgbClr val="1B2A4A"/>
                          </a:solidFill>
                        </a:rPr>
                        <a:t>موبايل</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l">
                        <a:buNone/>
                      </a:pPr>
                      <a:r>
                        <a:rPr lang="en-US" sz="1050" dirty="0">
                          <a:solidFill>
                            <a:srgbClr val="1B2A4A"/>
                          </a:solidFill>
                        </a:rPr>
                        <a:t>mobayl</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l">
                        <a:buNone/>
                      </a:pPr>
                      <a:r>
                        <a:rPr lang="en-US" sz="1050" dirty="0">
                          <a:solidFill>
                            <a:srgbClr val="1B2A4A"/>
                          </a:solidFill>
                        </a:rPr>
                        <a:t>English: mobile</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extLst>
                  <a:ext uri="{0D108BD9-81ED-4DB2-BD59-A6C34878D82A}">
                    <a16:rowId xmlns:a16="http://schemas.microsoft.com/office/drawing/2014/main" val="10003"/>
                  </a:ext>
                </a:extLst>
              </a:tr>
              <a:tr h="260604">
                <a:tc>
                  <a:txBody>
                    <a:bodyPr/>
                    <a:lstStyle/>
                    <a:p>
                      <a:pPr marL="0" indent="0" algn="l">
                        <a:buNone/>
                      </a:pPr>
                      <a:r>
                        <a:rPr lang="en-US" sz="1050" dirty="0">
                          <a:solidFill>
                            <a:srgbClr val="1B2A4A"/>
                          </a:solidFill>
                        </a:rPr>
                        <a:t>أتوبيس</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2A4A"/>
                          </a:solidFill>
                        </a:rPr>
                        <a:t>otobees</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2A4A"/>
                          </a:solidFill>
                        </a:rPr>
                        <a:t>French: autobus</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60604">
                <a:tc>
                  <a:txBody>
                    <a:bodyPr/>
                    <a:lstStyle/>
                    <a:p>
                      <a:pPr marL="0" indent="0" algn="l">
                        <a:buNone/>
                      </a:pPr>
                      <a:r>
                        <a:rPr lang="en-US" sz="1050" dirty="0">
                          <a:solidFill>
                            <a:srgbClr val="1B2A4A"/>
                          </a:solidFill>
                        </a:rPr>
                        <a:t>سيارة/عربية</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l">
                        <a:buNone/>
                      </a:pPr>
                      <a:r>
                        <a:rPr lang="en-US" sz="1050" dirty="0">
                          <a:solidFill>
                            <a:srgbClr val="1B2A4A"/>
                          </a:solidFill>
                        </a:rPr>
                        <a:t>sayara / `arabeya</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l">
                        <a:buNone/>
                      </a:pPr>
                      <a:r>
                        <a:rPr lang="en-US" sz="1050" dirty="0">
                          <a:solidFill>
                            <a:srgbClr val="1B2A4A"/>
                          </a:solidFill>
                        </a:rPr>
                        <a:t>Arabic standard</a:t>
                      </a:r>
                      <a:endParaRPr lang="en-US" sz="10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extLst>
                  <a:ext uri="{0D108BD9-81ED-4DB2-BD59-A6C34878D82A}">
                    <a16:rowId xmlns:a16="http://schemas.microsoft.com/office/drawing/2014/main" val="10005"/>
                  </a:ext>
                </a:extLst>
              </a:tr>
            </a:tbl>
          </a:graphicData>
        </a:graphic>
      </p:graphicFrame>
      <p:sp>
        <p:nvSpPr>
          <p:cNvPr id="9" name="Shape 6"/>
          <p:cNvSpPr/>
          <p:nvPr/>
        </p:nvSpPr>
        <p:spPr>
          <a:xfrm>
            <a:off x="457200" y="3749040"/>
            <a:ext cx="4114800" cy="640080"/>
          </a:xfrm>
          <a:prstGeom prst="rect">
            <a:avLst/>
          </a:prstGeom>
          <a:solidFill>
            <a:srgbClr val="D6E4F7"/>
          </a:solidFill>
          <a:ln w="12700">
            <a:solidFill>
              <a:srgbClr val="2B6CB0"/>
            </a:solidFill>
            <a:prstDash val="solid"/>
          </a:ln>
        </p:spPr>
      </p:sp>
      <p:sp>
        <p:nvSpPr>
          <p:cNvPr id="10" name="Text 7"/>
          <p:cNvSpPr/>
          <p:nvPr/>
        </p:nvSpPr>
        <p:spPr>
          <a:xfrm>
            <a:off x="594360" y="3794760"/>
            <a:ext cx="3840480" cy="548640"/>
          </a:xfrm>
          <a:prstGeom prst="rect">
            <a:avLst/>
          </a:prstGeom>
          <a:noFill/>
          <a:ln/>
        </p:spPr>
        <p:txBody>
          <a:bodyPr wrap="square" rtlCol="0" anchor="ctr"/>
          <a:lstStyle/>
          <a:p>
            <a:pPr marL="0" indent="0">
              <a:buNone/>
            </a:pPr>
            <a:r>
              <a:rPr lang="en-US" sz="1050" i="1" dirty="0">
                <a:solidFill>
                  <a:srgbClr val="1B2A4A"/>
                </a:solidFill>
              </a:rPr>
              <a:t>English words embedded in speech stay in standard English spelling.</a:t>
            </a:r>
            <a:endParaRPr lang="en-US" sz="1050" dirty="0"/>
          </a:p>
          <a:p>
            <a:pPr marL="0" indent="0">
              <a:buNone/>
            </a:pPr>
            <a:r>
              <a:rPr lang="en-US" sz="1050" i="1" dirty="0">
                <a:solidFill>
                  <a:srgbClr val="1B2A4A"/>
                </a:solidFill>
              </a:rPr>
              <a:t>"Ana mesh fahem el deadline."</a:t>
            </a:r>
            <a:endParaRPr lang="en-US" sz="1050" dirty="0"/>
          </a:p>
        </p:txBody>
      </p:sp>
      <p:sp>
        <p:nvSpPr>
          <p:cNvPr id="8" name="Shape 8"/>
          <p:cNvSpPr/>
          <p:nvPr/>
        </p:nvSpPr>
        <p:spPr>
          <a:xfrm>
            <a:off x="4846320" y="1417320"/>
            <a:ext cx="3840480" cy="411480"/>
          </a:xfrm>
          <a:prstGeom prst="rect">
            <a:avLst/>
          </a:prstGeom>
          <a:solidFill>
            <a:srgbClr val="9B2335"/>
          </a:solidFill>
          <a:ln w="12700">
            <a:solidFill>
              <a:srgbClr val="9B2335"/>
            </a:solidFill>
            <a:prstDash val="solid"/>
          </a:ln>
        </p:spPr>
      </p:sp>
      <p:sp>
        <p:nvSpPr>
          <p:cNvPr id="12" name="Text 9"/>
          <p:cNvSpPr/>
          <p:nvPr/>
        </p:nvSpPr>
        <p:spPr>
          <a:xfrm>
            <a:off x="4846320" y="1417320"/>
            <a:ext cx="3840480" cy="411480"/>
          </a:xfrm>
          <a:prstGeom prst="rect">
            <a:avLst/>
          </a:prstGeom>
          <a:noFill/>
          <a:ln/>
        </p:spPr>
        <p:txBody>
          <a:bodyPr wrap="square" lIns="0" tIns="0" rIns="0" bIns="0" rtlCol="0" anchor="ctr"/>
          <a:lstStyle/>
          <a:p>
            <a:pPr marL="0" indent="0" algn="ctr">
              <a:buNone/>
            </a:pPr>
            <a:r>
              <a:rPr lang="en-US" sz="1100" b="1" dirty="0">
                <a:solidFill>
                  <a:srgbClr val="FFFFFF"/>
                </a:solidFill>
              </a:rPr>
              <a:t>P ≠ B  ·  V ≠ F  (Independent Letters)</a:t>
            </a:r>
            <a:endParaRPr lang="en-US" sz="11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4846320" y="1828800"/>
          <a:ext cx="3840480" cy="2468880"/>
        </p:xfrm>
        <a:graphic>
          <a:graphicData uri="http://schemas.openxmlformats.org/drawingml/2006/table">
            <a:tbl>
              <a:tblPr/>
              <a:tblGrid>
                <a:gridCol w="11887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274320">
                <a:tc>
                  <a:txBody>
                    <a:bodyPr/>
                    <a:lstStyle/>
                    <a:p>
                      <a:pPr marL="0" indent="0" algn="ctr">
                        <a:buNone/>
                      </a:pPr>
                      <a:r>
                        <a:rPr lang="en-US" sz="1000" b="1" dirty="0">
                          <a:solidFill>
                            <a:srgbClr val="FFFFFF"/>
                          </a:solidFill>
                        </a:rPr>
                        <a:t>Source</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rPr>
                        <a:t>✓ With P</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rPr>
                        <a:t>❌ With B</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74320">
                <a:tc>
                  <a:txBody>
                    <a:bodyPr/>
                    <a:lstStyle/>
                    <a:p>
                      <a:pPr marL="0" indent="0" algn="ctr">
                        <a:buNone/>
                      </a:pPr>
                      <a:r>
                        <a:rPr lang="en-US" sz="1000" dirty="0">
                          <a:solidFill>
                            <a:srgbClr val="4A5568"/>
                          </a:solidFill>
                        </a:rPr>
                        <a:t>piano</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276749"/>
                          </a:solidFill>
                        </a:rPr>
                        <a:t>piano</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9B2335"/>
                          </a:solidFill>
                        </a:rPr>
                        <a:t>biano</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extLst>
                  <a:ext uri="{0D108BD9-81ED-4DB2-BD59-A6C34878D82A}">
                    <a16:rowId xmlns:a16="http://schemas.microsoft.com/office/drawing/2014/main" val="10001"/>
                  </a:ext>
                </a:extLst>
              </a:tr>
              <a:tr h="274320">
                <a:tc>
                  <a:txBody>
                    <a:bodyPr/>
                    <a:lstStyle/>
                    <a:p>
                      <a:pPr marL="0" indent="0" algn="ctr">
                        <a:buNone/>
                      </a:pPr>
                      <a:r>
                        <a:rPr lang="en-US" sz="1000" dirty="0">
                          <a:solidFill>
                            <a:srgbClr val="4A5568"/>
                          </a:solidFill>
                        </a:rPr>
                        <a:t>pizza</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76749"/>
                          </a:solidFill>
                        </a:rPr>
                        <a:t>pizza / pitza</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9B2335"/>
                          </a:solidFill>
                        </a:rPr>
                        <a:t>bizza</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ctr">
                        <a:buNone/>
                      </a:pPr>
                      <a:r>
                        <a:rPr lang="en-US" sz="1000" dirty="0">
                          <a:solidFill>
                            <a:srgbClr val="4A5568"/>
                          </a:solidFill>
                        </a:rPr>
                        <a:t>parking</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276749"/>
                          </a:solidFill>
                        </a:rPr>
                        <a:t>parking</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9B2335"/>
                          </a:solidFill>
                        </a:rPr>
                        <a:t>barking</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extLst>
                  <a:ext uri="{0D108BD9-81ED-4DB2-BD59-A6C34878D82A}">
                    <a16:rowId xmlns:a16="http://schemas.microsoft.com/office/drawing/2014/main" val="10003"/>
                  </a:ext>
                </a:extLst>
              </a:tr>
              <a:tr h="274320">
                <a:tc>
                  <a:txBody>
                    <a:bodyPr/>
                    <a:lstStyle/>
                    <a:p>
                      <a:pPr marL="0" indent="0" algn="ctr">
                        <a:buNone/>
                      </a:pPr>
                      <a:r>
                        <a:rPr lang="en-US" sz="1000" dirty="0">
                          <a:solidFill>
                            <a:srgbClr val="4A5568"/>
                          </a:solidFill>
                        </a:rPr>
                        <a:t>plastic</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76749"/>
                          </a:solidFill>
                        </a:rPr>
                        <a:t>plastic</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9B2335"/>
                          </a:solidFill>
                        </a:rPr>
                        <a:t>blastic</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lgn="ctr">
                        <a:buNone/>
                      </a:pPr>
                      <a:r>
                        <a:rPr lang="en-US" sz="1000" dirty="0">
                          <a:solidFill>
                            <a:srgbClr val="4A5568"/>
                          </a:solidFill>
                        </a:rPr>
                        <a:t>printer</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276749"/>
                          </a:solidFill>
                        </a:rPr>
                        <a:t>printer</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9B2335"/>
                          </a:solidFill>
                        </a:rPr>
                        <a:t>brinter</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extLst>
                  <a:ext uri="{0D108BD9-81ED-4DB2-BD59-A6C34878D82A}">
                    <a16:rowId xmlns:a16="http://schemas.microsoft.com/office/drawing/2014/main" val="10005"/>
                  </a:ext>
                </a:extLst>
              </a:tr>
              <a:tr h="274320">
                <a:tc>
                  <a:txBody>
                    <a:bodyPr/>
                    <a:lstStyle/>
                    <a:p>
                      <a:pPr marL="0" indent="0" algn="ctr">
                        <a:buNone/>
                      </a:pPr>
                      <a:r>
                        <a:rPr lang="en-US" sz="1000" dirty="0">
                          <a:solidFill>
                            <a:srgbClr val="4A5568"/>
                          </a:solidFill>
                        </a:rPr>
                        <a:t>project</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76749"/>
                          </a:solidFill>
                        </a:rPr>
                        <a:t>project</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9B2335"/>
                          </a:solidFill>
                        </a:rPr>
                        <a:t>broject</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a:txBody>
                    <a:bodyPr/>
                    <a:lstStyle/>
                    <a:p>
                      <a:pPr marL="0" indent="0" algn="ctr">
                        <a:buNone/>
                      </a:pPr>
                      <a:r>
                        <a:rPr lang="en-US" sz="1000" dirty="0">
                          <a:solidFill>
                            <a:srgbClr val="4A5568"/>
                          </a:solidFill>
                        </a:rPr>
                        <a:t>passport</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276749"/>
                          </a:solidFill>
                        </a:rPr>
                        <a:t>passport</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1000" dirty="0">
                          <a:solidFill>
                            <a:srgbClr val="9B2335"/>
                          </a:solidFill>
                        </a:rPr>
                        <a:t>bassport</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extLst>
                  <a:ext uri="{0D108BD9-81ED-4DB2-BD59-A6C34878D82A}">
                    <a16:rowId xmlns:a16="http://schemas.microsoft.com/office/drawing/2014/main" val="10007"/>
                  </a:ext>
                </a:extLst>
              </a:tr>
              <a:tr h="274320">
                <a:tc>
                  <a:txBody>
                    <a:bodyPr/>
                    <a:lstStyle/>
                    <a:p>
                      <a:pPr marL="0" indent="0" algn="ctr">
                        <a:buNone/>
                      </a:pPr>
                      <a:r>
                        <a:rPr lang="en-US" sz="1000" dirty="0">
                          <a:solidFill>
                            <a:srgbClr val="4A5568"/>
                          </a:solidFill>
                        </a:rPr>
                        <a:t>pump</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76749"/>
                          </a:solidFill>
                        </a:rPr>
                        <a:t>pump</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9B2335"/>
                          </a:solidFill>
                        </a:rPr>
                        <a:t>bumb</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14" name="Shape 10"/>
          <p:cNvSpPr/>
          <p:nvPr/>
        </p:nvSpPr>
        <p:spPr>
          <a:xfrm>
            <a:off x="0" y="4937760"/>
            <a:ext cx="9144000" cy="205740"/>
          </a:xfrm>
          <a:prstGeom prst="rect">
            <a:avLst/>
          </a:prstGeom>
          <a:solidFill>
            <a:srgbClr val="1B2A4A"/>
          </a:solidFill>
          <a:ln w="12700">
            <a:solidFill>
              <a:srgbClr val="1B2A4A"/>
            </a:solidFill>
            <a:prstDash val="solid"/>
          </a:ln>
        </p:spPr>
      </p:sp>
      <p:sp>
        <p:nvSpPr>
          <p:cNvPr id="15" name="Text 11"/>
          <p:cNvSpPr/>
          <p:nvPr/>
        </p:nvSpPr>
        <p:spPr>
          <a:xfrm>
            <a:off x="0" y="4937760"/>
            <a:ext cx="9144000" cy="205740"/>
          </a:xfrm>
          <a:prstGeom prst="rect">
            <a:avLst/>
          </a:prstGeom>
          <a:noFill/>
          <a:ln/>
        </p:spPr>
        <p:txBody>
          <a:bodyPr wrap="square" lIns="0" tIns="0" rIns="0" bIns="0" rtlCol="0" anchor="ctr"/>
          <a:lstStyle/>
          <a:p>
            <a:pPr marL="0" indent="0" algn="ctr">
              <a:buNone/>
            </a:pPr>
            <a:r>
              <a:rPr lang="en-US" sz="800" dirty="0" err="1">
                <a:solidFill>
                  <a:srgbClr val="C9A84C"/>
                </a:solidFill>
              </a:rPr>
              <a:t>Maṣri</a:t>
            </a:r>
            <a:r>
              <a:rPr lang="en-US" sz="800" dirty="0">
                <a:solidFill>
                  <a:srgbClr val="C9A84C"/>
                </a:solidFill>
              </a:rPr>
              <a:t> Writing System  ·  مصري  ·  Diaa Hassouna  ·  Cairo 2026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365760" y="228600"/>
            <a:ext cx="1828800" cy="347472"/>
          </a:xfrm>
          <a:prstGeom prst="roundRect">
            <a:avLst/>
          </a:prstGeom>
          <a:solidFill>
            <a:srgbClr val="C9A84C"/>
          </a:solidFill>
          <a:ln w="12700">
            <a:solidFill>
              <a:srgbClr val="C9A84C"/>
            </a:solidFill>
            <a:prstDash val="solid"/>
          </a:ln>
        </p:spPr>
      </p:sp>
      <p:sp>
        <p:nvSpPr>
          <p:cNvPr id="3" name="Text 1"/>
          <p:cNvSpPr/>
          <p:nvPr/>
        </p:nvSpPr>
        <p:spPr>
          <a:xfrm>
            <a:off x="365760" y="228600"/>
            <a:ext cx="1828800" cy="347472"/>
          </a:xfrm>
          <a:prstGeom prst="rect">
            <a:avLst/>
          </a:prstGeom>
          <a:noFill/>
          <a:ln/>
        </p:spPr>
        <p:txBody>
          <a:bodyPr wrap="square" lIns="0" tIns="0" rIns="0" bIns="0" rtlCol="0" anchor="ctr"/>
          <a:lstStyle/>
          <a:p>
            <a:pPr marL="0" indent="0" algn="ctr">
              <a:buNone/>
            </a:pPr>
            <a:r>
              <a:rPr lang="en-US" sz="900" b="1" dirty="0">
                <a:solidFill>
                  <a:srgbClr val="1B2A4A"/>
                </a:solidFill>
              </a:rPr>
              <a:t>STANDARD SPELLINGS</a:t>
            </a:r>
            <a:endParaRPr lang="en-US" sz="900" dirty="0"/>
          </a:p>
        </p:txBody>
      </p:sp>
      <p:sp>
        <p:nvSpPr>
          <p:cNvPr id="4" name="Text 2"/>
          <p:cNvSpPr/>
          <p:nvPr/>
        </p:nvSpPr>
        <p:spPr>
          <a:xfrm>
            <a:off x="457200" y="658368"/>
            <a:ext cx="8229600" cy="594360"/>
          </a:xfrm>
          <a:prstGeom prst="rect">
            <a:avLst/>
          </a:prstGeom>
          <a:noFill/>
          <a:ln/>
        </p:spPr>
        <p:txBody>
          <a:bodyPr wrap="square" rtlCol="0" anchor="ctr"/>
          <a:lstStyle/>
          <a:p>
            <a:pPr marL="0" indent="0" algn="l">
              <a:buNone/>
            </a:pPr>
            <a:r>
              <a:rPr lang="en-US" sz="2800" b="1" dirty="0">
                <a:solidFill>
                  <a:srgbClr val="1B2A4A"/>
                </a:solidFill>
                <a:latin typeface="Georgia" pitchFamily="34" charset="0"/>
                <a:ea typeface="Georgia" pitchFamily="34" charset="-122"/>
                <a:cs typeface="Georgia" pitchFamily="34" charset="-120"/>
              </a:rPr>
              <a:t>Most Common Words — Standardized</a:t>
            </a:r>
            <a:endParaRPr lang="en-US" sz="2800" dirty="0"/>
          </a:p>
        </p:txBody>
      </p:sp>
      <p:sp>
        <p:nvSpPr>
          <p:cNvPr id="5" name="Shape 3"/>
          <p:cNvSpPr/>
          <p:nvPr/>
        </p:nvSpPr>
        <p:spPr>
          <a:xfrm>
            <a:off x="457200" y="1325880"/>
            <a:ext cx="457200" cy="50292"/>
          </a:xfrm>
          <a:prstGeom prst="rect">
            <a:avLst/>
          </a:prstGeom>
          <a:solidFill>
            <a:srgbClr val="C9A84C"/>
          </a:solidFill>
          <a:ln w="12700">
            <a:solidFill>
              <a:srgbClr val="C9A84C"/>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3318526119"/>
              </p:ext>
            </p:extLst>
          </p:nvPr>
        </p:nvGraphicFramePr>
        <p:xfrm>
          <a:off x="365760" y="1463040"/>
          <a:ext cx="8412480" cy="3444240"/>
        </p:xfrm>
        <a:graphic>
          <a:graphicData uri="http://schemas.openxmlformats.org/drawingml/2006/table">
            <a:tbl>
              <a:tblPr/>
              <a:tblGrid>
                <a:gridCol w="16459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199339">
                <a:tc>
                  <a:txBody>
                    <a:bodyPr/>
                    <a:lstStyle/>
                    <a:p>
                      <a:pPr marL="0" indent="0" algn="ctr">
                        <a:buNone/>
                      </a:pPr>
                      <a:r>
                        <a:rPr lang="en-US" sz="1000" b="1" dirty="0">
                          <a:solidFill>
                            <a:srgbClr val="FFFFFF"/>
                          </a:solidFill>
                        </a:rPr>
                        <a:t>Arabic</a:t>
                      </a:r>
                      <a:endParaRPr lang="en-US" sz="10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rPr>
                        <a:t>Everyday</a:t>
                      </a:r>
                      <a:endParaRPr lang="en-US" sz="10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rPr>
                        <a:t>Academic</a:t>
                      </a:r>
                      <a:endParaRPr lang="en-US" sz="10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marL="0" indent="0" algn="l">
                        <a:buNone/>
                      </a:pPr>
                      <a:r>
                        <a:rPr lang="en-US" sz="1000" b="1" dirty="0">
                          <a:solidFill>
                            <a:srgbClr val="FFFFFF"/>
                          </a:solidFill>
                        </a:rPr>
                        <a:t>Notes</a:t>
                      </a:r>
                      <a:endParaRPr lang="en-US" sz="10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199339">
                <a:tc>
                  <a:txBody>
                    <a:bodyPr/>
                    <a:lstStyle/>
                    <a:p>
                      <a:pPr marL="0" indent="0" algn="ctr">
                        <a:buNone/>
                      </a:pPr>
                      <a:r>
                        <a:rPr lang="en-US" sz="900" dirty="0">
                          <a:solidFill>
                            <a:srgbClr val="4A5568"/>
                          </a:solidFill>
                        </a:rPr>
                        <a:t>إن شاء الله</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900" dirty="0">
                          <a:solidFill>
                            <a:srgbClr val="2B6CB0"/>
                          </a:solidFill>
                        </a:rPr>
                        <a:t>inshalla / insha' allah</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900" dirty="0">
                          <a:solidFill>
                            <a:srgbClr val="9B2335"/>
                          </a:solidFill>
                        </a:rPr>
                        <a:t>inϣāⱯallāh</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l">
                        <a:buNone/>
                      </a:pPr>
                      <a:r>
                        <a:rPr lang="en-US" sz="900" dirty="0">
                          <a:solidFill>
                            <a:srgbClr val="4A5568"/>
                          </a:solidFill>
                        </a:rPr>
                        <a:t>One word</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extLst>
                  <a:ext uri="{0D108BD9-81ED-4DB2-BD59-A6C34878D82A}">
                    <a16:rowId xmlns:a16="http://schemas.microsoft.com/office/drawing/2014/main" val="10001"/>
                  </a:ext>
                </a:extLst>
              </a:tr>
              <a:tr h="199339">
                <a:tc>
                  <a:txBody>
                    <a:bodyPr/>
                    <a:lstStyle/>
                    <a:p>
                      <a:pPr marL="0" indent="0" algn="ctr">
                        <a:buNone/>
                      </a:pPr>
                      <a:r>
                        <a:rPr lang="en-US" sz="900" dirty="0">
                          <a:solidFill>
                            <a:srgbClr val="4A5568"/>
                          </a:solidFill>
                        </a:rPr>
                        <a:t>قهوة</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6CB0"/>
                          </a:solidFill>
                        </a:rPr>
                        <a:t>ahwa</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9B2335"/>
                          </a:solidFill>
                        </a:rPr>
                        <a:t>ahwa</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900" dirty="0">
                          <a:solidFill>
                            <a:srgbClr val="4A5568"/>
                          </a:solidFill>
                        </a:rPr>
                        <a:t>Cairo drops initial '</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99339">
                <a:tc>
                  <a:txBody>
                    <a:bodyPr/>
                    <a:lstStyle/>
                    <a:p>
                      <a:pPr marL="0" indent="0" algn="ctr">
                        <a:buNone/>
                      </a:pPr>
                      <a:r>
                        <a:rPr lang="en-US" sz="900" dirty="0">
                          <a:solidFill>
                            <a:srgbClr val="4A5568"/>
                          </a:solidFill>
                        </a:rPr>
                        <a:t>أيوه</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900" dirty="0">
                          <a:solidFill>
                            <a:srgbClr val="2B6CB0"/>
                          </a:solidFill>
                        </a:rPr>
                        <a:t>aywa</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900" dirty="0">
                          <a:solidFill>
                            <a:srgbClr val="9B2335"/>
                          </a:solidFill>
                        </a:rPr>
                        <a:t>aywa</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l">
                        <a:buNone/>
                      </a:pPr>
                      <a:r>
                        <a:rPr lang="en-US" sz="900" dirty="0">
                          <a:solidFill>
                            <a:srgbClr val="4A5568"/>
                          </a:solidFill>
                        </a:rPr>
                        <a:t>—</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extLst>
                  <a:ext uri="{0D108BD9-81ED-4DB2-BD59-A6C34878D82A}">
                    <a16:rowId xmlns:a16="http://schemas.microsoft.com/office/drawing/2014/main" val="10003"/>
                  </a:ext>
                </a:extLst>
              </a:tr>
              <a:tr h="199339">
                <a:tc>
                  <a:txBody>
                    <a:bodyPr/>
                    <a:lstStyle/>
                    <a:p>
                      <a:pPr marL="0" indent="0" algn="ctr">
                        <a:buNone/>
                      </a:pPr>
                      <a:r>
                        <a:rPr lang="en-US" sz="900" dirty="0">
                          <a:solidFill>
                            <a:srgbClr val="4A5568"/>
                          </a:solidFill>
                        </a:rPr>
                        <a:t>مش</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6CB0"/>
                          </a:solidFill>
                        </a:rPr>
                        <a:t>mesh</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a:solidFill>
                            <a:srgbClr val="9B2335"/>
                          </a:solidFill>
                        </a:rPr>
                        <a:t>meϣ</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900" dirty="0">
                          <a:solidFill>
                            <a:srgbClr val="4A5568"/>
                          </a:solidFill>
                        </a:rPr>
                        <a:t>—</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99339">
                <a:tc>
                  <a:txBody>
                    <a:bodyPr/>
                    <a:lstStyle/>
                    <a:p>
                      <a:pPr marL="0" indent="0" algn="ctr">
                        <a:buNone/>
                      </a:pPr>
                      <a:r>
                        <a:rPr lang="en-US" sz="900" dirty="0">
                          <a:solidFill>
                            <a:srgbClr val="4A5568"/>
                          </a:solidFill>
                        </a:rPr>
                        <a:t>يعني</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900" dirty="0">
                          <a:solidFill>
                            <a:srgbClr val="2B6CB0"/>
                          </a:solidFill>
                        </a:rPr>
                        <a:t>yaani / ya`ni</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900" dirty="0">
                          <a:solidFill>
                            <a:srgbClr val="9B2335"/>
                          </a:solidFill>
                        </a:rPr>
                        <a:t>yaⲴni</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l">
                        <a:buNone/>
                      </a:pPr>
                      <a:r>
                        <a:rPr lang="en-US" sz="900" dirty="0">
                          <a:solidFill>
                            <a:srgbClr val="4A5568"/>
                          </a:solidFill>
                        </a:rPr>
                        <a:t>—</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extLst>
                  <a:ext uri="{0D108BD9-81ED-4DB2-BD59-A6C34878D82A}">
                    <a16:rowId xmlns:a16="http://schemas.microsoft.com/office/drawing/2014/main" val="10005"/>
                  </a:ext>
                </a:extLst>
              </a:tr>
              <a:tr h="199339">
                <a:tc>
                  <a:txBody>
                    <a:bodyPr/>
                    <a:lstStyle/>
                    <a:p>
                      <a:pPr marL="0" indent="0" algn="ctr">
                        <a:buNone/>
                      </a:pPr>
                      <a:r>
                        <a:rPr lang="en-US" sz="900" dirty="0">
                          <a:solidFill>
                            <a:srgbClr val="4A5568"/>
                          </a:solidFill>
                        </a:rPr>
                        <a:t>كده</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6CB0"/>
                          </a:solidFill>
                        </a:rPr>
                        <a:t>keda / kida</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9B2335"/>
                          </a:solidFill>
                        </a:rPr>
                        <a:t>keda</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900" dirty="0">
                          <a:solidFill>
                            <a:srgbClr val="4A5568"/>
                          </a:solidFill>
                        </a:rPr>
                        <a:t>—</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99339">
                <a:tc>
                  <a:txBody>
                    <a:bodyPr/>
                    <a:lstStyle/>
                    <a:p>
                      <a:pPr marL="0" indent="0" algn="ctr">
                        <a:buNone/>
                      </a:pPr>
                      <a:r>
                        <a:rPr lang="en-US" sz="900" dirty="0">
                          <a:solidFill>
                            <a:srgbClr val="4A5568"/>
                          </a:solidFill>
                        </a:rPr>
                        <a:t>عشان</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900" dirty="0">
                          <a:solidFill>
                            <a:srgbClr val="2B6CB0"/>
                          </a:solidFill>
                        </a:rPr>
                        <a:t>ashan / `ashan</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900" dirty="0">
                          <a:solidFill>
                            <a:srgbClr val="9B2335"/>
                          </a:solidFill>
                        </a:rPr>
                        <a:t>Ⲵaϣan</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l">
                        <a:buNone/>
                      </a:pPr>
                      <a:r>
                        <a:rPr lang="en-US" sz="900" dirty="0">
                          <a:solidFill>
                            <a:srgbClr val="4A5568"/>
                          </a:solidFill>
                        </a:rPr>
                        <a:t>—</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extLst>
                  <a:ext uri="{0D108BD9-81ED-4DB2-BD59-A6C34878D82A}">
                    <a16:rowId xmlns:a16="http://schemas.microsoft.com/office/drawing/2014/main" val="10007"/>
                  </a:ext>
                </a:extLst>
              </a:tr>
              <a:tr h="199339">
                <a:tc>
                  <a:txBody>
                    <a:bodyPr/>
                    <a:lstStyle/>
                    <a:p>
                      <a:pPr marL="0" indent="0" algn="ctr">
                        <a:buNone/>
                      </a:pPr>
                      <a:r>
                        <a:rPr lang="en-US" sz="900" dirty="0">
                          <a:solidFill>
                            <a:srgbClr val="4A5568"/>
                          </a:solidFill>
                        </a:rPr>
                        <a:t>بس</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6CB0"/>
                          </a:solidFill>
                        </a:rPr>
                        <a:t>bass</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9B2335"/>
                          </a:solidFill>
                        </a:rPr>
                        <a:t>bass</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900" dirty="0">
                          <a:solidFill>
                            <a:srgbClr val="4A5568"/>
                          </a:solidFill>
                        </a:rPr>
                        <a:t>—</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199339">
                <a:tc>
                  <a:txBody>
                    <a:bodyPr/>
                    <a:lstStyle/>
                    <a:p>
                      <a:pPr marL="0" indent="0" algn="ctr">
                        <a:buNone/>
                      </a:pPr>
                      <a:r>
                        <a:rPr lang="en-US" sz="900" dirty="0">
                          <a:solidFill>
                            <a:srgbClr val="4A5568"/>
                          </a:solidFill>
                        </a:rPr>
                        <a:t>زي</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900" dirty="0">
                          <a:solidFill>
                            <a:srgbClr val="2B6CB0"/>
                          </a:solidFill>
                        </a:rPr>
                        <a:t>zay</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900" dirty="0">
                          <a:solidFill>
                            <a:srgbClr val="9B2335"/>
                          </a:solidFill>
                        </a:rPr>
                        <a:t>zay</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l">
                        <a:buNone/>
                      </a:pPr>
                      <a:r>
                        <a:rPr lang="en-US" sz="900" dirty="0">
                          <a:solidFill>
                            <a:srgbClr val="4A5568"/>
                          </a:solidFill>
                        </a:rPr>
                        <a:t>—</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extLst>
                  <a:ext uri="{0D108BD9-81ED-4DB2-BD59-A6C34878D82A}">
                    <a16:rowId xmlns:a16="http://schemas.microsoft.com/office/drawing/2014/main" val="10009"/>
                  </a:ext>
                </a:extLst>
              </a:tr>
              <a:tr h="199339">
                <a:tc>
                  <a:txBody>
                    <a:bodyPr/>
                    <a:lstStyle/>
                    <a:p>
                      <a:pPr marL="0" indent="0" algn="ctr">
                        <a:buNone/>
                      </a:pPr>
                      <a:r>
                        <a:rPr lang="en-US" sz="900" dirty="0">
                          <a:solidFill>
                            <a:srgbClr val="4A5568"/>
                          </a:solidFill>
                        </a:rPr>
                        <a:t>والله</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6CB0"/>
                          </a:solidFill>
                        </a:rPr>
                        <a:t>walla / wallahi</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9B2335"/>
                          </a:solidFill>
                        </a:rPr>
                        <a:t>wallāhi</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900" dirty="0">
                          <a:solidFill>
                            <a:srgbClr val="4A5568"/>
                          </a:solidFill>
                        </a:rPr>
                        <a:t>—</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199339">
                <a:tc>
                  <a:txBody>
                    <a:bodyPr/>
                    <a:lstStyle/>
                    <a:p>
                      <a:pPr marL="0" indent="0" algn="ctr">
                        <a:buNone/>
                      </a:pPr>
                      <a:r>
                        <a:rPr lang="en-US" sz="900" dirty="0">
                          <a:solidFill>
                            <a:srgbClr val="4A5568"/>
                          </a:solidFill>
                        </a:rPr>
                        <a:t>الحمد لله</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900" dirty="0">
                          <a:solidFill>
                            <a:srgbClr val="2B6CB0"/>
                          </a:solidFill>
                        </a:rPr>
                        <a:t>elhamdolilla</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900" dirty="0">
                          <a:solidFill>
                            <a:srgbClr val="9B2335"/>
                          </a:solidFill>
                        </a:rPr>
                        <a:t>elϨamdolillāh</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l">
                        <a:buNone/>
                      </a:pPr>
                      <a:r>
                        <a:rPr lang="en-US" sz="900" dirty="0">
                          <a:solidFill>
                            <a:srgbClr val="4A5568"/>
                          </a:solidFill>
                        </a:rPr>
                        <a:t>One word everyday</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extLst>
                  <a:ext uri="{0D108BD9-81ED-4DB2-BD59-A6C34878D82A}">
                    <a16:rowId xmlns:a16="http://schemas.microsoft.com/office/drawing/2014/main" val="10011"/>
                  </a:ext>
                </a:extLst>
              </a:tr>
              <a:tr h="199339">
                <a:tc>
                  <a:txBody>
                    <a:bodyPr/>
                    <a:lstStyle/>
                    <a:p>
                      <a:pPr marL="0" indent="0" algn="ctr">
                        <a:buNone/>
                      </a:pPr>
                      <a:r>
                        <a:rPr lang="en-US" sz="900" dirty="0">
                          <a:solidFill>
                            <a:srgbClr val="4A5568"/>
                          </a:solidFill>
                        </a:rPr>
                        <a:t>بسم الله</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6CB0"/>
                          </a:solidFill>
                        </a:rPr>
                        <a:t>besmella</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9B2335"/>
                          </a:solidFill>
                        </a:rPr>
                        <a:t>bismillāh</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900" dirty="0">
                          <a:solidFill>
                            <a:srgbClr val="4A5568"/>
                          </a:solidFill>
                        </a:rPr>
                        <a:t>—</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199339">
                <a:tc>
                  <a:txBody>
                    <a:bodyPr/>
                    <a:lstStyle/>
                    <a:p>
                      <a:pPr marL="0" indent="0" algn="ctr">
                        <a:buNone/>
                      </a:pPr>
                      <a:r>
                        <a:rPr lang="en-US" sz="900" dirty="0">
                          <a:solidFill>
                            <a:srgbClr val="4A5568"/>
                          </a:solidFill>
                        </a:rPr>
                        <a:t>ماشاء الله</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900" dirty="0">
                          <a:solidFill>
                            <a:srgbClr val="2B6CB0"/>
                          </a:solidFill>
                        </a:rPr>
                        <a:t>mashalla / masha'allah</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ctr">
                        <a:buNone/>
                      </a:pPr>
                      <a:r>
                        <a:rPr lang="en-US" sz="900" dirty="0">
                          <a:solidFill>
                            <a:srgbClr val="9B2335"/>
                          </a:solidFill>
                        </a:rPr>
                        <a:t>māϣāⱯallāh</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tc>
                  <a:txBody>
                    <a:bodyPr/>
                    <a:lstStyle/>
                    <a:p>
                      <a:pPr marL="0" indent="0" algn="l">
                        <a:buNone/>
                      </a:pPr>
                      <a:r>
                        <a:rPr lang="en-US" sz="900" dirty="0">
                          <a:solidFill>
                            <a:srgbClr val="4A5568"/>
                          </a:solidFill>
                        </a:rPr>
                        <a:t>—</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DF2F7"/>
                    </a:solidFill>
                  </a:tcPr>
                </a:tc>
                <a:extLst>
                  <a:ext uri="{0D108BD9-81ED-4DB2-BD59-A6C34878D82A}">
                    <a16:rowId xmlns:a16="http://schemas.microsoft.com/office/drawing/2014/main" val="10013"/>
                  </a:ext>
                </a:extLst>
              </a:tr>
              <a:tr h="199339">
                <a:tc>
                  <a:txBody>
                    <a:bodyPr/>
                    <a:lstStyle/>
                    <a:p>
                      <a:pPr marL="0" indent="0" algn="ctr">
                        <a:buNone/>
                      </a:pPr>
                      <a:r>
                        <a:rPr lang="en-US" sz="900" dirty="0">
                          <a:solidFill>
                            <a:srgbClr val="4A5568"/>
                          </a:solidFill>
                        </a:rPr>
                        <a:t>يا رب</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6CB0"/>
                          </a:solidFill>
                        </a:rPr>
                        <a:t>ya rab</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9B2335"/>
                          </a:solidFill>
                        </a:rPr>
                        <a:t>yā rabb</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900" dirty="0">
                          <a:solidFill>
                            <a:srgbClr val="4A5568"/>
                          </a:solidFill>
                        </a:rPr>
                        <a:t>—</a:t>
                      </a:r>
                      <a:endParaRPr lang="en-US" sz="900" dirty="0"/>
                    </a:p>
                  </a:txBody>
                  <a:tcPr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bl>
          </a:graphicData>
        </a:graphic>
      </p:graphicFrame>
      <p:sp>
        <p:nvSpPr>
          <p:cNvPr id="7" name="Shape 4"/>
          <p:cNvSpPr/>
          <p:nvPr/>
        </p:nvSpPr>
        <p:spPr>
          <a:xfrm>
            <a:off x="0" y="4937760"/>
            <a:ext cx="9144000" cy="205740"/>
          </a:xfrm>
          <a:prstGeom prst="rect">
            <a:avLst/>
          </a:prstGeom>
          <a:solidFill>
            <a:srgbClr val="1B2A4A"/>
          </a:solidFill>
          <a:ln w="12700">
            <a:solidFill>
              <a:srgbClr val="1B2A4A"/>
            </a:solidFill>
            <a:prstDash val="solid"/>
          </a:ln>
        </p:spPr>
      </p:sp>
      <p:sp>
        <p:nvSpPr>
          <p:cNvPr id="8" name="Text 5"/>
          <p:cNvSpPr/>
          <p:nvPr/>
        </p:nvSpPr>
        <p:spPr>
          <a:xfrm>
            <a:off x="0" y="4937760"/>
            <a:ext cx="9144000" cy="205740"/>
          </a:xfrm>
          <a:prstGeom prst="rect">
            <a:avLst/>
          </a:prstGeom>
          <a:noFill/>
          <a:ln/>
        </p:spPr>
        <p:txBody>
          <a:bodyPr wrap="square" lIns="0" tIns="0" rIns="0" bIns="0" rtlCol="0" anchor="ctr"/>
          <a:lstStyle/>
          <a:p>
            <a:pPr marL="0" indent="0" algn="ctr">
              <a:buNone/>
            </a:pPr>
            <a:r>
              <a:rPr lang="en-US" sz="800" dirty="0" err="1">
                <a:solidFill>
                  <a:srgbClr val="C9A84C"/>
                </a:solidFill>
              </a:rPr>
              <a:t>Maṣri</a:t>
            </a:r>
            <a:r>
              <a:rPr lang="en-US" sz="800" dirty="0">
                <a:solidFill>
                  <a:srgbClr val="C9A84C"/>
                </a:solidFill>
              </a:rPr>
              <a:t> Writing System  ·  مصري  ·  Diaa Hassouna  ·  Cairo 2026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0F1F38"/>
        </a:solidFill>
        <a:effectLst/>
      </p:bgPr>
    </p:bg>
    <p:spTree>
      <p:nvGrpSpPr>
        <p:cNvPr id="1" name=""/>
        <p:cNvGrpSpPr/>
        <p:nvPr/>
      </p:nvGrpSpPr>
      <p:grpSpPr>
        <a:xfrm>
          <a:off x="0" y="0"/>
          <a:ext cx="0" cy="0"/>
          <a:chOff x="0" y="0"/>
          <a:chExt cx="0" cy="0"/>
        </a:xfrm>
      </p:grpSpPr>
      <p:sp>
        <p:nvSpPr>
          <p:cNvPr id="2" name="Shape 0"/>
          <p:cNvSpPr/>
          <p:nvPr/>
        </p:nvSpPr>
        <p:spPr>
          <a:xfrm>
            <a:off x="365760" y="228600"/>
            <a:ext cx="1828800" cy="347472"/>
          </a:xfrm>
          <a:prstGeom prst="roundRect">
            <a:avLst/>
          </a:prstGeom>
          <a:solidFill>
            <a:srgbClr val="C9A84C"/>
          </a:solidFill>
          <a:ln w="12700">
            <a:solidFill>
              <a:srgbClr val="C9A84C"/>
            </a:solidFill>
            <a:prstDash val="solid"/>
          </a:ln>
        </p:spPr>
      </p:sp>
      <p:sp>
        <p:nvSpPr>
          <p:cNvPr id="3" name="Text 1"/>
          <p:cNvSpPr/>
          <p:nvPr/>
        </p:nvSpPr>
        <p:spPr>
          <a:xfrm>
            <a:off x="365760" y="228600"/>
            <a:ext cx="1828800" cy="347472"/>
          </a:xfrm>
          <a:prstGeom prst="rect">
            <a:avLst/>
          </a:prstGeom>
          <a:noFill/>
          <a:ln/>
        </p:spPr>
        <p:txBody>
          <a:bodyPr wrap="square" lIns="0" tIns="0" rIns="0" bIns="0" rtlCol="0" anchor="ctr"/>
          <a:lstStyle/>
          <a:p>
            <a:pPr marL="0" indent="0" algn="ctr">
              <a:buNone/>
            </a:pPr>
            <a:r>
              <a:rPr lang="en-US" sz="900" b="1" dirty="0">
                <a:solidFill>
                  <a:srgbClr val="1B2A4A"/>
                </a:solidFill>
              </a:rPr>
              <a:t>07 · SAMPLE TEXTS</a:t>
            </a:r>
            <a:endParaRPr lang="en-US" sz="900" dirty="0"/>
          </a:p>
        </p:txBody>
      </p:sp>
      <p:sp>
        <p:nvSpPr>
          <p:cNvPr id="4" name="Text 2"/>
          <p:cNvSpPr/>
          <p:nvPr/>
        </p:nvSpPr>
        <p:spPr>
          <a:xfrm>
            <a:off x="457200" y="658368"/>
            <a:ext cx="8229600" cy="594360"/>
          </a:xfrm>
          <a:prstGeom prst="rect">
            <a:avLst/>
          </a:prstGeom>
          <a:noFill/>
          <a:ln/>
        </p:spPr>
        <p:txBody>
          <a:bodyPr wrap="square" rtlCol="0" anchor="ctr"/>
          <a:lstStyle/>
          <a:p>
            <a:pPr marL="0" indent="0" algn="l">
              <a:buNone/>
            </a:pPr>
            <a:r>
              <a:rPr lang="en-US" sz="2800" b="1" dirty="0">
                <a:solidFill>
                  <a:srgbClr val="FFFFFF"/>
                </a:solidFill>
                <a:latin typeface="Georgia" pitchFamily="34" charset="0"/>
                <a:ea typeface="Georgia" pitchFamily="34" charset="-122"/>
                <a:cs typeface="Georgia" pitchFamily="34" charset="-120"/>
              </a:rPr>
              <a:t>Masri in Action — Two Tiers</a:t>
            </a:r>
            <a:endParaRPr lang="en-US" sz="2800" dirty="0"/>
          </a:p>
        </p:txBody>
      </p:sp>
      <p:sp>
        <p:nvSpPr>
          <p:cNvPr id="5" name="Shape 3"/>
          <p:cNvSpPr/>
          <p:nvPr/>
        </p:nvSpPr>
        <p:spPr>
          <a:xfrm>
            <a:off x="457200" y="1325880"/>
            <a:ext cx="457200" cy="50292"/>
          </a:xfrm>
          <a:prstGeom prst="rect">
            <a:avLst/>
          </a:prstGeom>
          <a:solidFill>
            <a:srgbClr val="C9A84C"/>
          </a:solidFill>
          <a:ln w="12700">
            <a:solidFill>
              <a:srgbClr val="C9A84C"/>
            </a:solidFill>
            <a:prstDash val="solid"/>
          </a:ln>
        </p:spPr>
      </p:sp>
      <p:sp>
        <p:nvSpPr>
          <p:cNvPr id="6" name="Shape 4"/>
          <p:cNvSpPr/>
          <p:nvPr/>
        </p:nvSpPr>
        <p:spPr>
          <a:xfrm>
            <a:off x="457200" y="1417320"/>
            <a:ext cx="8229600" cy="502920"/>
          </a:xfrm>
          <a:prstGeom prst="rect">
            <a:avLst/>
          </a:prstGeom>
          <a:solidFill>
            <a:srgbClr val="FFFFFF">
              <a:alpha val="12000"/>
            </a:srgbClr>
          </a:solidFill>
          <a:ln w="12700">
            <a:solidFill>
              <a:srgbClr val="C9A84C"/>
            </a:solidFill>
            <a:prstDash val="solid"/>
          </a:ln>
        </p:spPr>
      </p:sp>
      <p:sp>
        <p:nvSpPr>
          <p:cNvPr id="7" name="Text 5"/>
          <p:cNvSpPr/>
          <p:nvPr/>
        </p:nvSpPr>
        <p:spPr>
          <a:xfrm>
            <a:off x="594360" y="1417320"/>
            <a:ext cx="1645920" cy="502920"/>
          </a:xfrm>
          <a:prstGeom prst="rect">
            <a:avLst/>
          </a:prstGeom>
          <a:noFill/>
          <a:ln/>
        </p:spPr>
        <p:txBody>
          <a:bodyPr wrap="square" rtlCol="0" anchor="ctr"/>
          <a:lstStyle/>
          <a:p>
            <a:pPr marL="0" indent="0">
              <a:buNone/>
            </a:pPr>
            <a:r>
              <a:rPr lang="en-US" sz="1100" b="1" dirty="0">
                <a:solidFill>
                  <a:srgbClr val="C9A84C"/>
                </a:solidFill>
              </a:rPr>
              <a:t>Arabic Script:</a:t>
            </a:r>
            <a:endParaRPr lang="en-US" sz="1100" dirty="0"/>
          </a:p>
        </p:txBody>
      </p:sp>
      <p:sp>
        <p:nvSpPr>
          <p:cNvPr id="8" name="Text 6"/>
          <p:cNvSpPr/>
          <p:nvPr/>
        </p:nvSpPr>
        <p:spPr>
          <a:xfrm>
            <a:off x="2194560" y="1417320"/>
            <a:ext cx="6217920" cy="502920"/>
          </a:xfrm>
          <a:prstGeom prst="rect">
            <a:avLst/>
          </a:prstGeom>
          <a:noFill/>
          <a:ln/>
        </p:spPr>
        <p:txBody>
          <a:bodyPr wrap="square" rtlCol="0" anchor="ctr"/>
          <a:lstStyle/>
          <a:p>
            <a:pPr marL="0" indent="0" algn="r" rtl="1">
              <a:buNone/>
            </a:pPr>
            <a:r>
              <a:rPr lang="en-US" sz="1200" i="1" dirty="0">
                <a:solidFill>
                  <a:srgbClr val="FFFFFF"/>
                </a:solidFill>
              </a:rPr>
              <a:t>أنا </a:t>
            </a:r>
            <a:r>
              <a:rPr lang="en-US" sz="1200" i="1" dirty="0" err="1">
                <a:solidFill>
                  <a:srgbClr val="FFFFFF"/>
                </a:solidFill>
              </a:rPr>
              <a:t>بحب</a:t>
            </a:r>
            <a:r>
              <a:rPr lang="en-US" sz="1200" i="1" dirty="0">
                <a:solidFill>
                  <a:srgbClr val="FFFFFF"/>
                </a:solidFill>
              </a:rPr>
              <a:t> </a:t>
            </a:r>
            <a:r>
              <a:rPr lang="en-US" sz="1200" i="1" dirty="0" err="1">
                <a:solidFill>
                  <a:srgbClr val="FFFFFF"/>
                </a:solidFill>
              </a:rPr>
              <a:t>مصر</a:t>
            </a:r>
            <a:r>
              <a:rPr lang="en-US" sz="1200" i="1" dirty="0">
                <a:solidFill>
                  <a:srgbClr val="FFFFFF"/>
                </a:solidFill>
              </a:rPr>
              <a:t>. </a:t>
            </a:r>
            <a:r>
              <a:rPr lang="en-US" sz="1200" i="1" dirty="0" err="1">
                <a:solidFill>
                  <a:srgbClr val="FFFFFF"/>
                </a:solidFill>
              </a:rPr>
              <a:t>القهوة</a:t>
            </a:r>
            <a:r>
              <a:rPr lang="en-US" sz="1200" i="1" dirty="0">
                <a:solidFill>
                  <a:srgbClr val="FFFFFF"/>
                </a:solidFill>
              </a:rPr>
              <a:t> المصرية أحسن قهوة في الدنيا. كدة مش رأي. دة حقيقة.</a:t>
            </a:r>
            <a:endParaRPr lang="en-US" sz="1200" dirty="0"/>
          </a:p>
        </p:txBody>
      </p:sp>
      <p:sp>
        <p:nvSpPr>
          <p:cNvPr id="9" name="Shape 7"/>
          <p:cNvSpPr/>
          <p:nvPr/>
        </p:nvSpPr>
        <p:spPr>
          <a:xfrm>
            <a:off x="457200" y="2057400"/>
            <a:ext cx="8229600" cy="960120"/>
          </a:xfrm>
          <a:prstGeom prst="rect">
            <a:avLst/>
          </a:prstGeom>
          <a:solidFill>
            <a:srgbClr val="2B6CB0">
              <a:alpha val="20000"/>
            </a:srgbClr>
          </a:solidFill>
          <a:ln w="12700">
            <a:solidFill>
              <a:srgbClr val="2B6CB0"/>
            </a:solidFill>
            <a:prstDash val="solid"/>
          </a:ln>
        </p:spPr>
      </p:sp>
      <p:sp>
        <p:nvSpPr>
          <p:cNvPr id="10" name="Shape 8"/>
          <p:cNvSpPr/>
          <p:nvPr/>
        </p:nvSpPr>
        <p:spPr>
          <a:xfrm>
            <a:off x="457200" y="2057400"/>
            <a:ext cx="1828800" cy="960120"/>
          </a:xfrm>
          <a:prstGeom prst="rect">
            <a:avLst/>
          </a:prstGeom>
          <a:solidFill>
            <a:srgbClr val="2B6CB0"/>
          </a:solidFill>
          <a:ln w="12700">
            <a:solidFill>
              <a:srgbClr val="2B6CB0"/>
            </a:solidFill>
            <a:prstDash val="solid"/>
          </a:ln>
        </p:spPr>
      </p:sp>
      <p:sp>
        <p:nvSpPr>
          <p:cNvPr id="11" name="Text 9"/>
          <p:cNvSpPr/>
          <p:nvPr/>
        </p:nvSpPr>
        <p:spPr>
          <a:xfrm>
            <a:off x="457200" y="2057400"/>
            <a:ext cx="1828800" cy="960120"/>
          </a:xfrm>
          <a:prstGeom prst="rect">
            <a:avLst/>
          </a:prstGeom>
          <a:noFill/>
          <a:ln/>
        </p:spPr>
        <p:txBody>
          <a:bodyPr wrap="square" lIns="0" tIns="0" rIns="0" bIns="0" rtlCol="0" anchor="ctr"/>
          <a:lstStyle/>
          <a:p>
            <a:pPr marL="0" indent="0" algn="ctr">
              <a:buNone/>
            </a:pPr>
            <a:r>
              <a:rPr lang="en-US" sz="1200" b="1" dirty="0">
                <a:solidFill>
                  <a:srgbClr val="FFFFFF"/>
                </a:solidFill>
              </a:rPr>
              <a:t>TIER 1</a:t>
            </a:r>
            <a:endParaRPr lang="en-US" sz="1200" dirty="0"/>
          </a:p>
          <a:p>
            <a:pPr marL="0" indent="0" algn="ctr">
              <a:buNone/>
            </a:pPr>
            <a:r>
              <a:rPr lang="en-US" sz="1200" b="1" dirty="0">
                <a:solidFill>
                  <a:srgbClr val="FFFFFF"/>
                </a:solidFill>
              </a:rPr>
              <a:t>Everyday</a:t>
            </a:r>
            <a:endParaRPr lang="en-US" sz="1200" dirty="0"/>
          </a:p>
        </p:txBody>
      </p:sp>
      <p:sp>
        <p:nvSpPr>
          <p:cNvPr id="12" name="Text 10"/>
          <p:cNvSpPr/>
          <p:nvPr/>
        </p:nvSpPr>
        <p:spPr>
          <a:xfrm>
            <a:off x="2423160" y="2103120"/>
            <a:ext cx="6126480" cy="868680"/>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Ana baheb Masr. El ahwa el masreya ahesan ahwa fi el donya.</a:t>
            </a:r>
            <a:endParaRPr lang="en-US" sz="1300" dirty="0"/>
          </a:p>
          <a:p>
            <a:pPr marL="0" indent="0">
              <a:buNone/>
            </a:pPr>
            <a:r>
              <a:rPr lang="en-US" sz="1300" dirty="0">
                <a:solidFill>
                  <a:srgbClr val="FFFFFF"/>
                </a:solidFill>
                <a:latin typeface="Courier New" pitchFamily="34" charset="0"/>
                <a:ea typeface="Courier New" pitchFamily="34" charset="-122"/>
                <a:cs typeface="Courier New" pitchFamily="34" charset="-120"/>
              </a:rPr>
              <a:t>Keda mesh ra'y, dah ha'i'a (haqiqa).</a:t>
            </a:r>
            <a:endParaRPr lang="en-US" sz="1300" dirty="0"/>
          </a:p>
        </p:txBody>
      </p:sp>
      <p:sp>
        <p:nvSpPr>
          <p:cNvPr id="13" name="Shape 11"/>
          <p:cNvSpPr/>
          <p:nvPr/>
        </p:nvSpPr>
        <p:spPr>
          <a:xfrm>
            <a:off x="457200" y="3154680"/>
            <a:ext cx="8229600" cy="960120"/>
          </a:xfrm>
          <a:prstGeom prst="rect">
            <a:avLst/>
          </a:prstGeom>
          <a:solidFill>
            <a:srgbClr val="FFFFFF">
              <a:alpha val="12000"/>
            </a:srgbClr>
          </a:solidFill>
          <a:ln w="12700">
            <a:solidFill>
              <a:srgbClr val="C9A84C"/>
            </a:solidFill>
            <a:prstDash val="solid"/>
          </a:ln>
        </p:spPr>
      </p:sp>
      <p:sp>
        <p:nvSpPr>
          <p:cNvPr id="14" name="Shape 12"/>
          <p:cNvSpPr/>
          <p:nvPr/>
        </p:nvSpPr>
        <p:spPr>
          <a:xfrm>
            <a:off x="457200" y="3154680"/>
            <a:ext cx="1828800" cy="960120"/>
          </a:xfrm>
          <a:prstGeom prst="rect">
            <a:avLst/>
          </a:prstGeom>
          <a:solidFill>
            <a:srgbClr val="C9A84C"/>
          </a:solidFill>
          <a:ln w="12700">
            <a:solidFill>
              <a:srgbClr val="C9A84C"/>
            </a:solidFill>
            <a:prstDash val="solid"/>
          </a:ln>
        </p:spPr>
      </p:sp>
      <p:sp>
        <p:nvSpPr>
          <p:cNvPr id="15" name="Text 13"/>
          <p:cNvSpPr/>
          <p:nvPr/>
        </p:nvSpPr>
        <p:spPr>
          <a:xfrm>
            <a:off x="457200" y="3154680"/>
            <a:ext cx="1828800" cy="960120"/>
          </a:xfrm>
          <a:prstGeom prst="rect">
            <a:avLst/>
          </a:prstGeom>
          <a:noFill/>
          <a:ln/>
        </p:spPr>
        <p:txBody>
          <a:bodyPr wrap="square" lIns="0" tIns="0" rIns="0" bIns="0" rtlCol="0" anchor="ctr"/>
          <a:lstStyle/>
          <a:p>
            <a:pPr marL="0" indent="0" algn="ctr">
              <a:buNone/>
            </a:pPr>
            <a:r>
              <a:rPr lang="en-US" sz="1200" b="1" dirty="0">
                <a:solidFill>
                  <a:srgbClr val="1B2A4A"/>
                </a:solidFill>
              </a:rPr>
              <a:t>TIER 2</a:t>
            </a:r>
            <a:endParaRPr lang="en-US" sz="1200" dirty="0"/>
          </a:p>
          <a:p>
            <a:pPr marL="0" indent="0" algn="ctr">
              <a:buNone/>
            </a:pPr>
            <a:r>
              <a:rPr lang="en-US" sz="1200" b="1" dirty="0">
                <a:solidFill>
                  <a:srgbClr val="1B2A4A"/>
                </a:solidFill>
              </a:rPr>
              <a:t>Academic</a:t>
            </a:r>
            <a:endParaRPr lang="en-US" sz="1200" dirty="0"/>
          </a:p>
        </p:txBody>
      </p:sp>
      <p:sp>
        <p:nvSpPr>
          <p:cNvPr id="16" name="Text 14"/>
          <p:cNvSpPr/>
          <p:nvPr/>
        </p:nvSpPr>
        <p:spPr>
          <a:xfrm>
            <a:off x="2423160" y="3200400"/>
            <a:ext cx="6126480" cy="868680"/>
          </a:xfrm>
          <a:prstGeom prst="rect">
            <a:avLst/>
          </a:prstGeom>
          <a:noFill/>
          <a:ln/>
        </p:spPr>
        <p:txBody>
          <a:bodyPr wrap="square" rtlCol="0" anchor="ctr"/>
          <a:lstStyle/>
          <a:p>
            <a:pPr marL="0" indent="0">
              <a:buNone/>
            </a:pPr>
            <a:r>
              <a:rPr lang="en-US" sz="1300" dirty="0">
                <a:solidFill>
                  <a:srgbClr val="E8C96A"/>
                </a:solidFill>
                <a:latin typeface="Courier New" pitchFamily="34" charset="0"/>
                <a:ea typeface="Courier New" pitchFamily="34" charset="-122"/>
                <a:cs typeface="Courier New" pitchFamily="34" charset="-120"/>
              </a:rPr>
              <a:t>Ana </a:t>
            </a:r>
            <a:r>
              <a:rPr lang="en-US" sz="1300" dirty="0" err="1">
                <a:solidFill>
                  <a:srgbClr val="E8C96A"/>
                </a:solidFill>
                <a:latin typeface="Courier New" pitchFamily="34" charset="0"/>
                <a:ea typeface="Courier New" pitchFamily="34" charset="-122"/>
                <a:cs typeface="Courier New" pitchFamily="34" charset="-120"/>
              </a:rPr>
              <a:t>ba</a:t>
            </a:r>
            <a:r>
              <a:rPr lang="en-US" sz="1300" dirty="0" err="1">
                <a:solidFill>
                  <a:srgbClr val="E8C96A"/>
                </a:solidFill>
                <a:latin typeface="Courier New" pitchFamily="34" charset="0"/>
                <a:cs typeface="Courier New" pitchFamily="34" charset="-120"/>
              </a:rPr>
              <a:t>ϩ</a:t>
            </a:r>
            <a:r>
              <a:rPr lang="en-US" sz="1300" dirty="0" err="1">
                <a:solidFill>
                  <a:srgbClr val="E8C96A"/>
                </a:solidFill>
                <a:latin typeface="Courier New" pitchFamily="34" charset="0"/>
                <a:ea typeface="Courier New" pitchFamily="34" charset="-122"/>
                <a:cs typeface="Courier New" pitchFamily="34" charset="-120"/>
              </a:rPr>
              <a:t>eb</a:t>
            </a:r>
            <a:r>
              <a:rPr lang="en-US" sz="1300" dirty="0">
                <a:solidFill>
                  <a:srgbClr val="E8C96A"/>
                </a:solidFill>
                <a:latin typeface="Courier New" pitchFamily="34" charset="0"/>
                <a:ea typeface="Courier New" pitchFamily="34" charset="-122"/>
                <a:cs typeface="Courier New" pitchFamily="34" charset="-120"/>
              </a:rPr>
              <a:t> Maṣr. El ahwa el </a:t>
            </a:r>
            <a:r>
              <a:rPr lang="en-US" sz="1300" dirty="0" err="1">
                <a:solidFill>
                  <a:srgbClr val="E8C96A"/>
                </a:solidFill>
                <a:latin typeface="Courier New" pitchFamily="34" charset="0"/>
                <a:ea typeface="Courier New" pitchFamily="34" charset="-122"/>
                <a:cs typeface="Courier New" pitchFamily="34" charset="-120"/>
              </a:rPr>
              <a:t>maṣreyya</a:t>
            </a:r>
            <a:r>
              <a:rPr lang="en-US" sz="1300" dirty="0">
                <a:solidFill>
                  <a:srgbClr val="E8C96A"/>
                </a:solidFill>
                <a:latin typeface="Courier New" pitchFamily="34" charset="0"/>
                <a:ea typeface="Courier New" pitchFamily="34" charset="-122"/>
                <a:cs typeface="Courier New" pitchFamily="34" charset="-120"/>
              </a:rPr>
              <a:t> </a:t>
            </a:r>
            <a:r>
              <a:rPr lang="en-US" sz="1300" dirty="0" err="1">
                <a:solidFill>
                  <a:srgbClr val="E8C96A"/>
                </a:solidFill>
                <a:latin typeface="Courier New" pitchFamily="34" charset="0"/>
                <a:ea typeface="Courier New" pitchFamily="34" charset="-122"/>
                <a:cs typeface="Courier New" pitchFamily="34" charset="-120"/>
              </a:rPr>
              <a:t>a</a:t>
            </a:r>
            <a:r>
              <a:rPr lang="en-US" sz="1300" dirty="0" err="1">
                <a:solidFill>
                  <a:srgbClr val="E8C96A"/>
                </a:solidFill>
                <a:latin typeface="Courier New" pitchFamily="34" charset="0"/>
                <a:cs typeface="Courier New" pitchFamily="34" charset="-120"/>
              </a:rPr>
              <a:t>ϩ</a:t>
            </a:r>
            <a:r>
              <a:rPr lang="en-US" sz="1300" dirty="0" err="1">
                <a:solidFill>
                  <a:srgbClr val="E8C96A"/>
                </a:solidFill>
                <a:latin typeface="Courier New" pitchFamily="34" charset="0"/>
                <a:ea typeface="Courier New" pitchFamily="34" charset="-122"/>
                <a:cs typeface="Courier New" pitchFamily="34" charset="-120"/>
              </a:rPr>
              <a:t>san</a:t>
            </a:r>
            <a:r>
              <a:rPr lang="en-US" sz="1300" dirty="0">
                <a:solidFill>
                  <a:srgbClr val="E8C96A"/>
                </a:solidFill>
                <a:latin typeface="Courier New" pitchFamily="34" charset="0"/>
                <a:ea typeface="Courier New" pitchFamily="34" charset="-122"/>
                <a:cs typeface="Courier New" pitchFamily="34" charset="-120"/>
              </a:rPr>
              <a:t> ahwa fi el donya.</a:t>
            </a:r>
            <a:endParaRPr lang="en-US" sz="1300" dirty="0"/>
          </a:p>
          <a:p>
            <a:pPr marL="0" indent="0">
              <a:buNone/>
            </a:pPr>
            <a:r>
              <a:rPr lang="en-US" sz="1300" dirty="0" err="1">
                <a:solidFill>
                  <a:srgbClr val="E8C96A"/>
                </a:solidFill>
                <a:latin typeface="Courier New" pitchFamily="34" charset="0"/>
                <a:ea typeface="Courier New" pitchFamily="34" charset="-122"/>
                <a:cs typeface="Courier New" pitchFamily="34" charset="-120"/>
              </a:rPr>
              <a:t>Keda</a:t>
            </a:r>
            <a:r>
              <a:rPr lang="en-US" sz="1300" dirty="0">
                <a:solidFill>
                  <a:srgbClr val="E8C96A"/>
                </a:solidFill>
                <a:latin typeface="Courier New" pitchFamily="34" charset="0"/>
                <a:ea typeface="Courier New" pitchFamily="34" charset="-122"/>
                <a:cs typeface="Courier New" pitchFamily="34" charset="-120"/>
              </a:rPr>
              <a:t> </a:t>
            </a:r>
            <a:r>
              <a:rPr lang="en-US" sz="1300" dirty="0" err="1">
                <a:solidFill>
                  <a:srgbClr val="E8C96A"/>
                </a:solidFill>
                <a:latin typeface="Courier New" pitchFamily="34" charset="0"/>
                <a:ea typeface="Courier New" pitchFamily="34" charset="-122"/>
                <a:cs typeface="Courier New" pitchFamily="34" charset="-120"/>
              </a:rPr>
              <a:t>meϣ</a:t>
            </a:r>
            <a:r>
              <a:rPr lang="en-US" sz="1300" dirty="0">
                <a:solidFill>
                  <a:srgbClr val="E8C96A"/>
                </a:solidFill>
                <a:latin typeface="Courier New" pitchFamily="34" charset="0"/>
                <a:ea typeface="Courier New" pitchFamily="34" charset="-122"/>
                <a:cs typeface="Courier New" pitchFamily="34" charset="-120"/>
              </a:rPr>
              <a:t> </a:t>
            </a:r>
            <a:r>
              <a:rPr lang="en-US" sz="1300" dirty="0" err="1">
                <a:solidFill>
                  <a:srgbClr val="E8C96A"/>
                </a:solidFill>
                <a:latin typeface="Courier New" pitchFamily="34" charset="0"/>
                <a:ea typeface="Courier New" pitchFamily="34" charset="-122"/>
                <a:cs typeface="Courier New" pitchFamily="34" charset="-120"/>
              </a:rPr>
              <a:t>raⱯy</a:t>
            </a:r>
            <a:r>
              <a:rPr lang="en-US" sz="1300" dirty="0">
                <a:solidFill>
                  <a:srgbClr val="E8C96A"/>
                </a:solidFill>
                <a:latin typeface="Courier New" pitchFamily="34" charset="0"/>
                <a:ea typeface="Courier New" pitchFamily="34" charset="-122"/>
                <a:cs typeface="Courier New" pitchFamily="34" charset="-120"/>
              </a:rPr>
              <a:t>, dah ϨaⱯiⱯa.</a:t>
            </a:r>
            <a:endParaRPr lang="en-US" sz="1300" dirty="0"/>
          </a:p>
        </p:txBody>
      </p:sp>
      <p:sp>
        <p:nvSpPr>
          <p:cNvPr id="17" name="Text 15"/>
          <p:cNvSpPr/>
          <p:nvPr/>
        </p:nvSpPr>
        <p:spPr>
          <a:xfrm>
            <a:off x="457200" y="4297680"/>
            <a:ext cx="8229600" cy="347472"/>
          </a:xfrm>
          <a:prstGeom prst="rect">
            <a:avLst/>
          </a:prstGeom>
          <a:noFill/>
          <a:ln/>
        </p:spPr>
        <p:txBody>
          <a:bodyPr wrap="square" rtlCol="0" anchor="ctr"/>
          <a:lstStyle/>
          <a:p>
            <a:pPr marL="0" indent="0">
              <a:buNone/>
            </a:pPr>
            <a:r>
              <a:rPr lang="en-US" sz="1000" i="1" dirty="0">
                <a:solidFill>
                  <a:srgbClr val="C9A84C"/>
                </a:solidFill>
              </a:rPr>
              <a:t>📝  See stress-test sentences on p.16 of the Framework for advanced usage examples.</a:t>
            </a:r>
            <a:endParaRPr lang="en-US" sz="1000" dirty="0"/>
          </a:p>
        </p:txBody>
      </p:sp>
      <p:sp>
        <p:nvSpPr>
          <p:cNvPr id="18" name="Shape 16"/>
          <p:cNvSpPr/>
          <p:nvPr/>
        </p:nvSpPr>
        <p:spPr>
          <a:xfrm>
            <a:off x="0" y="4937760"/>
            <a:ext cx="9144000" cy="205740"/>
          </a:xfrm>
          <a:prstGeom prst="rect">
            <a:avLst/>
          </a:prstGeom>
          <a:solidFill>
            <a:srgbClr val="1B2A4A"/>
          </a:solidFill>
          <a:ln w="12700">
            <a:solidFill>
              <a:srgbClr val="1B2A4A"/>
            </a:solidFill>
            <a:prstDash val="solid"/>
          </a:ln>
        </p:spPr>
      </p:sp>
      <p:sp>
        <p:nvSpPr>
          <p:cNvPr id="19" name="Text 17"/>
          <p:cNvSpPr/>
          <p:nvPr/>
        </p:nvSpPr>
        <p:spPr>
          <a:xfrm>
            <a:off x="0" y="4937760"/>
            <a:ext cx="9144000" cy="205740"/>
          </a:xfrm>
          <a:prstGeom prst="rect">
            <a:avLst/>
          </a:prstGeom>
          <a:noFill/>
          <a:ln/>
        </p:spPr>
        <p:txBody>
          <a:bodyPr wrap="square" lIns="0" tIns="0" rIns="0" bIns="0" rtlCol="0" anchor="ctr"/>
          <a:lstStyle/>
          <a:p>
            <a:pPr marL="0" indent="0" algn="ctr">
              <a:buNone/>
            </a:pPr>
            <a:r>
              <a:rPr lang="en-US" sz="800" dirty="0" err="1">
                <a:solidFill>
                  <a:srgbClr val="C9A84C"/>
                </a:solidFill>
              </a:rPr>
              <a:t>Maṣri</a:t>
            </a:r>
            <a:r>
              <a:rPr lang="en-US" sz="800" dirty="0">
                <a:solidFill>
                  <a:srgbClr val="C9A84C"/>
                </a:solidFill>
              </a:rPr>
              <a:t> Writing System  ·  مصري  ·  Diaa Hassouna  ·  Cairo 2026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28600"/>
            <a:ext cx="1828800" cy="347472"/>
          </a:xfrm>
          <a:prstGeom prst="roundRect">
            <a:avLst/>
          </a:prstGeom>
          <a:solidFill>
            <a:srgbClr val="C9A84C"/>
          </a:solidFill>
          <a:ln w="12700">
            <a:solidFill>
              <a:srgbClr val="C9A84C"/>
            </a:solidFill>
            <a:prstDash val="solid"/>
          </a:ln>
        </p:spPr>
      </p:sp>
      <p:sp>
        <p:nvSpPr>
          <p:cNvPr id="3" name="Text 1"/>
          <p:cNvSpPr/>
          <p:nvPr/>
        </p:nvSpPr>
        <p:spPr>
          <a:xfrm>
            <a:off x="365760" y="228600"/>
            <a:ext cx="1828800" cy="347472"/>
          </a:xfrm>
          <a:prstGeom prst="rect">
            <a:avLst/>
          </a:prstGeom>
          <a:noFill/>
          <a:ln/>
        </p:spPr>
        <p:txBody>
          <a:bodyPr wrap="square" lIns="0" tIns="0" rIns="0" bIns="0" rtlCol="0" anchor="ctr"/>
          <a:lstStyle/>
          <a:p>
            <a:pPr marL="0" indent="0" algn="ctr">
              <a:buNone/>
            </a:pPr>
            <a:r>
              <a:rPr lang="en-US" sz="900" b="1" dirty="0">
                <a:solidFill>
                  <a:srgbClr val="1B2A4A"/>
                </a:solidFill>
              </a:rPr>
              <a:t>EL ABGADEYYA</a:t>
            </a:r>
            <a:endParaRPr lang="en-US" sz="900" dirty="0"/>
          </a:p>
        </p:txBody>
      </p:sp>
      <p:sp>
        <p:nvSpPr>
          <p:cNvPr id="4" name="Text 2"/>
          <p:cNvSpPr/>
          <p:nvPr/>
        </p:nvSpPr>
        <p:spPr>
          <a:xfrm>
            <a:off x="457200" y="658368"/>
            <a:ext cx="8229600" cy="594360"/>
          </a:xfrm>
          <a:prstGeom prst="rect">
            <a:avLst/>
          </a:prstGeom>
          <a:noFill/>
          <a:ln/>
        </p:spPr>
        <p:txBody>
          <a:bodyPr wrap="square" rtlCol="0" anchor="ctr"/>
          <a:lstStyle/>
          <a:p>
            <a:pPr marL="0" indent="0" algn="l">
              <a:buNone/>
            </a:pPr>
            <a:r>
              <a:rPr lang="en-US" sz="2800" b="1" dirty="0">
                <a:solidFill>
                  <a:srgbClr val="1B2A4A"/>
                </a:solidFill>
                <a:latin typeface="Georgia" pitchFamily="34" charset="0"/>
                <a:ea typeface="Georgia" pitchFamily="34" charset="-122"/>
                <a:cs typeface="Georgia" pitchFamily="34" charset="-120"/>
              </a:rPr>
              <a:t>El Abgadeyya El Maṣreyya — الأبجدية المصرية</a:t>
            </a:r>
            <a:endParaRPr lang="en-US" sz="2800" dirty="0"/>
          </a:p>
        </p:txBody>
      </p:sp>
      <p:sp>
        <p:nvSpPr>
          <p:cNvPr id="5" name="Shape 3"/>
          <p:cNvSpPr/>
          <p:nvPr/>
        </p:nvSpPr>
        <p:spPr>
          <a:xfrm>
            <a:off x="457200" y="1325880"/>
            <a:ext cx="457200" cy="50292"/>
          </a:xfrm>
          <a:prstGeom prst="rect">
            <a:avLst/>
          </a:prstGeom>
          <a:solidFill>
            <a:srgbClr val="C9A84C"/>
          </a:solidFill>
          <a:ln w="12700">
            <a:solidFill>
              <a:srgbClr val="C9A84C"/>
            </a:solidFill>
            <a:prstDash val="solid"/>
          </a:ln>
        </p:spPr>
      </p:sp>
      <p:sp>
        <p:nvSpPr>
          <p:cNvPr id="6" name="Shape 4"/>
          <p:cNvSpPr/>
          <p:nvPr/>
        </p:nvSpPr>
        <p:spPr>
          <a:xfrm>
            <a:off x="365760" y="1463040"/>
            <a:ext cx="5303520" cy="347472"/>
          </a:xfrm>
          <a:prstGeom prst="rect">
            <a:avLst/>
          </a:prstGeom>
          <a:solidFill>
            <a:srgbClr val="1B2A4A"/>
          </a:solidFill>
          <a:ln w="12700">
            <a:solidFill>
              <a:srgbClr val="1B2A4A"/>
            </a:solidFill>
            <a:prstDash val="solid"/>
          </a:ln>
        </p:spPr>
      </p:sp>
      <p:sp>
        <p:nvSpPr>
          <p:cNvPr id="7" name="Text 5"/>
          <p:cNvSpPr/>
          <p:nvPr/>
        </p:nvSpPr>
        <p:spPr>
          <a:xfrm>
            <a:off x="365760" y="1463040"/>
            <a:ext cx="5303520" cy="347472"/>
          </a:xfrm>
          <a:prstGeom prst="rect">
            <a:avLst/>
          </a:prstGeom>
          <a:noFill/>
          <a:ln/>
        </p:spPr>
        <p:txBody>
          <a:bodyPr wrap="square" lIns="0" tIns="0" rIns="0" bIns="0" rtlCol="0" anchor="ctr"/>
          <a:lstStyle/>
          <a:p>
            <a:pPr marL="0" indent="0" algn="ctr">
              <a:buNone/>
            </a:pPr>
            <a:r>
              <a:rPr lang="en-US" sz="1000" b="1" dirty="0">
                <a:solidFill>
                  <a:srgbClr val="C9A84C"/>
                </a:solidFill>
              </a:rPr>
              <a:t>STANDARD LATIN (Tier 1)</a:t>
            </a:r>
            <a:endParaRPr lang="en-US" sz="1000" dirty="0"/>
          </a:p>
        </p:txBody>
      </p:sp>
      <p:sp>
        <p:nvSpPr>
          <p:cNvPr id="8" name="Shape 6"/>
          <p:cNvSpPr/>
          <p:nvPr/>
        </p:nvSpPr>
        <p:spPr>
          <a:xfrm>
            <a:off x="365760" y="1847088"/>
            <a:ext cx="658368" cy="566928"/>
          </a:xfrm>
          <a:prstGeom prst="rect">
            <a:avLst/>
          </a:prstGeom>
          <a:solidFill>
            <a:srgbClr val="EDF2F7"/>
          </a:solidFill>
          <a:ln w="12700">
            <a:solidFill>
              <a:srgbClr val="2B6CB0"/>
            </a:solidFill>
            <a:prstDash val="solid"/>
          </a:ln>
        </p:spPr>
      </p:sp>
      <p:sp>
        <p:nvSpPr>
          <p:cNvPr id="9" name="Text 7"/>
          <p:cNvSpPr/>
          <p:nvPr/>
        </p:nvSpPr>
        <p:spPr>
          <a:xfrm>
            <a:off x="365760" y="1847088"/>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A a</a:t>
            </a:r>
            <a:endParaRPr lang="en-US" sz="1300" dirty="0"/>
          </a:p>
        </p:txBody>
      </p:sp>
      <p:sp>
        <p:nvSpPr>
          <p:cNvPr id="10" name="Shape 8"/>
          <p:cNvSpPr/>
          <p:nvPr/>
        </p:nvSpPr>
        <p:spPr>
          <a:xfrm>
            <a:off x="1124712" y="1847088"/>
            <a:ext cx="658368" cy="566928"/>
          </a:xfrm>
          <a:prstGeom prst="rect">
            <a:avLst/>
          </a:prstGeom>
          <a:solidFill>
            <a:srgbClr val="EDF2F7"/>
          </a:solidFill>
          <a:ln w="12700">
            <a:solidFill>
              <a:srgbClr val="2B6CB0"/>
            </a:solidFill>
            <a:prstDash val="solid"/>
          </a:ln>
        </p:spPr>
      </p:sp>
      <p:sp>
        <p:nvSpPr>
          <p:cNvPr id="11" name="Text 9"/>
          <p:cNvSpPr/>
          <p:nvPr/>
        </p:nvSpPr>
        <p:spPr>
          <a:xfrm>
            <a:off x="1124712" y="1847088"/>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B b</a:t>
            </a:r>
            <a:endParaRPr lang="en-US" sz="1300" dirty="0"/>
          </a:p>
        </p:txBody>
      </p:sp>
      <p:sp>
        <p:nvSpPr>
          <p:cNvPr id="12" name="Shape 10"/>
          <p:cNvSpPr/>
          <p:nvPr/>
        </p:nvSpPr>
        <p:spPr>
          <a:xfrm>
            <a:off x="1883664" y="1847088"/>
            <a:ext cx="658368" cy="566928"/>
          </a:xfrm>
          <a:prstGeom prst="rect">
            <a:avLst/>
          </a:prstGeom>
          <a:solidFill>
            <a:srgbClr val="EDF2F7"/>
          </a:solidFill>
          <a:ln w="12700">
            <a:solidFill>
              <a:srgbClr val="2B6CB0"/>
            </a:solidFill>
            <a:prstDash val="solid"/>
          </a:ln>
        </p:spPr>
      </p:sp>
      <p:sp>
        <p:nvSpPr>
          <p:cNvPr id="13" name="Text 11"/>
          <p:cNvSpPr/>
          <p:nvPr/>
        </p:nvSpPr>
        <p:spPr>
          <a:xfrm>
            <a:off x="1883664" y="1847088"/>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P p</a:t>
            </a:r>
            <a:endParaRPr lang="en-US" sz="1300" dirty="0"/>
          </a:p>
        </p:txBody>
      </p:sp>
      <p:sp>
        <p:nvSpPr>
          <p:cNvPr id="14" name="Shape 12"/>
          <p:cNvSpPr/>
          <p:nvPr/>
        </p:nvSpPr>
        <p:spPr>
          <a:xfrm>
            <a:off x="2642616" y="1847088"/>
            <a:ext cx="658368" cy="566928"/>
          </a:xfrm>
          <a:prstGeom prst="rect">
            <a:avLst/>
          </a:prstGeom>
          <a:solidFill>
            <a:srgbClr val="EDF2F7"/>
          </a:solidFill>
          <a:ln w="12700">
            <a:solidFill>
              <a:srgbClr val="2B6CB0"/>
            </a:solidFill>
            <a:prstDash val="solid"/>
          </a:ln>
        </p:spPr>
      </p:sp>
      <p:sp>
        <p:nvSpPr>
          <p:cNvPr id="15" name="Text 13"/>
          <p:cNvSpPr/>
          <p:nvPr/>
        </p:nvSpPr>
        <p:spPr>
          <a:xfrm>
            <a:off x="2642616" y="1847088"/>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T t</a:t>
            </a:r>
            <a:endParaRPr lang="en-US" sz="1300" dirty="0"/>
          </a:p>
        </p:txBody>
      </p:sp>
      <p:sp>
        <p:nvSpPr>
          <p:cNvPr id="16" name="Shape 14"/>
          <p:cNvSpPr/>
          <p:nvPr/>
        </p:nvSpPr>
        <p:spPr>
          <a:xfrm>
            <a:off x="3401568" y="1847088"/>
            <a:ext cx="658368" cy="566928"/>
          </a:xfrm>
          <a:prstGeom prst="rect">
            <a:avLst/>
          </a:prstGeom>
          <a:solidFill>
            <a:srgbClr val="EDF2F7"/>
          </a:solidFill>
          <a:ln w="12700">
            <a:solidFill>
              <a:srgbClr val="2B6CB0"/>
            </a:solidFill>
            <a:prstDash val="solid"/>
          </a:ln>
        </p:spPr>
      </p:sp>
      <p:sp>
        <p:nvSpPr>
          <p:cNvPr id="17" name="Text 15"/>
          <p:cNvSpPr/>
          <p:nvPr/>
        </p:nvSpPr>
        <p:spPr>
          <a:xfrm>
            <a:off x="3401568" y="1847088"/>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G g</a:t>
            </a:r>
            <a:endParaRPr lang="en-US" sz="1300" dirty="0"/>
          </a:p>
        </p:txBody>
      </p:sp>
      <p:sp>
        <p:nvSpPr>
          <p:cNvPr id="18" name="Shape 16"/>
          <p:cNvSpPr/>
          <p:nvPr/>
        </p:nvSpPr>
        <p:spPr>
          <a:xfrm>
            <a:off x="4160520" y="1847088"/>
            <a:ext cx="658368" cy="566928"/>
          </a:xfrm>
          <a:prstGeom prst="rect">
            <a:avLst/>
          </a:prstGeom>
          <a:solidFill>
            <a:srgbClr val="EDF2F7"/>
          </a:solidFill>
          <a:ln w="12700">
            <a:solidFill>
              <a:srgbClr val="2B6CB0"/>
            </a:solidFill>
            <a:prstDash val="solid"/>
          </a:ln>
        </p:spPr>
      </p:sp>
      <p:sp>
        <p:nvSpPr>
          <p:cNvPr id="19" name="Text 17"/>
          <p:cNvSpPr/>
          <p:nvPr/>
        </p:nvSpPr>
        <p:spPr>
          <a:xfrm>
            <a:off x="4160520" y="1847088"/>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D d</a:t>
            </a:r>
            <a:endParaRPr lang="en-US" sz="1300" dirty="0"/>
          </a:p>
        </p:txBody>
      </p:sp>
      <p:sp>
        <p:nvSpPr>
          <p:cNvPr id="20" name="Shape 18"/>
          <p:cNvSpPr/>
          <p:nvPr/>
        </p:nvSpPr>
        <p:spPr>
          <a:xfrm>
            <a:off x="4919472" y="1847088"/>
            <a:ext cx="658368" cy="566928"/>
          </a:xfrm>
          <a:prstGeom prst="rect">
            <a:avLst/>
          </a:prstGeom>
          <a:solidFill>
            <a:srgbClr val="EDF2F7"/>
          </a:solidFill>
          <a:ln w="12700">
            <a:solidFill>
              <a:srgbClr val="2B6CB0"/>
            </a:solidFill>
            <a:prstDash val="solid"/>
          </a:ln>
        </p:spPr>
      </p:sp>
      <p:sp>
        <p:nvSpPr>
          <p:cNvPr id="21" name="Text 19"/>
          <p:cNvSpPr/>
          <p:nvPr/>
        </p:nvSpPr>
        <p:spPr>
          <a:xfrm>
            <a:off x="4919472" y="1847088"/>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F f</a:t>
            </a:r>
            <a:endParaRPr lang="en-US" sz="1300" dirty="0"/>
          </a:p>
        </p:txBody>
      </p:sp>
      <p:sp>
        <p:nvSpPr>
          <p:cNvPr id="22" name="Shape 20"/>
          <p:cNvSpPr/>
          <p:nvPr/>
        </p:nvSpPr>
        <p:spPr>
          <a:xfrm>
            <a:off x="365760" y="2505456"/>
            <a:ext cx="658368" cy="566928"/>
          </a:xfrm>
          <a:prstGeom prst="rect">
            <a:avLst/>
          </a:prstGeom>
          <a:solidFill>
            <a:srgbClr val="D6E4F7"/>
          </a:solidFill>
          <a:ln w="12700">
            <a:solidFill>
              <a:srgbClr val="2B6CB0"/>
            </a:solidFill>
            <a:prstDash val="solid"/>
          </a:ln>
        </p:spPr>
      </p:sp>
      <p:sp>
        <p:nvSpPr>
          <p:cNvPr id="23" name="Text 21"/>
          <p:cNvSpPr/>
          <p:nvPr/>
        </p:nvSpPr>
        <p:spPr>
          <a:xfrm>
            <a:off x="365760" y="2505456"/>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H h</a:t>
            </a:r>
            <a:endParaRPr lang="en-US" sz="1300" dirty="0"/>
          </a:p>
        </p:txBody>
      </p:sp>
      <p:sp>
        <p:nvSpPr>
          <p:cNvPr id="24" name="Shape 22"/>
          <p:cNvSpPr/>
          <p:nvPr/>
        </p:nvSpPr>
        <p:spPr>
          <a:xfrm>
            <a:off x="1124712" y="2505456"/>
            <a:ext cx="658368" cy="566928"/>
          </a:xfrm>
          <a:prstGeom prst="rect">
            <a:avLst/>
          </a:prstGeom>
          <a:solidFill>
            <a:srgbClr val="D6E4F7"/>
          </a:solidFill>
          <a:ln w="12700">
            <a:solidFill>
              <a:srgbClr val="2B6CB0"/>
            </a:solidFill>
            <a:prstDash val="solid"/>
          </a:ln>
        </p:spPr>
      </p:sp>
      <p:sp>
        <p:nvSpPr>
          <p:cNvPr id="25" name="Text 23"/>
          <p:cNvSpPr/>
          <p:nvPr/>
        </p:nvSpPr>
        <p:spPr>
          <a:xfrm>
            <a:off x="1124712" y="2505456"/>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K k</a:t>
            </a:r>
            <a:endParaRPr lang="en-US" sz="1300" dirty="0"/>
          </a:p>
        </p:txBody>
      </p:sp>
      <p:sp>
        <p:nvSpPr>
          <p:cNvPr id="26" name="Shape 24"/>
          <p:cNvSpPr/>
          <p:nvPr/>
        </p:nvSpPr>
        <p:spPr>
          <a:xfrm>
            <a:off x="1883664" y="2505456"/>
            <a:ext cx="658368" cy="566928"/>
          </a:xfrm>
          <a:prstGeom prst="rect">
            <a:avLst/>
          </a:prstGeom>
          <a:solidFill>
            <a:srgbClr val="D6E4F7"/>
          </a:solidFill>
          <a:ln w="12700">
            <a:solidFill>
              <a:srgbClr val="2B6CB0"/>
            </a:solidFill>
            <a:prstDash val="solid"/>
          </a:ln>
        </p:spPr>
      </p:sp>
      <p:sp>
        <p:nvSpPr>
          <p:cNvPr id="27" name="Text 25"/>
          <p:cNvSpPr/>
          <p:nvPr/>
        </p:nvSpPr>
        <p:spPr>
          <a:xfrm>
            <a:off x="1883664" y="2505456"/>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L l</a:t>
            </a:r>
            <a:endParaRPr lang="en-US" sz="1300" dirty="0"/>
          </a:p>
        </p:txBody>
      </p:sp>
      <p:sp>
        <p:nvSpPr>
          <p:cNvPr id="28" name="Shape 26"/>
          <p:cNvSpPr/>
          <p:nvPr/>
        </p:nvSpPr>
        <p:spPr>
          <a:xfrm>
            <a:off x="2642616" y="2505456"/>
            <a:ext cx="658368" cy="566928"/>
          </a:xfrm>
          <a:prstGeom prst="rect">
            <a:avLst/>
          </a:prstGeom>
          <a:solidFill>
            <a:srgbClr val="D6E4F7"/>
          </a:solidFill>
          <a:ln w="12700">
            <a:solidFill>
              <a:srgbClr val="2B6CB0"/>
            </a:solidFill>
            <a:prstDash val="solid"/>
          </a:ln>
        </p:spPr>
      </p:sp>
      <p:sp>
        <p:nvSpPr>
          <p:cNvPr id="29" name="Text 27"/>
          <p:cNvSpPr/>
          <p:nvPr/>
        </p:nvSpPr>
        <p:spPr>
          <a:xfrm>
            <a:off x="2642616" y="2505456"/>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M m</a:t>
            </a:r>
            <a:endParaRPr lang="en-US" sz="1300" dirty="0"/>
          </a:p>
        </p:txBody>
      </p:sp>
      <p:sp>
        <p:nvSpPr>
          <p:cNvPr id="30" name="Shape 28"/>
          <p:cNvSpPr/>
          <p:nvPr/>
        </p:nvSpPr>
        <p:spPr>
          <a:xfrm>
            <a:off x="3401568" y="2505456"/>
            <a:ext cx="658368" cy="566928"/>
          </a:xfrm>
          <a:prstGeom prst="rect">
            <a:avLst/>
          </a:prstGeom>
          <a:solidFill>
            <a:srgbClr val="D6E4F7"/>
          </a:solidFill>
          <a:ln w="12700">
            <a:solidFill>
              <a:srgbClr val="2B6CB0"/>
            </a:solidFill>
            <a:prstDash val="solid"/>
          </a:ln>
        </p:spPr>
      </p:sp>
      <p:sp>
        <p:nvSpPr>
          <p:cNvPr id="31" name="Text 29"/>
          <p:cNvSpPr/>
          <p:nvPr/>
        </p:nvSpPr>
        <p:spPr>
          <a:xfrm>
            <a:off x="3401568" y="2505456"/>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N n</a:t>
            </a:r>
            <a:endParaRPr lang="en-US" sz="1300" dirty="0"/>
          </a:p>
        </p:txBody>
      </p:sp>
      <p:sp>
        <p:nvSpPr>
          <p:cNvPr id="32" name="Shape 30"/>
          <p:cNvSpPr/>
          <p:nvPr/>
        </p:nvSpPr>
        <p:spPr>
          <a:xfrm>
            <a:off x="4160520" y="2505456"/>
            <a:ext cx="658368" cy="566928"/>
          </a:xfrm>
          <a:prstGeom prst="rect">
            <a:avLst/>
          </a:prstGeom>
          <a:solidFill>
            <a:srgbClr val="D6E4F7"/>
          </a:solidFill>
          <a:ln w="12700">
            <a:solidFill>
              <a:srgbClr val="2B6CB0"/>
            </a:solidFill>
            <a:prstDash val="solid"/>
          </a:ln>
        </p:spPr>
      </p:sp>
      <p:sp>
        <p:nvSpPr>
          <p:cNvPr id="33" name="Text 31"/>
          <p:cNvSpPr/>
          <p:nvPr/>
        </p:nvSpPr>
        <p:spPr>
          <a:xfrm>
            <a:off x="4160520" y="2505456"/>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R r</a:t>
            </a:r>
            <a:endParaRPr lang="en-US" sz="1300" dirty="0"/>
          </a:p>
        </p:txBody>
      </p:sp>
      <p:sp>
        <p:nvSpPr>
          <p:cNvPr id="34" name="Shape 32"/>
          <p:cNvSpPr/>
          <p:nvPr/>
        </p:nvSpPr>
        <p:spPr>
          <a:xfrm>
            <a:off x="4919472" y="2505456"/>
            <a:ext cx="658368" cy="566928"/>
          </a:xfrm>
          <a:prstGeom prst="rect">
            <a:avLst/>
          </a:prstGeom>
          <a:solidFill>
            <a:srgbClr val="D6E4F7"/>
          </a:solidFill>
          <a:ln w="12700">
            <a:solidFill>
              <a:srgbClr val="2B6CB0"/>
            </a:solidFill>
            <a:prstDash val="solid"/>
          </a:ln>
        </p:spPr>
      </p:sp>
      <p:sp>
        <p:nvSpPr>
          <p:cNvPr id="35" name="Text 33"/>
          <p:cNvSpPr/>
          <p:nvPr/>
        </p:nvSpPr>
        <p:spPr>
          <a:xfrm>
            <a:off x="4919472" y="2505456"/>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S s</a:t>
            </a:r>
            <a:endParaRPr lang="en-US" sz="1300" dirty="0"/>
          </a:p>
        </p:txBody>
      </p:sp>
      <p:sp>
        <p:nvSpPr>
          <p:cNvPr id="36" name="Shape 34"/>
          <p:cNvSpPr/>
          <p:nvPr/>
        </p:nvSpPr>
        <p:spPr>
          <a:xfrm>
            <a:off x="365760" y="3163824"/>
            <a:ext cx="658368" cy="566928"/>
          </a:xfrm>
          <a:prstGeom prst="rect">
            <a:avLst/>
          </a:prstGeom>
          <a:solidFill>
            <a:srgbClr val="EDF2F7"/>
          </a:solidFill>
          <a:ln w="12700">
            <a:solidFill>
              <a:srgbClr val="2B6CB0"/>
            </a:solidFill>
            <a:prstDash val="solid"/>
          </a:ln>
        </p:spPr>
      </p:sp>
      <p:sp>
        <p:nvSpPr>
          <p:cNvPr id="37" name="Text 35"/>
          <p:cNvSpPr/>
          <p:nvPr/>
        </p:nvSpPr>
        <p:spPr>
          <a:xfrm>
            <a:off x="365760" y="3163824"/>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V v</a:t>
            </a:r>
            <a:endParaRPr lang="en-US" sz="1300" dirty="0"/>
          </a:p>
        </p:txBody>
      </p:sp>
      <p:sp>
        <p:nvSpPr>
          <p:cNvPr id="38" name="Shape 36"/>
          <p:cNvSpPr/>
          <p:nvPr/>
        </p:nvSpPr>
        <p:spPr>
          <a:xfrm>
            <a:off x="1124712" y="3163824"/>
            <a:ext cx="658368" cy="566928"/>
          </a:xfrm>
          <a:prstGeom prst="rect">
            <a:avLst/>
          </a:prstGeom>
          <a:solidFill>
            <a:srgbClr val="EDF2F7"/>
          </a:solidFill>
          <a:ln w="12700">
            <a:solidFill>
              <a:srgbClr val="2B6CB0"/>
            </a:solidFill>
            <a:prstDash val="solid"/>
          </a:ln>
        </p:spPr>
      </p:sp>
      <p:sp>
        <p:nvSpPr>
          <p:cNvPr id="39" name="Text 37"/>
          <p:cNvSpPr/>
          <p:nvPr/>
        </p:nvSpPr>
        <p:spPr>
          <a:xfrm>
            <a:off x="1124712" y="3163824"/>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W w</a:t>
            </a:r>
            <a:endParaRPr lang="en-US" sz="1300" dirty="0"/>
          </a:p>
        </p:txBody>
      </p:sp>
      <p:sp>
        <p:nvSpPr>
          <p:cNvPr id="40" name="Shape 38"/>
          <p:cNvSpPr/>
          <p:nvPr/>
        </p:nvSpPr>
        <p:spPr>
          <a:xfrm>
            <a:off x="1883664" y="3163824"/>
            <a:ext cx="658368" cy="566928"/>
          </a:xfrm>
          <a:prstGeom prst="rect">
            <a:avLst/>
          </a:prstGeom>
          <a:solidFill>
            <a:srgbClr val="EDF2F7"/>
          </a:solidFill>
          <a:ln w="12700">
            <a:solidFill>
              <a:srgbClr val="2B6CB0"/>
            </a:solidFill>
            <a:prstDash val="solid"/>
          </a:ln>
        </p:spPr>
      </p:sp>
      <p:sp>
        <p:nvSpPr>
          <p:cNvPr id="41" name="Text 39"/>
          <p:cNvSpPr/>
          <p:nvPr/>
        </p:nvSpPr>
        <p:spPr>
          <a:xfrm>
            <a:off x="1883664" y="3163824"/>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X x</a:t>
            </a:r>
            <a:endParaRPr lang="en-US" sz="1300" dirty="0"/>
          </a:p>
        </p:txBody>
      </p:sp>
      <p:sp>
        <p:nvSpPr>
          <p:cNvPr id="42" name="Shape 40"/>
          <p:cNvSpPr/>
          <p:nvPr/>
        </p:nvSpPr>
        <p:spPr>
          <a:xfrm>
            <a:off x="2642616" y="3163824"/>
            <a:ext cx="658368" cy="566928"/>
          </a:xfrm>
          <a:prstGeom prst="rect">
            <a:avLst/>
          </a:prstGeom>
          <a:solidFill>
            <a:srgbClr val="EDF2F7"/>
          </a:solidFill>
          <a:ln w="12700">
            <a:solidFill>
              <a:srgbClr val="2B6CB0"/>
            </a:solidFill>
            <a:prstDash val="solid"/>
          </a:ln>
        </p:spPr>
      </p:sp>
      <p:sp>
        <p:nvSpPr>
          <p:cNvPr id="43" name="Text 41"/>
          <p:cNvSpPr/>
          <p:nvPr/>
        </p:nvSpPr>
        <p:spPr>
          <a:xfrm>
            <a:off x="2642616" y="3163824"/>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Y y</a:t>
            </a:r>
            <a:endParaRPr lang="en-US" sz="1300" dirty="0"/>
          </a:p>
        </p:txBody>
      </p:sp>
      <p:sp>
        <p:nvSpPr>
          <p:cNvPr id="44" name="Shape 42"/>
          <p:cNvSpPr/>
          <p:nvPr/>
        </p:nvSpPr>
        <p:spPr>
          <a:xfrm>
            <a:off x="3401568" y="3163824"/>
            <a:ext cx="658368" cy="566928"/>
          </a:xfrm>
          <a:prstGeom prst="rect">
            <a:avLst/>
          </a:prstGeom>
          <a:solidFill>
            <a:srgbClr val="EDF2F7"/>
          </a:solidFill>
          <a:ln w="12700">
            <a:solidFill>
              <a:srgbClr val="2B6CB0"/>
            </a:solidFill>
            <a:prstDash val="solid"/>
          </a:ln>
        </p:spPr>
      </p:sp>
      <p:sp>
        <p:nvSpPr>
          <p:cNvPr id="45" name="Text 43"/>
          <p:cNvSpPr/>
          <p:nvPr/>
        </p:nvSpPr>
        <p:spPr>
          <a:xfrm>
            <a:off x="3401568" y="3163824"/>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Z z</a:t>
            </a:r>
            <a:endParaRPr lang="en-US" sz="1300" dirty="0"/>
          </a:p>
        </p:txBody>
      </p:sp>
      <p:sp>
        <p:nvSpPr>
          <p:cNvPr id="46" name="Shape 44"/>
          <p:cNvSpPr/>
          <p:nvPr/>
        </p:nvSpPr>
        <p:spPr>
          <a:xfrm>
            <a:off x="4160520" y="3163824"/>
            <a:ext cx="658368" cy="566928"/>
          </a:xfrm>
          <a:prstGeom prst="rect">
            <a:avLst/>
          </a:prstGeom>
          <a:solidFill>
            <a:srgbClr val="EDF2F7"/>
          </a:solidFill>
          <a:ln w="12700">
            <a:solidFill>
              <a:srgbClr val="2B6CB0"/>
            </a:solidFill>
            <a:prstDash val="solid"/>
          </a:ln>
        </p:spPr>
      </p:sp>
      <p:sp>
        <p:nvSpPr>
          <p:cNvPr id="47" name="Text 45"/>
          <p:cNvSpPr/>
          <p:nvPr/>
        </p:nvSpPr>
        <p:spPr>
          <a:xfrm>
            <a:off x="4160520" y="3163824"/>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Q q</a:t>
            </a:r>
            <a:endParaRPr lang="en-US" sz="1300" dirty="0"/>
          </a:p>
        </p:txBody>
      </p:sp>
      <p:sp>
        <p:nvSpPr>
          <p:cNvPr id="48" name="Shape 46"/>
          <p:cNvSpPr/>
          <p:nvPr/>
        </p:nvSpPr>
        <p:spPr>
          <a:xfrm>
            <a:off x="4919472" y="3163824"/>
            <a:ext cx="658368" cy="566928"/>
          </a:xfrm>
          <a:prstGeom prst="rect">
            <a:avLst/>
          </a:prstGeom>
          <a:solidFill>
            <a:srgbClr val="EDF2F7"/>
          </a:solidFill>
          <a:ln w="12700">
            <a:solidFill>
              <a:srgbClr val="2B6CB0"/>
            </a:solidFill>
            <a:prstDash val="solid"/>
          </a:ln>
        </p:spPr>
      </p:sp>
      <p:sp>
        <p:nvSpPr>
          <p:cNvPr id="49" name="Text 47"/>
          <p:cNvSpPr/>
          <p:nvPr/>
        </p:nvSpPr>
        <p:spPr>
          <a:xfrm>
            <a:off x="4919472" y="3163824"/>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E e</a:t>
            </a:r>
            <a:endParaRPr lang="en-US" sz="1300" dirty="0"/>
          </a:p>
        </p:txBody>
      </p:sp>
      <p:sp>
        <p:nvSpPr>
          <p:cNvPr id="50" name="Shape 48"/>
          <p:cNvSpPr/>
          <p:nvPr/>
        </p:nvSpPr>
        <p:spPr>
          <a:xfrm>
            <a:off x="365760" y="3822192"/>
            <a:ext cx="658368" cy="566928"/>
          </a:xfrm>
          <a:prstGeom prst="rect">
            <a:avLst/>
          </a:prstGeom>
          <a:solidFill>
            <a:srgbClr val="D6E4F7"/>
          </a:solidFill>
          <a:ln w="12700">
            <a:solidFill>
              <a:srgbClr val="2B6CB0"/>
            </a:solidFill>
            <a:prstDash val="solid"/>
          </a:ln>
        </p:spPr>
      </p:sp>
      <p:sp>
        <p:nvSpPr>
          <p:cNvPr id="51" name="Text 49"/>
          <p:cNvSpPr/>
          <p:nvPr/>
        </p:nvSpPr>
        <p:spPr>
          <a:xfrm>
            <a:off x="365760" y="3822192"/>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I i</a:t>
            </a:r>
            <a:endParaRPr lang="en-US" sz="1300" dirty="0"/>
          </a:p>
        </p:txBody>
      </p:sp>
      <p:sp>
        <p:nvSpPr>
          <p:cNvPr id="52" name="Shape 50"/>
          <p:cNvSpPr/>
          <p:nvPr/>
        </p:nvSpPr>
        <p:spPr>
          <a:xfrm>
            <a:off x="1124712" y="3822192"/>
            <a:ext cx="658368" cy="566928"/>
          </a:xfrm>
          <a:prstGeom prst="rect">
            <a:avLst/>
          </a:prstGeom>
          <a:solidFill>
            <a:srgbClr val="D6E4F7"/>
          </a:solidFill>
          <a:ln w="12700">
            <a:solidFill>
              <a:srgbClr val="2B6CB0"/>
            </a:solidFill>
            <a:prstDash val="solid"/>
          </a:ln>
        </p:spPr>
      </p:sp>
      <p:sp>
        <p:nvSpPr>
          <p:cNvPr id="53" name="Text 51"/>
          <p:cNvSpPr/>
          <p:nvPr/>
        </p:nvSpPr>
        <p:spPr>
          <a:xfrm>
            <a:off x="1124712" y="3822192"/>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O o</a:t>
            </a:r>
            <a:endParaRPr lang="en-US" sz="1300" dirty="0"/>
          </a:p>
        </p:txBody>
      </p:sp>
      <p:sp>
        <p:nvSpPr>
          <p:cNvPr id="54" name="Shape 52"/>
          <p:cNvSpPr/>
          <p:nvPr/>
        </p:nvSpPr>
        <p:spPr>
          <a:xfrm>
            <a:off x="1883664" y="3822192"/>
            <a:ext cx="658368" cy="566928"/>
          </a:xfrm>
          <a:prstGeom prst="rect">
            <a:avLst/>
          </a:prstGeom>
          <a:solidFill>
            <a:srgbClr val="D6E4F7"/>
          </a:solidFill>
          <a:ln w="12700">
            <a:solidFill>
              <a:srgbClr val="2B6CB0"/>
            </a:solidFill>
            <a:prstDash val="solid"/>
          </a:ln>
        </p:spPr>
      </p:sp>
      <p:sp>
        <p:nvSpPr>
          <p:cNvPr id="55" name="Text 53"/>
          <p:cNvSpPr/>
          <p:nvPr/>
        </p:nvSpPr>
        <p:spPr>
          <a:xfrm>
            <a:off x="1883664" y="3822192"/>
            <a:ext cx="658368" cy="566928"/>
          </a:xfrm>
          <a:prstGeom prst="rect">
            <a:avLst/>
          </a:prstGeom>
          <a:noFill/>
          <a:ln/>
        </p:spPr>
        <p:txBody>
          <a:bodyPr wrap="square" lIns="0" tIns="0" rIns="0" bIns="0" rtlCol="0" anchor="ctr"/>
          <a:lstStyle/>
          <a:p>
            <a:pPr marL="0" indent="0" algn="ctr">
              <a:buNone/>
            </a:pPr>
            <a:r>
              <a:rPr lang="en-US" sz="1300" b="1" dirty="0">
                <a:solidFill>
                  <a:srgbClr val="1B2A4A"/>
                </a:solidFill>
              </a:rPr>
              <a:t>U u</a:t>
            </a:r>
            <a:endParaRPr lang="en-US" sz="1300" dirty="0"/>
          </a:p>
        </p:txBody>
      </p:sp>
      <p:sp>
        <p:nvSpPr>
          <p:cNvPr id="56" name="Shape 54"/>
          <p:cNvSpPr/>
          <p:nvPr/>
        </p:nvSpPr>
        <p:spPr>
          <a:xfrm>
            <a:off x="5852160" y="1463040"/>
            <a:ext cx="2926080" cy="347472"/>
          </a:xfrm>
          <a:prstGeom prst="rect">
            <a:avLst/>
          </a:prstGeom>
          <a:solidFill>
            <a:srgbClr val="9B2335"/>
          </a:solidFill>
          <a:ln w="12700">
            <a:solidFill>
              <a:srgbClr val="9B2335"/>
            </a:solidFill>
            <a:prstDash val="solid"/>
          </a:ln>
        </p:spPr>
      </p:sp>
      <p:sp>
        <p:nvSpPr>
          <p:cNvPr id="57" name="Text 55"/>
          <p:cNvSpPr/>
          <p:nvPr/>
        </p:nvSpPr>
        <p:spPr>
          <a:xfrm>
            <a:off x="5852160" y="1463040"/>
            <a:ext cx="2926080" cy="347472"/>
          </a:xfrm>
          <a:prstGeom prst="rect">
            <a:avLst/>
          </a:prstGeom>
          <a:noFill/>
          <a:ln/>
        </p:spPr>
        <p:txBody>
          <a:bodyPr wrap="square" lIns="0" tIns="0" rIns="0" bIns="0" rtlCol="0" anchor="ctr"/>
          <a:lstStyle/>
          <a:p>
            <a:pPr marL="0" indent="0" algn="ctr">
              <a:buNone/>
            </a:pPr>
            <a:r>
              <a:rPr lang="en-US" sz="1000" b="1" dirty="0">
                <a:solidFill>
                  <a:srgbClr val="FFFFFF"/>
                </a:solidFill>
              </a:rPr>
              <a:t>GREEK &amp; COPTIC (Tier 2)</a:t>
            </a:r>
            <a:endParaRPr lang="en-US" sz="1000" dirty="0"/>
          </a:p>
        </p:txBody>
      </p:sp>
      <p:sp>
        <p:nvSpPr>
          <p:cNvPr id="58" name="Shape 56"/>
          <p:cNvSpPr/>
          <p:nvPr/>
        </p:nvSpPr>
        <p:spPr>
          <a:xfrm>
            <a:off x="5852160" y="1847088"/>
            <a:ext cx="868680" cy="621792"/>
          </a:xfrm>
          <a:prstGeom prst="rect">
            <a:avLst/>
          </a:prstGeom>
          <a:solidFill>
            <a:srgbClr val="FFF3CD"/>
          </a:solidFill>
          <a:ln w="12700">
            <a:solidFill>
              <a:srgbClr val="C9A84C"/>
            </a:solidFill>
            <a:prstDash val="solid"/>
          </a:ln>
        </p:spPr>
      </p:sp>
      <p:sp>
        <p:nvSpPr>
          <p:cNvPr id="59" name="Text 57"/>
          <p:cNvSpPr/>
          <p:nvPr/>
        </p:nvSpPr>
        <p:spPr>
          <a:xfrm>
            <a:off x="5852160" y="1847088"/>
            <a:ext cx="868680" cy="621792"/>
          </a:xfrm>
          <a:prstGeom prst="rect">
            <a:avLst/>
          </a:prstGeom>
          <a:noFill/>
          <a:ln/>
        </p:spPr>
        <p:txBody>
          <a:bodyPr wrap="square" lIns="0" tIns="0" rIns="0" bIns="0" rtlCol="0" anchor="ctr"/>
          <a:lstStyle/>
          <a:p>
            <a:pPr marL="0" indent="0" algn="ctr">
              <a:buNone/>
            </a:pPr>
            <a:r>
              <a:rPr lang="en-US" sz="1500" b="1" dirty="0">
                <a:solidFill>
                  <a:srgbClr val="1B2A4A"/>
                </a:solidFill>
              </a:rPr>
              <a:t>Θ θ</a:t>
            </a:r>
            <a:endParaRPr lang="en-US" sz="1500" dirty="0"/>
          </a:p>
        </p:txBody>
      </p:sp>
      <p:sp>
        <p:nvSpPr>
          <p:cNvPr id="60" name="Shape 58"/>
          <p:cNvSpPr/>
          <p:nvPr/>
        </p:nvSpPr>
        <p:spPr>
          <a:xfrm>
            <a:off x="6839712" y="1847088"/>
            <a:ext cx="868680" cy="621792"/>
          </a:xfrm>
          <a:prstGeom prst="rect">
            <a:avLst/>
          </a:prstGeom>
          <a:solidFill>
            <a:srgbClr val="FFF3CD"/>
          </a:solidFill>
          <a:ln w="12700">
            <a:solidFill>
              <a:srgbClr val="C9A84C"/>
            </a:solidFill>
            <a:prstDash val="solid"/>
          </a:ln>
        </p:spPr>
      </p:sp>
      <p:sp>
        <p:nvSpPr>
          <p:cNvPr id="61" name="Text 59"/>
          <p:cNvSpPr/>
          <p:nvPr/>
        </p:nvSpPr>
        <p:spPr>
          <a:xfrm>
            <a:off x="6839712" y="1847088"/>
            <a:ext cx="868680" cy="621792"/>
          </a:xfrm>
          <a:prstGeom prst="rect">
            <a:avLst/>
          </a:prstGeom>
          <a:noFill/>
          <a:ln/>
        </p:spPr>
        <p:txBody>
          <a:bodyPr wrap="square" lIns="0" tIns="0" rIns="0" bIns="0" rtlCol="0" anchor="ctr"/>
          <a:lstStyle/>
          <a:p>
            <a:pPr marL="0" indent="0" algn="ctr">
              <a:buNone/>
            </a:pPr>
            <a:r>
              <a:rPr lang="en-US" sz="1500" b="1" dirty="0">
                <a:solidFill>
                  <a:srgbClr val="1B2A4A"/>
                </a:solidFill>
              </a:rPr>
              <a:t>Ϩ ϩ</a:t>
            </a:r>
            <a:endParaRPr lang="en-US" sz="1500" dirty="0"/>
          </a:p>
        </p:txBody>
      </p:sp>
      <p:sp>
        <p:nvSpPr>
          <p:cNvPr id="62" name="Shape 60"/>
          <p:cNvSpPr/>
          <p:nvPr/>
        </p:nvSpPr>
        <p:spPr>
          <a:xfrm>
            <a:off x="7827264" y="1847088"/>
            <a:ext cx="868680" cy="621792"/>
          </a:xfrm>
          <a:prstGeom prst="rect">
            <a:avLst/>
          </a:prstGeom>
          <a:solidFill>
            <a:srgbClr val="FFF3CD"/>
          </a:solidFill>
          <a:ln w="12700">
            <a:solidFill>
              <a:srgbClr val="C9A84C"/>
            </a:solidFill>
            <a:prstDash val="solid"/>
          </a:ln>
        </p:spPr>
      </p:sp>
      <p:sp>
        <p:nvSpPr>
          <p:cNvPr id="63" name="Text 61"/>
          <p:cNvSpPr/>
          <p:nvPr/>
        </p:nvSpPr>
        <p:spPr>
          <a:xfrm>
            <a:off x="7827264" y="1847088"/>
            <a:ext cx="868680" cy="621792"/>
          </a:xfrm>
          <a:prstGeom prst="rect">
            <a:avLst/>
          </a:prstGeom>
          <a:noFill/>
          <a:ln/>
        </p:spPr>
        <p:txBody>
          <a:bodyPr wrap="square" lIns="0" tIns="0" rIns="0" bIns="0" rtlCol="0" anchor="ctr"/>
          <a:lstStyle/>
          <a:p>
            <a:pPr marL="0" indent="0" algn="ctr">
              <a:buNone/>
            </a:pPr>
            <a:r>
              <a:rPr lang="en-US" sz="1500" b="1" dirty="0">
                <a:solidFill>
                  <a:srgbClr val="1B2A4A"/>
                </a:solidFill>
              </a:rPr>
              <a:t>Ð ð</a:t>
            </a:r>
            <a:endParaRPr lang="en-US" sz="1500" dirty="0"/>
          </a:p>
        </p:txBody>
      </p:sp>
      <p:sp>
        <p:nvSpPr>
          <p:cNvPr id="64" name="Shape 62"/>
          <p:cNvSpPr/>
          <p:nvPr/>
        </p:nvSpPr>
        <p:spPr>
          <a:xfrm>
            <a:off x="5852160" y="2560320"/>
            <a:ext cx="868680" cy="621792"/>
          </a:xfrm>
          <a:prstGeom prst="rect">
            <a:avLst/>
          </a:prstGeom>
          <a:solidFill>
            <a:srgbClr val="FFEAA0"/>
          </a:solidFill>
          <a:ln w="12700">
            <a:solidFill>
              <a:srgbClr val="C9A84C"/>
            </a:solidFill>
            <a:prstDash val="solid"/>
          </a:ln>
        </p:spPr>
      </p:sp>
      <p:sp>
        <p:nvSpPr>
          <p:cNvPr id="65" name="Text 63"/>
          <p:cNvSpPr/>
          <p:nvPr/>
        </p:nvSpPr>
        <p:spPr>
          <a:xfrm>
            <a:off x="5852160" y="2560320"/>
            <a:ext cx="868680" cy="621792"/>
          </a:xfrm>
          <a:prstGeom prst="rect">
            <a:avLst/>
          </a:prstGeom>
          <a:noFill/>
          <a:ln/>
        </p:spPr>
        <p:txBody>
          <a:bodyPr wrap="square" lIns="0" tIns="0" rIns="0" bIns="0" rtlCol="0" anchor="ctr"/>
          <a:lstStyle/>
          <a:p>
            <a:pPr marL="0" indent="0" algn="ctr">
              <a:buNone/>
            </a:pPr>
            <a:r>
              <a:rPr lang="en-US" sz="1500" b="1" dirty="0">
                <a:solidFill>
                  <a:srgbClr val="1B2A4A"/>
                </a:solidFill>
              </a:rPr>
              <a:t>Ϣ ϣ</a:t>
            </a:r>
            <a:endParaRPr lang="en-US" sz="1500" dirty="0"/>
          </a:p>
        </p:txBody>
      </p:sp>
      <p:sp>
        <p:nvSpPr>
          <p:cNvPr id="66" name="Shape 64"/>
          <p:cNvSpPr/>
          <p:nvPr/>
        </p:nvSpPr>
        <p:spPr>
          <a:xfrm>
            <a:off x="6839712" y="2560320"/>
            <a:ext cx="868680" cy="621792"/>
          </a:xfrm>
          <a:prstGeom prst="rect">
            <a:avLst/>
          </a:prstGeom>
          <a:solidFill>
            <a:srgbClr val="FFEAA0"/>
          </a:solidFill>
          <a:ln w="12700">
            <a:solidFill>
              <a:srgbClr val="C9A84C"/>
            </a:solidFill>
            <a:prstDash val="solid"/>
          </a:ln>
        </p:spPr>
      </p:sp>
      <p:sp>
        <p:nvSpPr>
          <p:cNvPr id="67" name="Text 65"/>
          <p:cNvSpPr/>
          <p:nvPr/>
        </p:nvSpPr>
        <p:spPr>
          <a:xfrm>
            <a:off x="6839712" y="2560320"/>
            <a:ext cx="868680" cy="621792"/>
          </a:xfrm>
          <a:prstGeom prst="rect">
            <a:avLst/>
          </a:prstGeom>
          <a:noFill/>
          <a:ln/>
        </p:spPr>
        <p:txBody>
          <a:bodyPr wrap="square" lIns="0" tIns="0" rIns="0" bIns="0" rtlCol="0" anchor="ctr"/>
          <a:lstStyle/>
          <a:p>
            <a:pPr marL="0" indent="0" algn="ctr">
              <a:buNone/>
            </a:pPr>
            <a:r>
              <a:rPr lang="en-US" sz="1500" b="1" dirty="0">
                <a:solidFill>
                  <a:srgbClr val="1B2A4A"/>
                </a:solidFill>
              </a:rPr>
              <a:t>Ṣ ṣ</a:t>
            </a:r>
            <a:endParaRPr lang="en-US" sz="1500" dirty="0"/>
          </a:p>
        </p:txBody>
      </p:sp>
      <p:sp>
        <p:nvSpPr>
          <p:cNvPr id="68" name="Shape 66"/>
          <p:cNvSpPr/>
          <p:nvPr/>
        </p:nvSpPr>
        <p:spPr>
          <a:xfrm>
            <a:off x="7827264" y="2560320"/>
            <a:ext cx="868680" cy="621792"/>
          </a:xfrm>
          <a:prstGeom prst="rect">
            <a:avLst/>
          </a:prstGeom>
          <a:solidFill>
            <a:srgbClr val="FFEAA0"/>
          </a:solidFill>
          <a:ln w="12700">
            <a:solidFill>
              <a:srgbClr val="C9A84C"/>
            </a:solidFill>
            <a:prstDash val="solid"/>
          </a:ln>
        </p:spPr>
      </p:sp>
      <p:sp>
        <p:nvSpPr>
          <p:cNvPr id="69" name="Text 67"/>
          <p:cNvSpPr/>
          <p:nvPr/>
        </p:nvSpPr>
        <p:spPr>
          <a:xfrm>
            <a:off x="7827264" y="2560320"/>
            <a:ext cx="868680" cy="621792"/>
          </a:xfrm>
          <a:prstGeom prst="rect">
            <a:avLst/>
          </a:prstGeom>
          <a:noFill/>
          <a:ln/>
        </p:spPr>
        <p:txBody>
          <a:bodyPr wrap="square" lIns="0" tIns="0" rIns="0" bIns="0" rtlCol="0" anchor="ctr"/>
          <a:lstStyle/>
          <a:p>
            <a:pPr marL="0" indent="0" algn="ctr">
              <a:buNone/>
            </a:pPr>
            <a:r>
              <a:rPr lang="en-US" sz="1500" b="1" dirty="0">
                <a:solidFill>
                  <a:srgbClr val="1B2A4A"/>
                </a:solidFill>
              </a:rPr>
              <a:t>Ḍ ḍ</a:t>
            </a:r>
            <a:endParaRPr lang="en-US" sz="1500" dirty="0"/>
          </a:p>
        </p:txBody>
      </p:sp>
      <p:sp>
        <p:nvSpPr>
          <p:cNvPr id="70" name="Shape 68"/>
          <p:cNvSpPr/>
          <p:nvPr/>
        </p:nvSpPr>
        <p:spPr>
          <a:xfrm>
            <a:off x="5852160" y="3273552"/>
            <a:ext cx="868680" cy="621792"/>
          </a:xfrm>
          <a:prstGeom prst="rect">
            <a:avLst/>
          </a:prstGeom>
          <a:solidFill>
            <a:srgbClr val="FFF3CD"/>
          </a:solidFill>
          <a:ln w="12700">
            <a:solidFill>
              <a:srgbClr val="C9A84C"/>
            </a:solidFill>
            <a:prstDash val="solid"/>
          </a:ln>
        </p:spPr>
      </p:sp>
      <p:sp>
        <p:nvSpPr>
          <p:cNvPr id="71" name="Text 69"/>
          <p:cNvSpPr/>
          <p:nvPr/>
        </p:nvSpPr>
        <p:spPr>
          <a:xfrm>
            <a:off x="5852160" y="3273552"/>
            <a:ext cx="868680" cy="621792"/>
          </a:xfrm>
          <a:prstGeom prst="rect">
            <a:avLst/>
          </a:prstGeom>
          <a:noFill/>
          <a:ln/>
        </p:spPr>
        <p:txBody>
          <a:bodyPr wrap="square" lIns="0" tIns="0" rIns="0" bIns="0" rtlCol="0" anchor="ctr"/>
          <a:lstStyle/>
          <a:p>
            <a:pPr marL="0" indent="0" algn="ctr">
              <a:buNone/>
            </a:pPr>
            <a:r>
              <a:rPr lang="en-US" sz="1500" b="1" dirty="0">
                <a:solidFill>
                  <a:srgbClr val="1B2A4A"/>
                </a:solidFill>
              </a:rPr>
              <a:t>Ṭ ṭ</a:t>
            </a:r>
            <a:endParaRPr lang="en-US" sz="1500" dirty="0"/>
          </a:p>
        </p:txBody>
      </p:sp>
      <p:sp>
        <p:nvSpPr>
          <p:cNvPr id="72" name="Shape 70"/>
          <p:cNvSpPr/>
          <p:nvPr/>
        </p:nvSpPr>
        <p:spPr>
          <a:xfrm>
            <a:off x="6839712" y="3273552"/>
            <a:ext cx="868680" cy="621792"/>
          </a:xfrm>
          <a:prstGeom prst="rect">
            <a:avLst/>
          </a:prstGeom>
          <a:solidFill>
            <a:srgbClr val="FFF3CD"/>
          </a:solidFill>
          <a:ln w="12700">
            <a:solidFill>
              <a:srgbClr val="C9A84C"/>
            </a:solidFill>
            <a:prstDash val="solid"/>
          </a:ln>
        </p:spPr>
      </p:sp>
      <p:sp>
        <p:nvSpPr>
          <p:cNvPr id="73" name="Text 71"/>
          <p:cNvSpPr/>
          <p:nvPr/>
        </p:nvSpPr>
        <p:spPr>
          <a:xfrm>
            <a:off x="6839712" y="3273552"/>
            <a:ext cx="868680" cy="621792"/>
          </a:xfrm>
          <a:prstGeom prst="rect">
            <a:avLst/>
          </a:prstGeom>
          <a:noFill/>
          <a:ln/>
        </p:spPr>
        <p:txBody>
          <a:bodyPr wrap="square" lIns="0" tIns="0" rIns="0" bIns="0" rtlCol="0" anchor="ctr"/>
          <a:lstStyle/>
          <a:p>
            <a:pPr marL="0" indent="0" algn="ctr">
              <a:buNone/>
            </a:pPr>
            <a:r>
              <a:rPr lang="en-US" sz="1500" b="1" dirty="0">
                <a:solidFill>
                  <a:srgbClr val="1B2A4A"/>
                </a:solidFill>
              </a:rPr>
              <a:t>Ẓ ẓ</a:t>
            </a:r>
            <a:endParaRPr lang="en-US" sz="1500" dirty="0"/>
          </a:p>
        </p:txBody>
      </p:sp>
      <p:sp>
        <p:nvSpPr>
          <p:cNvPr id="74" name="Shape 72"/>
          <p:cNvSpPr/>
          <p:nvPr/>
        </p:nvSpPr>
        <p:spPr>
          <a:xfrm>
            <a:off x="7827264" y="3273552"/>
            <a:ext cx="868680" cy="621792"/>
          </a:xfrm>
          <a:prstGeom prst="rect">
            <a:avLst/>
          </a:prstGeom>
          <a:solidFill>
            <a:srgbClr val="FFF3CD"/>
          </a:solidFill>
          <a:ln w="12700">
            <a:solidFill>
              <a:srgbClr val="C9A84C"/>
            </a:solidFill>
            <a:prstDash val="solid"/>
          </a:ln>
        </p:spPr>
      </p:sp>
      <p:sp>
        <p:nvSpPr>
          <p:cNvPr id="75" name="Text 73"/>
          <p:cNvSpPr/>
          <p:nvPr/>
        </p:nvSpPr>
        <p:spPr>
          <a:xfrm>
            <a:off x="7827264" y="3273552"/>
            <a:ext cx="868680" cy="621792"/>
          </a:xfrm>
          <a:prstGeom prst="rect">
            <a:avLst/>
          </a:prstGeom>
          <a:noFill/>
          <a:ln/>
        </p:spPr>
        <p:txBody>
          <a:bodyPr wrap="square" lIns="0" tIns="0" rIns="0" bIns="0" rtlCol="0" anchor="ctr"/>
          <a:lstStyle/>
          <a:p>
            <a:pPr marL="0" indent="0" algn="ctr">
              <a:buNone/>
            </a:pPr>
            <a:r>
              <a:rPr lang="en-US" sz="1500" b="1" dirty="0">
                <a:solidFill>
                  <a:srgbClr val="1B2A4A"/>
                </a:solidFill>
              </a:rPr>
              <a:t>Ⲵ</a:t>
            </a:r>
            <a:endParaRPr lang="en-US" sz="1500" dirty="0"/>
          </a:p>
        </p:txBody>
      </p:sp>
      <p:sp>
        <p:nvSpPr>
          <p:cNvPr id="76" name="Shape 74"/>
          <p:cNvSpPr/>
          <p:nvPr/>
        </p:nvSpPr>
        <p:spPr>
          <a:xfrm>
            <a:off x="5852160" y="3986784"/>
            <a:ext cx="868680" cy="621792"/>
          </a:xfrm>
          <a:prstGeom prst="rect">
            <a:avLst/>
          </a:prstGeom>
          <a:solidFill>
            <a:srgbClr val="FFEAA0"/>
          </a:solidFill>
          <a:ln w="12700">
            <a:solidFill>
              <a:srgbClr val="C9A84C"/>
            </a:solidFill>
            <a:prstDash val="solid"/>
          </a:ln>
        </p:spPr>
      </p:sp>
      <p:sp>
        <p:nvSpPr>
          <p:cNvPr id="77" name="Text 75"/>
          <p:cNvSpPr/>
          <p:nvPr/>
        </p:nvSpPr>
        <p:spPr>
          <a:xfrm>
            <a:off x="5852160" y="3986784"/>
            <a:ext cx="868680" cy="621792"/>
          </a:xfrm>
          <a:prstGeom prst="rect">
            <a:avLst/>
          </a:prstGeom>
          <a:noFill/>
          <a:ln/>
        </p:spPr>
        <p:txBody>
          <a:bodyPr wrap="square" lIns="0" tIns="0" rIns="0" bIns="0" rtlCol="0" anchor="ctr"/>
          <a:lstStyle/>
          <a:p>
            <a:pPr marL="0" indent="0" algn="ctr">
              <a:buNone/>
            </a:pPr>
            <a:r>
              <a:rPr lang="en-US" sz="1500" b="1" dirty="0">
                <a:solidFill>
                  <a:srgbClr val="1B2A4A"/>
                </a:solidFill>
              </a:rPr>
              <a:t>Ɣ ɣ</a:t>
            </a:r>
            <a:endParaRPr lang="en-US" sz="1500" dirty="0"/>
          </a:p>
        </p:txBody>
      </p:sp>
      <p:sp>
        <p:nvSpPr>
          <p:cNvPr id="78" name="Shape 76"/>
          <p:cNvSpPr/>
          <p:nvPr/>
        </p:nvSpPr>
        <p:spPr>
          <a:xfrm>
            <a:off x="6839712" y="3986784"/>
            <a:ext cx="868680" cy="621792"/>
          </a:xfrm>
          <a:prstGeom prst="rect">
            <a:avLst/>
          </a:prstGeom>
          <a:solidFill>
            <a:srgbClr val="FFEAA0"/>
          </a:solidFill>
          <a:ln w="12700">
            <a:solidFill>
              <a:srgbClr val="C9A84C"/>
            </a:solidFill>
            <a:prstDash val="solid"/>
          </a:ln>
        </p:spPr>
      </p:sp>
      <p:sp>
        <p:nvSpPr>
          <p:cNvPr id="79" name="Text 77"/>
          <p:cNvSpPr/>
          <p:nvPr/>
        </p:nvSpPr>
        <p:spPr>
          <a:xfrm>
            <a:off x="6839712" y="3986784"/>
            <a:ext cx="868680" cy="621792"/>
          </a:xfrm>
          <a:prstGeom prst="rect">
            <a:avLst/>
          </a:prstGeom>
          <a:noFill/>
          <a:ln/>
        </p:spPr>
        <p:txBody>
          <a:bodyPr wrap="square" lIns="0" tIns="0" rIns="0" bIns="0" rtlCol="0" anchor="ctr"/>
          <a:lstStyle/>
          <a:p>
            <a:pPr marL="0" indent="0" algn="ctr">
              <a:buNone/>
            </a:pPr>
            <a:r>
              <a:rPr lang="en-US" sz="1500" b="1" dirty="0">
                <a:solidFill>
                  <a:srgbClr val="1B2A4A"/>
                </a:solidFill>
              </a:rPr>
              <a:t>Ɐ</a:t>
            </a:r>
            <a:endParaRPr lang="en-US" sz="1500" dirty="0"/>
          </a:p>
        </p:txBody>
      </p:sp>
      <p:sp>
        <p:nvSpPr>
          <p:cNvPr id="80" name="Text 78"/>
          <p:cNvSpPr/>
          <p:nvPr/>
        </p:nvSpPr>
        <p:spPr>
          <a:xfrm>
            <a:off x="457200" y="4663440"/>
            <a:ext cx="8229600" cy="256032"/>
          </a:xfrm>
          <a:prstGeom prst="rect">
            <a:avLst/>
          </a:prstGeom>
          <a:noFill/>
          <a:ln/>
        </p:spPr>
        <p:txBody>
          <a:bodyPr wrap="square" rtlCol="0" anchor="ctr"/>
          <a:lstStyle/>
          <a:p>
            <a:pPr marL="0" indent="0" algn="ctr">
              <a:buNone/>
            </a:pPr>
            <a:r>
              <a:rPr lang="en-US" sz="950" i="1" dirty="0">
                <a:solidFill>
                  <a:srgbClr val="4A5568"/>
                </a:solidFill>
              </a:rPr>
              <a:t>Total: 35 letters  ·  28 Arabic sounds + p extension  ·  Plus borrowed C, J for code-switched words</a:t>
            </a:r>
            <a:endParaRPr lang="en-US" sz="950" dirty="0"/>
          </a:p>
        </p:txBody>
      </p:sp>
      <p:sp>
        <p:nvSpPr>
          <p:cNvPr id="81" name="Shape 79"/>
          <p:cNvSpPr/>
          <p:nvPr/>
        </p:nvSpPr>
        <p:spPr>
          <a:xfrm>
            <a:off x="0" y="4937760"/>
            <a:ext cx="9144000" cy="205740"/>
          </a:xfrm>
          <a:prstGeom prst="rect">
            <a:avLst/>
          </a:prstGeom>
          <a:solidFill>
            <a:srgbClr val="1B2A4A"/>
          </a:solidFill>
          <a:ln w="12700">
            <a:solidFill>
              <a:srgbClr val="1B2A4A"/>
            </a:solidFill>
            <a:prstDash val="solid"/>
          </a:ln>
        </p:spPr>
      </p:sp>
      <p:sp>
        <p:nvSpPr>
          <p:cNvPr id="82" name="Text 80"/>
          <p:cNvSpPr/>
          <p:nvPr/>
        </p:nvSpPr>
        <p:spPr>
          <a:xfrm>
            <a:off x="0" y="4937760"/>
            <a:ext cx="9144000" cy="205740"/>
          </a:xfrm>
          <a:prstGeom prst="rect">
            <a:avLst/>
          </a:prstGeom>
          <a:noFill/>
          <a:ln/>
        </p:spPr>
        <p:txBody>
          <a:bodyPr wrap="square" lIns="0" tIns="0" rIns="0" bIns="0" rtlCol="0" anchor="ctr"/>
          <a:lstStyle/>
          <a:p>
            <a:pPr marL="0" indent="0" algn="ctr">
              <a:buNone/>
            </a:pPr>
            <a:r>
              <a:rPr lang="en-US" sz="800" dirty="0" err="1">
                <a:solidFill>
                  <a:srgbClr val="C9A84C"/>
                </a:solidFill>
              </a:rPr>
              <a:t>Maṣri</a:t>
            </a:r>
            <a:r>
              <a:rPr lang="en-US" sz="800" dirty="0">
                <a:solidFill>
                  <a:srgbClr val="C9A84C"/>
                </a:solidFill>
              </a:rPr>
              <a:t> Writing System  ·  مصري  ·  Diaa Hassouna  ·  Cairo 2026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365760" y="228600"/>
            <a:ext cx="1828800" cy="347472"/>
          </a:xfrm>
          <a:prstGeom prst="roundRect">
            <a:avLst/>
          </a:prstGeom>
          <a:solidFill>
            <a:srgbClr val="C9A84C"/>
          </a:solidFill>
          <a:ln w="12700">
            <a:solidFill>
              <a:srgbClr val="C9A84C"/>
            </a:solidFill>
            <a:prstDash val="solid"/>
          </a:ln>
        </p:spPr>
      </p:sp>
      <p:sp>
        <p:nvSpPr>
          <p:cNvPr id="3" name="Text 1"/>
          <p:cNvSpPr/>
          <p:nvPr/>
        </p:nvSpPr>
        <p:spPr>
          <a:xfrm>
            <a:off x="365760" y="228600"/>
            <a:ext cx="1828800" cy="347472"/>
          </a:xfrm>
          <a:prstGeom prst="rect">
            <a:avLst/>
          </a:prstGeom>
          <a:noFill/>
          <a:ln/>
        </p:spPr>
        <p:txBody>
          <a:bodyPr wrap="square" lIns="0" tIns="0" rIns="0" bIns="0" rtlCol="0" anchor="ctr"/>
          <a:lstStyle/>
          <a:p>
            <a:pPr marL="0" indent="0" algn="ctr">
              <a:buNone/>
            </a:pPr>
            <a:r>
              <a:rPr lang="en-US" sz="900" b="1" dirty="0">
                <a:solidFill>
                  <a:srgbClr val="1B2A4A"/>
                </a:solidFill>
              </a:rPr>
              <a:t>UNICODE REFERENCE</a:t>
            </a:r>
            <a:endParaRPr lang="en-US" sz="900" dirty="0"/>
          </a:p>
        </p:txBody>
      </p:sp>
      <p:sp>
        <p:nvSpPr>
          <p:cNvPr id="4" name="Text 2"/>
          <p:cNvSpPr/>
          <p:nvPr/>
        </p:nvSpPr>
        <p:spPr>
          <a:xfrm>
            <a:off x="457200" y="658368"/>
            <a:ext cx="8229600" cy="594360"/>
          </a:xfrm>
          <a:prstGeom prst="rect">
            <a:avLst/>
          </a:prstGeom>
          <a:noFill/>
          <a:ln/>
        </p:spPr>
        <p:txBody>
          <a:bodyPr wrap="square" rtlCol="0" anchor="ctr"/>
          <a:lstStyle/>
          <a:p>
            <a:pPr marL="0" indent="0" algn="l">
              <a:buNone/>
            </a:pPr>
            <a:r>
              <a:rPr lang="en-US" sz="2800" b="1" dirty="0">
                <a:solidFill>
                  <a:srgbClr val="1B2A4A"/>
                </a:solidFill>
                <a:latin typeface="Georgia" pitchFamily="34" charset="0"/>
                <a:ea typeface="Georgia" pitchFamily="34" charset="-122"/>
                <a:cs typeface="Georgia" pitchFamily="34" charset="-120"/>
              </a:rPr>
              <a:t>Special Character Unicode Code Points</a:t>
            </a:r>
            <a:endParaRPr lang="en-US" sz="2800" dirty="0"/>
          </a:p>
        </p:txBody>
      </p:sp>
      <p:sp>
        <p:nvSpPr>
          <p:cNvPr id="5" name="Shape 3"/>
          <p:cNvSpPr/>
          <p:nvPr/>
        </p:nvSpPr>
        <p:spPr>
          <a:xfrm>
            <a:off x="457200" y="1325880"/>
            <a:ext cx="457200" cy="50292"/>
          </a:xfrm>
          <a:prstGeom prst="rect">
            <a:avLst/>
          </a:prstGeom>
          <a:solidFill>
            <a:srgbClr val="C9A84C"/>
          </a:solidFill>
          <a:ln w="12700">
            <a:solidFill>
              <a:srgbClr val="C9A84C"/>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1463040"/>
          <a:ext cx="8412480" cy="3447288"/>
        </p:xfrm>
        <a:graphic>
          <a:graphicData uri="http://schemas.openxmlformats.org/drawingml/2006/table">
            <a:tbl>
              <a:tblPr/>
              <a:tblGrid>
                <a:gridCol w="36576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2606040">
                  <a:extLst>
                    <a:ext uri="{9D8B030D-6E8A-4147-A177-3AD203B41FA5}">
                      <a16:colId xmlns:a16="http://schemas.microsoft.com/office/drawing/2014/main" val="20005"/>
                    </a:ext>
                  </a:extLst>
                </a:gridCol>
              </a:tblGrid>
              <a:tr h="265176">
                <a:tc>
                  <a:txBody>
                    <a:bodyPr/>
                    <a:lstStyle/>
                    <a:p>
                      <a:pPr marL="0" indent="0" algn="ctr">
                        <a:buNone/>
                      </a:pPr>
                      <a:r>
                        <a:rPr lang="en-US" sz="1000" b="1" dirty="0">
                          <a:solidFill>
                            <a:srgbClr val="FFFFFF"/>
                          </a:solidFill>
                        </a:rPr>
                        <a:t>#</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rPr>
                        <a:t>Letter</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rPr>
                        <a:t>Name</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rPr>
                        <a:t>Unicode (Upper)</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rPr>
                        <a:t>Unicode (Lower)</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rPr>
                        <a:t>Use</a:t>
                      </a:r>
                      <a:endParaRPr lang="en-US" sz="100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65176">
                <a:tc>
                  <a:txBody>
                    <a:bodyPr/>
                    <a:lstStyle/>
                    <a:p>
                      <a:pPr marL="0" indent="0" algn="ctr">
                        <a:buNone/>
                      </a:pPr>
                      <a:r>
                        <a:rPr lang="en-US" sz="950" dirty="0">
                          <a:solidFill>
                            <a:srgbClr val="4A5568"/>
                          </a:solidFill>
                        </a:rPr>
                        <a:t>5</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b="1" dirty="0">
                          <a:solidFill>
                            <a:srgbClr val="9B2335"/>
                          </a:solidFill>
                        </a:rPr>
                        <a:t>Θ / θ</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4A5568"/>
                          </a:solidFill>
                        </a:rPr>
                        <a:t>Greek Theta</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4A5568"/>
                          </a:solidFill>
                        </a:rPr>
                        <a:t>U+0398</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2B6CB0"/>
                          </a:solidFill>
                        </a:rPr>
                        <a:t>U+03B8</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4A5568"/>
                          </a:solidFill>
                        </a:rPr>
                        <a:t>ث in classical</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extLst>
                  <a:ext uri="{0D108BD9-81ED-4DB2-BD59-A6C34878D82A}">
                    <a16:rowId xmlns:a16="http://schemas.microsoft.com/office/drawing/2014/main" val="10001"/>
                  </a:ext>
                </a:extLst>
              </a:tr>
              <a:tr h="265176">
                <a:tc>
                  <a:txBody>
                    <a:bodyPr/>
                    <a:lstStyle/>
                    <a:p>
                      <a:pPr marL="0" indent="0" algn="ctr">
                        <a:buNone/>
                      </a:pPr>
                      <a:r>
                        <a:rPr lang="en-US" sz="950" dirty="0">
                          <a:solidFill>
                            <a:srgbClr val="4A5568"/>
                          </a:solidFill>
                        </a:rPr>
                        <a:t>7</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9B2335"/>
                          </a:solidFill>
                        </a:rPr>
                        <a:t>Ϩ / ϩ</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5568"/>
                          </a:solidFill>
                        </a:rPr>
                        <a:t>Coptic Hori</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5568"/>
                          </a:solidFill>
                        </a:rPr>
                        <a:t>U+03E8</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6CB0"/>
                          </a:solidFill>
                        </a:rPr>
                        <a:t>U+03E9</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5568"/>
                          </a:solidFill>
                        </a:rPr>
                        <a:t>ح pharyngeal h</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5176">
                <a:tc>
                  <a:txBody>
                    <a:bodyPr/>
                    <a:lstStyle/>
                    <a:p>
                      <a:pPr marL="0" indent="0" algn="ctr">
                        <a:buNone/>
                      </a:pPr>
                      <a:r>
                        <a:rPr lang="en-US" sz="950" dirty="0">
                          <a:solidFill>
                            <a:srgbClr val="4A5568"/>
                          </a:solidFill>
                        </a:rPr>
                        <a:t>8</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b="1" dirty="0">
                          <a:solidFill>
                            <a:srgbClr val="9B2335"/>
                          </a:solidFill>
                        </a:rPr>
                        <a:t>X / x</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4A5568"/>
                          </a:solidFill>
                        </a:rPr>
                        <a:t>Latin X</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4A5568"/>
                          </a:solidFill>
                        </a:rPr>
                        <a:t>U+0058</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2B6CB0"/>
                          </a:solidFill>
                        </a:rPr>
                        <a:t>U+0078</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4A5568"/>
                          </a:solidFill>
                        </a:rPr>
                        <a:t>خ in Tier 2</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extLst>
                  <a:ext uri="{0D108BD9-81ED-4DB2-BD59-A6C34878D82A}">
                    <a16:rowId xmlns:a16="http://schemas.microsoft.com/office/drawing/2014/main" val="10003"/>
                  </a:ext>
                </a:extLst>
              </a:tr>
              <a:tr h="265176">
                <a:tc>
                  <a:txBody>
                    <a:bodyPr/>
                    <a:lstStyle/>
                    <a:p>
                      <a:pPr marL="0" indent="0" algn="ctr">
                        <a:buNone/>
                      </a:pPr>
                      <a:r>
                        <a:rPr lang="en-US" sz="950" dirty="0">
                          <a:solidFill>
                            <a:srgbClr val="4A5568"/>
                          </a:solidFill>
                        </a:rPr>
                        <a:t>10</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9B2335"/>
                          </a:solidFill>
                        </a:rPr>
                        <a:t>Ð / ð</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5568"/>
                          </a:solidFill>
                        </a:rPr>
                        <a:t>Latin Eth</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5568"/>
                          </a:solidFill>
                        </a:rPr>
                        <a:t>U+00D0</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6CB0"/>
                          </a:solidFill>
                        </a:rPr>
                        <a:t>U+00F0</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5568"/>
                          </a:solidFill>
                        </a:rPr>
                        <a:t>ذ in classical</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65176">
                <a:tc>
                  <a:txBody>
                    <a:bodyPr/>
                    <a:lstStyle/>
                    <a:p>
                      <a:pPr marL="0" indent="0" algn="ctr">
                        <a:buNone/>
                      </a:pPr>
                      <a:r>
                        <a:rPr lang="en-US" sz="950" dirty="0">
                          <a:solidFill>
                            <a:srgbClr val="4A5568"/>
                          </a:solidFill>
                        </a:rPr>
                        <a:t>14</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b="1" dirty="0">
                          <a:solidFill>
                            <a:srgbClr val="9B2335"/>
                          </a:solidFill>
                        </a:rPr>
                        <a:t>Ϣ / ϣ</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4A5568"/>
                          </a:solidFill>
                        </a:rPr>
                        <a:t>Coptic Shai</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4A5568"/>
                          </a:solidFill>
                        </a:rPr>
                        <a:t>U+03E2</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2B6CB0"/>
                          </a:solidFill>
                        </a:rPr>
                        <a:t>U+03E3</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4A5568"/>
                          </a:solidFill>
                        </a:rPr>
                        <a:t>ش</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extLst>
                  <a:ext uri="{0D108BD9-81ED-4DB2-BD59-A6C34878D82A}">
                    <a16:rowId xmlns:a16="http://schemas.microsoft.com/office/drawing/2014/main" val="10005"/>
                  </a:ext>
                </a:extLst>
              </a:tr>
              <a:tr h="265176">
                <a:tc>
                  <a:txBody>
                    <a:bodyPr/>
                    <a:lstStyle/>
                    <a:p>
                      <a:pPr marL="0" indent="0" algn="ctr">
                        <a:buNone/>
                      </a:pPr>
                      <a:r>
                        <a:rPr lang="en-US" sz="950" dirty="0">
                          <a:solidFill>
                            <a:srgbClr val="4A5568"/>
                          </a:solidFill>
                        </a:rPr>
                        <a:t>15</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9B2335"/>
                          </a:solidFill>
                        </a:rPr>
                        <a:t>Ṣ / ṣ</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5568"/>
                          </a:solidFill>
                        </a:rPr>
                        <a:t>S + dot below</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5568"/>
                          </a:solidFill>
                        </a:rPr>
                        <a:t>U+1E62</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6CB0"/>
                          </a:solidFill>
                        </a:rPr>
                        <a:t>U+1E63</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5568"/>
                          </a:solidFill>
                        </a:rPr>
                        <a:t>ص emphatic</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65176">
                <a:tc>
                  <a:txBody>
                    <a:bodyPr/>
                    <a:lstStyle/>
                    <a:p>
                      <a:pPr marL="0" indent="0" algn="ctr">
                        <a:buNone/>
                      </a:pPr>
                      <a:r>
                        <a:rPr lang="en-US" sz="950" dirty="0">
                          <a:solidFill>
                            <a:srgbClr val="4A5568"/>
                          </a:solidFill>
                        </a:rPr>
                        <a:t>16</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b="1" dirty="0">
                          <a:solidFill>
                            <a:srgbClr val="9B2335"/>
                          </a:solidFill>
                        </a:rPr>
                        <a:t>Ḍ / ḍ</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4A5568"/>
                          </a:solidFill>
                        </a:rPr>
                        <a:t>D + dot below</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4A5568"/>
                          </a:solidFill>
                        </a:rPr>
                        <a:t>U+1E0C</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2B6CB0"/>
                          </a:solidFill>
                        </a:rPr>
                        <a:t>U+1E0D</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4A5568"/>
                          </a:solidFill>
                        </a:rPr>
                        <a:t>ض emphatic</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extLst>
                  <a:ext uri="{0D108BD9-81ED-4DB2-BD59-A6C34878D82A}">
                    <a16:rowId xmlns:a16="http://schemas.microsoft.com/office/drawing/2014/main" val="10007"/>
                  </a:ext>
                </a:extLst>
              </a:tr>
              <a:tr h="265176">
                <a:tc>
                  <a:txBody>
                    <a:bodyPr/>
                    <a:lstStyle/>
                    <a:p>
                      <a:pPr marL="0" indent="0" algn="ctr">
                        <a:buNone/>
                      </a:pPr>
                      <a:r>
                        <a:rPr lang="en-US" sz="950" dirty="0">
                          <a:solidFill>
                            <a:srgbClr val="4A5568"/>
                          </a:solidFill>
                        </a:rPr>
                        <a:t>17</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9B2335"/>
                          </a:solidFill>
                        </a:rPr>
                        <a:t>Ṭ / ṭ</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5568"/>
                          </a:solidFill>
                        </a:rPr>
                        <a:t>T + dot below</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5568"/>
                          </a:solidFill>
                        </a:rPr>
                        <a:t>U+1E6C</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6CB0"/>
                          </a:solidFill>
                        </a:rPr>
                        <a:t>U+1E6D</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5568"/>
                          </a:solidFill>
                        </a:rPr>
                        <a:t>ط emphatic</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65176">
                <a:tc>
                  <a:txBody>
                    <a:bodyPr/>
                    <a:lstStyle/>
                    <a:p>
                      <a:pPr marL="0" indent="0" algn="ctr">
                        <a:buNone/>
                      </a:pPr>
                      <a:r>
                        <a:rPr lang="en-US" sz="950" dirty="0">
                          <a:solidFill>
                            <a:srgbClr val="4A5568"/>
                          </a:solidFill>
                        </a:rPr>
                        <a:t>18</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b="1" dirty="0">
                          <a:solidFill>
                            <a:srgbClr val="9B2335"/>
                          </a:solidFill>
                        </a:rPr>
                        <a:t>Ẓ / ẓ</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4A5568"/>
                          </a:solidFill>
                        </a:rPr>
                        <a:t>Z + dot below</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4A5568"/>
                          </a:solidFill>
                        </a:rPr>
                        <a:t>U+1E92</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2B6CB0"/>
                          </a:solidFill>
                        </a:rPr>
                        <a:t>U+1E93</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4A5568"/>
                          </a:solidFill>
                        </a:rPr>
                        <a:t>ظ emphatic</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extLst>
                  <a:ext uri="{0D108BD9-81ED-4DB2-BD59-A6C34878D82A}">
                    <a16:rowId xmlns:a16="http://schemas.microsoft.com/office/drawing/2014/main" val="10009"/>
                  </a:ext>
                </a:extLst>
              </a:tr>
              <a:tr h="265176">
                <a:tc>
                  <a:txBody>
                    <a:bodyPr/>
                    <a:lstStyle/>
                    <a:p>
                      <a:pPr marL="0" indent="0" algn="ctr">
                        <a:buNone/>
                      </a:pPr>
                      <a:r>
                        <a:rPr lang="en-US" sz="950" dirty="0">
                          <a:solidFill>
                            <a:srgbClr val="4A5568"/>
                          </a:solidFill>
                        </a:rPr>
                        <a:t>19</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9B2335"/>
                          </a:solidFill>
                        </a:rPr>
                        <a:t>Ⲵ</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5568"/>
                          </a:solidFill>
                        </a:rPr>
                        <a:t>Old Coptic Ain</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5568"/>
                          </a:solidFill>
                        </a:rPr>
                        <a:t>U+2CB4</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6CB0"/>
                          </a:solidFill>
                        </a:rPr>
                        <a:t>U+2CB4 (same)</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5568"/>
                          </a:solidFill>
                        </a:rPr>
                        <a:t>ع</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65176">
                <a:tc>
                  <a:txBody>
                    <a:bodyPr/>
                    <a:lstStyle/>
                    <a:p>
                      <a:pPr marL="0" indent="0" algn="ctr">
                        <a:buNone/>
                      </a:pPr>
                      <a:r>
                        <a:rPr lang="en-US" sz="950" dirty="0">
                          <a:solidFill>
                            <a:srgbClr val="4A5568"/>
                          </a:solidFill>
                        </a:rPr>
                        <a:t>20</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b="1" dirty="0">
                          <a:solidFill>
                            <a:srgbClr val="9B2335"/>
                          </a:solidFill>
                        </a:rPr>
                        <a:t>Ɣ / ɣ</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4A5568"/>
                          </a:solidFill>
                        </a:rPr>
                        <a:t>Latin Gamma</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4A5568"/>
                          </a:solidFill>
                        </a:rPr>
                        <a:t>U+0194</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2B6CB0"/>
                          </a:solidFill>
                        </a:rPr>
                        <a:t>U+0263</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tc>
                  <a:txBody>
                    <a:bodyPr/>
                    <a:lstStyle/>
                    <a:p>
                      <a:pPr marL="0" indent="0" algn="ctr">
                        <a:buNone/>
                      </a:pPr>
                      <a:r>
                        <a:rPr lang="en-US" sz="950" dirty="0">
                          <a:solidFill>
                            <a:srgbClr val="4A5568"/>
                          </a:solidFill>
                        </a:rPr>
                        <a:t>غ</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EDF2F7"/>
                    </a:solidFill>
                  </a:tcPr>
                </a:tc>
                <a:extLst>
                  <a:ext uri="{0D108BD9-81ED-4DB2-BD59-A6C34878D82A}">
                    <a16:rowId xmlns:a16="http://schemas.microsoft.com/office/drawing/2014/main" val="10011"/>
                  </a:ext>
                </a:extLst>
              </a:tr>
              <a:tr h="265176">
                <a:tc>
                  <a:txBody>
                    <a:bodyPr/>
                    <a:lstStyle/>
                    <a:p>
                      <a:pPr marL="0" indent="0" algn="ctr">
                        <a:buNone/>
                      </a:pPr>
                      <a:r>
                        <a:rPr lang="en-US" sz="950" dirty="0">
                          <a:solidFill>
                            <a:srgbClr val="4A5568"/>
                          </a:solidFill>
                        </a:rPr>
                        <a:t>35</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9B2335"/>
                          </a:solidFill>
                        </a:rPr>
                        <a:t>Ɐ</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5568"/>
                          </a:solidFill>
                        </a:rPr>
                        <a:t>Turned A</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5568"/>
                          </a:solidFill>
                        </a:rPr>
                        <a:t>U+2C6F</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6CB0"/>
                          </a:solidFill>
                        </a:rPr>
                        <a:t>U+2C6F (same)</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A5568"/>
                          </a:solidFill>
                        </a:rPr>
                        <a:t>ء / ق glottal</a:t>
                      </a:r>
                      <a:endParaRPr lang="en-US" sz="950" dirty="0"/>
                    </a:p>
                  </a:txBody>
                  <a:tcPr anchor="ctr">
                    <a:lnL w="3810" cap="flat" cmpd="sng" algn="ctr">
                      <a:solidFill>
                        <a:srgbClr val="CCCCCC"/>
                      </a:solidFill>
                      <a:prstDash val="solid"/>
                      <a:round/>
                      <a:headEnd type="none" w="med" len="med"/>
                      <a:tailEnd type="none" w="med" len="med"/>
                    </a:lnL>
                    <a:lnR w="3810" cap="flat" cmpd="sng" algn="ctr">
                      <a:solidFill>
                        <a:srgbClr val="CCCCCC"/>
                      </a:solidFill>
                      <a:prstDash val="solid"/>
                      <a:round/>
                      <a:headEnd type="none" w="med" len="med"/>
                      <a:tailEnd type="none" w="med" len="med"/>
                    </a:lnR>
                    <a:lnT w="3810" cap="flat" cmpd="sng" algn="ctr">
                      <a:solidFill>
                        <a:srgbClr val="CCCCCC"/>
                      </a:solidFill>
                      <a:prstDash val="solid"/>
                      <a:round/>
                      <a:headEnd type="none" w="med" len="med"/>
                      <a:tailEnd type="none" w="med" len="med"/>
                    </a:lnT>
                    <a:lnB w="381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7" name="Shape 4"/>
          <p:cNvSpPr/>
          <p:nvPr/>
        </p:nvSpPr>
        <p:spPr>
          <a:xfrm>
            <a:off x="0" y="4937760"/>
            <a:ext cx="9144000" cy="205740"/>
          </a:xfrm>
          <a:prstGeom prst="rect">
            <a:avLst/>
          </a:prstGeom>
          <a:solidFill>
            <a:srgbClr val="1B2A4A"/>
          </a:solidFill>
          <a:ln w="12700">
            <a:solidFill>
              <a:srgbClr val="1B2A4A"/>
            </a:solidFill>
            <a:prstDash val="solid"/>
          </a:ln>
        </p:spPr>
      </p:sp>
      <p:sp>
        <p:nvSpPr>
          <p:cNvPr id="8" name="Text 5"/>
          <p:cNvSpPr/>
          <p:nvPr/>
        </p:nvSpPr>
        <p:spPr>
          <a:xfrm>
            <a:off x="0" y="4937760"/>
            <a:ext cx="9144000" cy="205740"/>
          </a:xfrm>
          <a:prstGeom prst="rect">
            <a:avLst/>
          </a:prstGeom>
          <a:noFill/>
          <a:ln/>
        </p:spPr>
        <p:txBody>
          <a:bodyPr wrap="square" lIns="0" tIns="0" rIns="0" bIns="0" rtlCol="0" anchor="ctr"/>
          <a:lstStyle/>
          <a:p>
            <a:pPr marL="0" indent="0" algn="ctr">
              <a:buNone/>
            </a:pPr>
            <a:r>
              <a:rPr lang="en-US" sz="800" dirty="0" err="1">
                <a:solidFill>
                  <a:srgbClr val="C9A84C"/>
                </a:solidFill>
              </a:rPr>
              <a:t>Maṣri</a:t>
            </a:r>
            <a:r>
              <a:rPr lang="en-US" sz="800" dirty="0">
                <a:solidFill>
                  <a:srgbClr val="C9A84C"/>
                </a:solidFill>
              </a:rPr>
              <a:t> Writing System  ·  مصري  ·  Diaa Hassouna  ·  Cairo 2026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0F1F38"/>
        </a:solidFill>
        <a:effectLst/>
      </p:bgPr>
    </p:bg>
    <p:spTree>
      <p:nvGrpSpPr>
        <p:cNvPr id="1" name=""/>
        <p:cNvGrpSpPr/>
        <p:nvPr/>
      </p:nvGrpSpPr>
      <p:grpSpPr>
        <a:xfrm>
          <a:off x="0" y="0"/>
          <a:ext cx="0" cy="0"/>
          <a:chOff x="0" y="0"/>
          <a:chExt cx="0" cy="0"/>
        </a:xfrm>
      </p:grpSpPr>
      <p:sp>
        <p:nvSpPr>
          <p:cNvPr id="2" name="Text 0"/>
          <p:cNvSpPr/>
          <p:nvPr/>
        </p:nvSpPr>
        <p:spPr>
          <a:xfrm>
            <a:off x="-914400" y="457200"/>
            <a:ext cx="10058400" cy="4572000"/>
          </a:xfrm>
          <a:prstGeom prst="rect">
            <a:avLst/>
          </a:prstGeom>
          <a:noFill/>
          <a:ln/>
        </p:spPr>
        <p:txBody>
          <a:bodyPr wrap="square" rtlCol="0" anchor="ctr"/>
          <a:lstStyle/>
          <a:p>
            <a:pPr marL="0" indent="0" algn="ctr">
              <a:buNone/>
            </a:pPr>
            <a:r>
              <a:rPr lang="en-US" sz="20000" dirty="0">
                <a:solidFill>
                  <a:srgbClr val="FFFFFF">
                    <a:alpha val="8000"/>
                  </a:srgbClr>
                </a:solidFill>
                <a:latin typeface="Georgia" pitchFamily="34" charset="0"/>
                <a:ea typeface="Georgia" pitchFamily="34" charset="-122"/>
                <a:cs typeface="Georgia" pitchFamily="34" charset="-120"/>
              </a:rPr>
              <a:t>مصري</a:t>
            </a:r>
            <a:endParaRPr lang="en-US" sz="20000" dirty="0"/>
          </a:p>
        </p:txBody>
      </p:sp>
      <p:sp>
        <p:nvSpPr>
          <p:cNvPr id="3" name="Shape 1"/>
          <p:cNvSpPr/>
          <p:nvPr/>
        </p:nvSpPr>
        <p:spPr>
          <a:xfrm>
            <a:off x="457200" y="914400"/>
            <a:ext cx="64008" cy="3200400"/>
          </a:xfrm>
          <a:prstGeom prst="rect">
            <a:avLst/>
          </a:prstGeom>
          <a:solidFill>
            <a:srgbClr val="C9A84C"/>
          </a:solidFill>
          <a:ln w="12700">
            <a:solidFill>
              <a:srgbClr val="C9A84C"/>
            </a:solidFill>
            <a:prstDash val="solid"/>
          </a:ln>
        </p:spPr>
      </p:sp>
      <p:sp>
        <p:nvSpPr>
          <p:cNvPr id="4" name="Text 2"/>
          <p:cNvSpPr/>
          <p:nvPr/>
        </p:nvSpPr>
        <p:spPr>
          <a:xfrm>
            <a:off x="640080" y="914400"/>
            <a:ext cx="7315200" cy="548640"/>
          </a:xfrm>
          <a:prstGeom prst="rect">
            <a:avLst/>
          </a:prstGeom>
          <a:noFill/>
          <a:ln/>
        </p:spPr>
        <p:txBody>
          <a:bodyPr wrap="square" rtlCol="0" anchor="ctr"/>
          <a:lstStyle/>
          <a:p>
            <a:pPr marL="0" indent="0">
              <a:buNone/>
            </a:pPr>
            <a:r>
              <a:rPr lang="en-US" sz="3000" b="1" dirty="0">
                <a:solidFill>
                  <a:srgbClr val="C9A84C"/>
                </a:solidFill>
                <a:latin typeface="Georgia" pitchFamily="34" charset="0"/>
                <a:ea typeface="Georgia" pitchFamily="34" charset="-122"/>
                <a:cs typeface="Georgia" pitchFamily="34" charset="-120"/>
              </a:rPr>
              <a:t>Conclusion</a:t>
            </a:r>
            <a:endParaRPr lang="en-US" sz="3000" dirty="0"/>
          </a:p>
        </p:txBody>
      </p:sp>
      <p:sp>
        <p:nvSpPr>
          <p:cNvPr id="5" name="Text 3"/>
          <p:cNvSpPr/>
          <p:nvPr/>
        </p:nvSpPr>
        <p:spPr>
          <a:xfrm>
            <a:off x="640080" y="1554480"/>
            <a:ext cx="7589520" cy="2286000"/>
          </a:xfrm>
          <a:prstGeom prst="rect">
            <a:avLst/>
          </a:prstGeom>
          <a:noFill/>
          <a:ln/>
        </p:spPr>
        <p:txBody>
          <a:bodyPr wrap="square" rtlCol="0" anchor="t"/>
          <a:lstStyle/>
          <a:p>
            <a:pPr marL="0" indent="0">
              <a:buNone/>
            </a:pPr>
            <a:r>
              <a:rPr lang="en-US" sz="1500" b="1" dirty="0">
                <a:solidFill>
                  <a:srgbClr val="FFFFFF"/>
                </a:solidFill>
              </a:rPr>
              <a:t>Masri is a serious attempt to standardize Egyptian colloquial writing
</a:t>
            </a:r>
            <a:r>
              <a:rPr lang="en-US" sz="1400" dirty="0">
                <a:solidFill>
                  <a:srgbClr val="FFFFFF"/>
                </a:solidFill>
              </a:rPr>
              <a:t>on strict phonetic foundations — moving away from the spelling chaos
that dominates the digital space.
Its structure draws on the heritage of Egyptian civilization itself,
reviving Coptic and Greek letters that once served the ancient Egyptian
language, and putting them into the service of the living vernacular today.</a:t>
            </a:r>
            <a:endParaRPr lang="en-US" sz="1500" dirty="0"/>
          </a:p>
        </p:txBody>
      </p:sp>
      <p:sp>
        <p:nvSpPr>
          <p:cNvPr id="6" name="Shape 4"/>
          <p:cNvSpPr/>
          <p:nvPr/>
        </p:nvSpPr>
        <p:spPr>
          <a:xfrm>
            <a:off x="640080" y="3931920"/>
            <a:ext cx="7772400" cy="594360"/>
          </a:xfrm>
          <a:prstGeom prst="rect">
            <a:avLst/>
          </a:prstGeom>
          <a:solidFill>
            <a:srgbClr val="C9A84C"/>
          </a:solidFill>
          <a:ln w="12700">
            <a:solidFill>
              <a:srgbClr val="C9A84C"/>
            </a:solidFill>
            <a:prstDash val="solid"/>
          </a:ln>
        </p:spPr>
      </p:sp>
      <p:sp>
        <p:nvSpPr>
          <p:cNvPr id="7" name="Text 5"/>
          <p:cNvSpPr/>
          <p:nvPr/>
        </p:nvSpPr>
        <p:spPr>
          <a:xfrm>
            <a:off x="640080" y="3931920"/>
            <a:ext cx="7772400" cy="594360"/>
          </a:xfrm>
          <a:prstGeom prst="rect">
            <a:avLst/>
          </a:prstGeom>
          <a:noFill/>
          <a:ln/>
        </p:spPr>
        <p:txBody>
          <a:bodyPr wrap="square" rtlCol="0" anchor="ctr"/>
          <a:lstStyle/>
          <a:p>
            <a:pPr marL="0" indent="0" algn="ctr">
              <a:buNone/>
            </a:pPr>
            <a:r>
              <a:rPr lang="en-US" sz="1400" b="1" dirty="0">
                <a:solidFill>
                  <a:srgbClr val="1B2A4A"/>
                </a:solidFill>
              </a:rPr>
              <a:t>Orthographic consistency — not perfection — is what ensures its spread and longevity.</a:t>
            </a:r>
            <a:endParaRPr lang="en-US" sz="1400" dirty="0"/>
          </a:p>
        </p:txBody>
      </p:sp>
      <p:sp>
        <p:nvSpPr>
          <p:cNvPr id="8" name="Text 6"/>
          <p:cNvSpPr/>
          <p:nvPr/>
        </p:nvSpPr>
        <p:spPr>
          <a:xfrm>
            <a:off x="457200" y="4663440"/>
            <a:ext cx="8229600" cy="292608"/>
          </a:xfrm>
          <a:prstGeom prst="rect">
            <a:avLst/>
          </a:prstGeom>
          <a:noFill/>
          <a:ln/>
        </p:spPr>
        <p:txBody>
          <a:bodyPr wrap="square" rtlCol="0" anchor="ctr"/>
          <a:lstStyle/>
          <a:p>
            <a:pPr marL="0" indent="0" algn="ctr">
              <a:buNone/>
            </a:pPr>
            <a:r>
              <a:rPr lang="en-US" sz="900" i="1" dirty="0">
                <a:solidFill>
                  <a:srgbClr val="C9A84C"/>
                </a:solidFill>
              </a:rPr>
              <a:t>CC BY 4.0  ·  © 2026 Diaa Hassouna  ·  Cairo, Egypt  ·  </a:t>
            </a:r>
            <a:r>
              <a:rPr lang="en-US" sz="900" i="1" dirty="0" err="1">
                <a:solidFill>
                  <a:srgbClr val="C9A84C"/>
                </a:solidFill>
              </a:rPr>
              <a:t>maṣri</a:t>
            </a:r>
            <a:r>
              <a:rPr lang="en-US" sz="900" i="1" dirty="0">
                <a:solidFill>
                  <a:srgbClr val="C9A84C"/>
                </a:solidFill>
              </a:rPr>
              <a:t>-writing</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TotalTime>
  <Words>2131</Words>
  <Application>Microsoft Office PowerPoint</Application>
  <PresentationFormat>On-screen Show (16:9)</PresentationFormat>
  <Paragraphs>694</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Masri Writing System — Development Framework</dc:title>
  <dc:subject>PptxGenJS Presentation</dc:subject>
  <dc:creator>Diaa Hassouna</dc:creator>
  <cp:lastModifiedBy>Kandeel</cp:lastModifiedBy>
  <cp:revision>31</cp:revision>
  <dcterms:created xsi:type="dcterms:W3CDTF">2026-06-08T19:13:34Z</dcterms:created>
  <dcterms:modified xsi:type="dcterms:W3CDTF">2026-06-11T13:55:24Z</dcterms:modified>
</cp:coreProperties>
</file>